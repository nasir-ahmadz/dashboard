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58" r:id="rId3"/>
    <p:sldId id="259" r:id="rId4"/>
    <p:sldId id="270" r:id="rId5"/>
    <p:sldId id="260" r:id="rId6"/>
    <p:sldId id="261" r:id="rId7"/>
    <p:sldId id="262" r:id="rId8"/>
    <p:sldId id="263" r:id="rId9"/>
    <p:sldId id="264" r:id="rId10"/>
    <p:sldId id="265" r:id="rId11"/>
    <p:sldId id="266"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FCBE0C-A9AE-4B75-B2BF-DFB6E4275479}" v="14" dt="2026-04-28T14:20:11.2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6" autoAdjust="0"/>
    <p:restoredTop sz="94660"/>
  </p:normalViewPr>
  <p:slideViewPr>
    <p:cSldViewPr snapToGrid="0">
      <p:cViewPr varScale="1">
        <p:scale>
          <a:sx n="100" d="100"/>
          <a:sy n="100" d="100"/>
        </p:scale>
        <p:origin x="870" y="6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SIR AHMAD - STUDENT" userId="761ba862-1bdf-47bb-84a3-c586c7b2403c" providerId="ADAL" clId="{36D9C585-445C-4B16-BBD9-CBFE813DAE1A}"/>
    <pc:docChg chg="undo redo custSel modSld sldOrd">
      <pc:chgData name="NASIR AHMAD - STUDENT" userId="761ba862-1bdf-47bb-84a3-c586c7b2403c" providerId="ADAL" clId="{36D9C585-445C-4B16-BBD9-CBFE813DAE1A}" dt="2026-04-28T18:43:02.510" v="131" actId="20577"/>
      <pc:docMkLst>
        <pc:docMk/>
      </pc:docMkLst>
      <pc:sldChg chg="addSp delSp modSp mod">
        <pc:chgData name="NASIR AHMAD - STUDENT" userId="761ba862-1bdf-47bb-84a3-c586c7b2403c" providerId="ADAL" clId="{36D9C585-445C-4B16-BBD9-CBFE813DAE1A}" dt="2026-04-28T16:29:12.211" v="15" actId="1036"/>
        <pc:sldMkLst>
          <pc:docMk/>
          <pc:sldMk cId="0" sldId="257"/>
        </pc:sldMkLst>
        <pc:spChg chg="mod">
          <ac:chgData name="NASIR AHMAD - STUDENT" userId="761ba862-1bdf-47bb-84a3-c586c7b2403c" providerId="ADAL" clId="{36D9C585-445C-4B16-BBD9-CBFE813DAE1A}" dt="2026-04-28T16:29:12.211" v="15" actId="1036"/>
          <ac:spMkLst>
            <pc:docMk/>
            <pc:sldMk cId="0" sldId="257"/>
            <ac:spMk id="2" creationId="{00000000-0000-0000-0000-000000000000}"/>
          </ac:spMkLst>
        </pc:spChg>
        <pc:spChg chg="add del">
          <ac:chgData name="NASIR AHMAD - STUDENT" userId="761ba862-1bdf-47bb-84a3-c586c7b2403c" providerId="ADAL" clId="{36D9C585-445C-4B16-BBD9-CBFE813DAE1A}" dt="2026-04-28T16:29:08.830" v="10" actId="478"/>
          <ac:spMkLst>
            <pc:docMk/>
            <pc:sldMk cId="0" sldId="257"/>
            <ac:spMk id="3" creationId="{00000000-0000-0000-0000-000000000000}"/>
          </ac:spMkLst>
        </pc:spChg>
        <pc:spChg chg="add del">
          <ac:chgData name="NASIR AHMAD - STUDENT" userId="761ba862-1bdf-47bb-84a3-c586c7b2403c" providerId="ADAL" clId="{36D9C585-445C-4B16-BBD9-CBFE813DAE1A}" dt="2026-04-28T16:29:09.092" v="11" actId="478"/>
          <ac:spMkLst>
            <pc:docMk/>
            <pc:sldMk cId="0" sldId="257"/>
            <ac:spMk id="4" creationId="{00000000-0000-0000-0000-000000000000}"/>
          </ac:spMkLst>
        </pc:spChg>
        <pc:spChg chg="mod">
          <ac:chgData name="NASIR AHMAD - STUDENT" userId="761ba862-1bdf-47bb-84a3-c586c7b2403c" providerId="ADAL" clId="{36D9C585-445C-4B16-BBD9-CBFE813DAE1A}" dt="2026-04-28T13:19:51.025" v="6" actId="20577"/>
          <ac:spMkLst>
            <pc:docMk/>
            <pc:sldMk cId="0" sldId="257"/>
            <ac:spMk id="6" creationId="{00000000-0000-0000-0000-000000000000}"/>
          </ac:spMkLst>
        </pc:spChg>
      </pc:sldChg>
      <pc:sldChg chg="modSp mod ord">
        <pc:chgData name="NASIR AHMAD - STUDENT" userId="761ba862-1bdf-47bb-84a3-c586c7b2403c" providerId="ADAL" clId="{36D9C585-445C-4B16-BBD9-CBFE813DAE1A}" dt="2026-04-28T16:42:03.921" v="22" actId="1076"/>
        <pc:sldMkLst>
          <pc:docMk/>
          <pc:sldMk cId="0" sldId="259"/>
        </pc:sldMkLst>
        <pc:picChg chg="mod">
          <ac:chgData name="NASIR AHMAD - STUDENT" userId="761ba862-1bdf-47bb-84a3-c586c7b2403c" providerId="ADAL" clId="{36D9C585-445C-4B16-BBD9-CBFE813DAE1A}" dt="2026-04-28T16:42:03.921" v="22" actId="1076"/>
          <ac:picMkLst>
            <pc:docMk/>
            <pc:sldMk cId="0" sldId="259"/>
            <ac:picMk id="26" creationId="{6CCBA66E-B64E-D8D9-A00B-5FD3C43F4B1D}"/>
          </ac:picMkLst>
        </pc:picChg>
      </pc:sldChg>
      <pc:sldChg chg="modSp mod">
        <pc:chgData name="NASIR AHMAD - STUDENT" userId="761ba862-1bdf-47bb-84a3-c586c7b2403c" providerId="ADAL" clId="{36D9C585-445C-4B16-BBD9-CBFE813DAE1A}" dt="2026-04-28T18:38:20.706" v="59" actId="20577"/>
        <pc:sldMkLst>
          <pc:docMk/>
          <pc:sldMk cId="0" sldId="260"/>
        </pc:sldMkLst>
        <pc:spChg chg="mod">
          <ac:chgData name="NASIR AHMAD - STUDENT" userId="761ba862-1bdf-47bb-84a3-c586c7b2403c" providerId="ADAL" clId="{36D9C585-445C-4B16-BBD9-CBFE813DAE1A}" dt="2026-04-28T18:38:20.706" v="59" actId="20577"/>
          <ac:spMkLst>
            <pc:docMk/>
            <pc:sldMk cId="0" sldId="260"/>
            <ac:spMk id="4" creationId="{00000000-0000-0000-0000-000000000000}"/>
          </ac:spMkLst>
        </pc:spChg>
      </pc:sldChg>
      <pc:sldChg chg="modSp mod">
        <pc:chgData name="NASIR AHMAD - STUDENT" userId="761ba862-1bdf-47bb-84a3-c586c7b2403c" providerId="ADAL" clId="{36D9C585-445C-4B16-BBD9-CBFE813DAE1A}" dt="2026-04-28T18:42:13.973" v="125" actId="207"/>
        <pc:sldMkLst>
          <pc:docMk/>
          <pc:sldMk cId="0" sldId="262"/>
        </pc:sldMkLst>
        <pc:spChg chg="mod">
          <ac:chgData name="NASIR AHMAD - STUDENT" userId="761ba862-1bdf-47bb-84a3-c586c7b2403c" providerId="ADAL" clId="{36D9C585-445C-4B16-BBD9-CBFE813DAE1A}" dt="2026-04-28T18:42:13.973" v="125" actId="207"/>
          <ac:spMkLst>
            <pc:docMk/>
            <pc:sldMk cId="0" sldId="262"/>
            <ac:spMk id="27" creationId="{00000000-0000-0000-0000-000000000000}"/>
          </ac:spMkLst>
        </pc:spChg>
      </pc:sldChg>
      <pc:sldChg chg="modSp mod">
        <pc:chgData name="NASIR AHMAD - STUDENT" userId="761ba862-1bdf-47bb-84a3-c586c7b2403c" providerId="ADAL" clId="{36D9C585-445C-4B16-BBD9-CBFE813DAE1A}" dt="2026-04-28T18:39:18.062" v="69" actId="20577"/>
        <pc:sldMkLst>
          <pc:docMk/>
          <pc:sldMk cId="0" sldId="263"/>
        </pc:sldMkLst>
        <pc:spChg chg="mod">
          <ac:chgData name="NASIR AHMAD - STUDENT" userId="761ba862-1bdf-47bb-84a3-c586c7b2403c" providerId="ADAL" clId="{36D9C585-445C-4B16-BBD9-CBFE813DAE1A}" dt="2026-04-28T18:38:39.367" v="63" actId="20577"/>
          <ac:spMkLst>
            <pc:docMk/>
            <pc:sldMk cId="0" sldId="263"/>
            <ac:spMk id="8" creationId="{00000000-0000-0000-0000-000000000000}"/>
          </ac:spMkLst>
        </pc:spChg>
        <pc:spChg chg="mod">
          <ac:chgData name="NASIR AHMAD - STUDENT" userId="761ba862-1bdf-47bb-84a3-c586c7b2403c" providerId="ADAL" clId="{36D9C585-445C-4B16-BBD9-CBFE813DAE1A}" dt="2026-04-28T18:39:18.062" v="69" actId="20577"/>
          <ac:spMkLst>
            <pc:docMk/>
            <pc:sldMk cId="0" sldId="263"/>
            <ac:spMk id="12" creationId="{00000000-0000-0000-0000-000000000000}"/>
          </ac:spMkLst>
        </pc:spChg>
      </pc:sldChg>
      <pc:sldChg chg="delSp modSp mod">
        <pc:chgData name="NASIR AHMAD - STUDENT" userId="761ba862-1bdf-47bb-84a3-c586c7b2403c" providerId="ADAL" clId="{36D9C585-445C-4B16-BBD9-CBFE813DAE1A}" dt="2026-04-28T18:43:02.510" v="131" actId="20577"/>
        <pc:sldMkLst>
          <pc:docMk/>
          <pc:sldMk cId="0" sldId="264"/>
        </pc:sldMkLst>
        <pc:spChg chg="del">
          <ac:chgData name="NASIR AHMAD - STUDENT" userId="761ba862-1bdf-47bb-84a3-c586c7b2403c" providerId="ADAL" clId="{36D9C585-445C-4B16-BBD9-CBFE813DAE1A}" dt="2026-04-28T18:35:31.267" v="30" actId="478"/>
          <ac:spMkLst>
            <pc:docMk/>
            <pc:sldMk cId="0" sldId="264"/>
            <ac:spMk id="8" creationId="{929671B4-DC4E-FA00-0808-01501713428F}"/>
          </ac:spMkLst>
        </pc:spChg>
        <pc:spChg chg="mod">
          <ac:chgData name="NASIR AHMAD - STUDENT" userId="761ba862-1bdf-47bb-84a3-c586c7b2403c" providerId="ADAL" clId="{36D9C585-445C-4B16-BBD9-CBFE813DAE1A}" dt="2026-04-28T18:35:27.450" v="29" actId="20577"/>
          <ac:spMkLst>
            <pc:docMk/>
            <pc:sldMk cId="0" sldId="264"/>
            <ac:spMk id="9" creationId="{ACA7AFFC-62A8-1D1F-20E3-276EDD54FAB9}"/>
          </ac:spMkLst>
        </pc:spChg>
        <pc:spChg chg="mod">
          <ac:chgData name="NASIR AHMAD - STUDENT" userId="761ba862-1bdf-47bb-84a3-c586c7b2403c" providerId="ADAL" clId="{36D9C585-445C-4B16-BBD9-CBFE813DAE1A}" dt="2026-04-28T18:43:02.510" v="131" actId="20577"/>
          <ac:spMkLst>
            <pc:docMk/>
            <pc:sldMk cId="0" sldId="264"/>
            <ac:spMk id="10" creationId="{F2E9BC44-9DD4-1DE8-D349-2E7D29C9B40F}"/>
          </ac:spMkLst>
        </pc:spChg>
        <pc:spChg chg="del">
          <ac:chgData name="NASIR AHMAD - STUDENT" userId="761ba862-1bdf-47bb-84a3-c586c7b2403c" providerId="ADAL" clId="{36D9C585-445C-4B16-BBD9-CBFE813DAE1A}" dt="2026-04-28T18:35:11.948" v="23" actId="478"/>
          <ac:spMkLst>
            <pc:docMk/>
            <pc:sldMk cId="0" sldId="264"/>
            <ac:spMk id="11" creationId="{FEE1A01B-4057-EAF9-A368-7811019BE7D7}"/>
          </ac:spMkLst>
        </pc:spChg>
        <pc:spChg chg="del mod">
          <ac:chgData name="NASIR AHMAD - STUDENT" userId="761ba862-1bdf-47bb-84a3-c586c7b2403c" providerId="ADAL" clId="{36D9C585-445C-4B16-BBD9-CBFE813DAE1A}" dt="2026-04-28T18:35:17.086" v="25" actId="478"/>
          <ac:spMkLst>
            <pc:docMk/>
            <pc:sldMk cId="0" sldId="264"/>
            <ac:spMk id="12" creationId="{170B12DA-F5EE-F175-956C-EDD292EF6E42}"/>
          </ac:spMkLst>
        </pc:spChg>
        <pc:spChg chg="mod">
          <ac:chgData name="NASIR AHMAD - STUDENT" userId="761ba862-1bdf-47bb-84a3-c586c7b2403c" providerId="ADAL" clId="{36D9C585-445C-4B16-BBD9-CBFE813DAE1A}" dt="2026-04-28T18:42:35.232" v="128" actId="113"/>
          <ac:spMkLst>
            <pc:docMk/>
            <pc:sldMk cId="0" sldId="264"/>
            <ac:spMk id="13" creationId="{02CA2E90-43C6-8F06-57B3-0B1569F96421}"/>
          </ac:spMkLst>
        </pc:spChg>
      </pc:sldChg>
      <pc:sldChg chg="ord">
        <pc:chgData name="NASIR AHMAD - STUDENT" userId="761ba862-1bdf-47bb-84a3-c586c7b2403c" providerId="ADAL" clId="{36D9C585-445C-4B16-BBD9-CBFE813DAE1A}" dt="2026-04-28T16:29:17.522" v="17"/>
        <pc:sldMkLst>
          <pc:docMk/>
          <pc:sldMk cId="1509594116" sldId="270"/>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Accuracy %</c:v>
                </c:pt>
              </c:strCache>
            </c:strRef>
          </c:tx>
          <c:spPr>
            <a:solidFill>
              <a:srgbClr val="2E7D32"/>
            </a:solidFill>
            <a:effectLst/>
          </c:spPr>
          <c:invertIfNegative val="0"/>
          <c:dLbls>
            <c:numFmt formatCode="#,##0" sourceLinked="0"/>
            <c:spPr>
              <a:noFill/>
              <a:ln>
                <a:noFill/>
              </a:ln>
              <a:effectLst/>
            </c:spPr>
            <c:txPr>
              <a:bodyPr/>
              <a:lstStyle/>
              <a:p>
                <a:pPr>
                  <a:defRPr sz="1100" b="0" i="0" u="none" strike="noStrike">
                    <a:solidFill>
                      <a:srgbClr val="0E3A52"/>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VGGNet</c:v>
                </c:pt>
                <c:pt idx="1">
                  <c:v>AlexNet</c:v>
                </c:pt>
                <c:pt idx="2">
                  <c:v>ResNet</c:v>
                </c:pt>
              </c:strCache>
            </c:strRef>
          </c:cat>
          <c:val>
            <c:numRef>
              <c:f>Sheet1!$B$2:$B$4</c:f>
              <c:numCache>
                <c:formatCode>General</c:formatCode>
                <c:ptCount val="3"/>
                <c:pt idx="0">
                  <c:v>95.44</c:v>
                </c:pt>
                <c:pt idx="1">
                  <c:v>94.32</c:v>
                </c:pt>
                <c:pt idx="2">
                  <c:v>33.159999999999997</c:v>
                </c:pt>
              </c:numCache>
            </c:numRef>
          </c:val>
          <c:extLst>
            <c:ext xmlns:c16="http://schemas.microsoft.com/office/drawing/2014/chart" uri="{C3380CC4-5D6E-409C-BE32-E72D297353CC}">
              <c16:uniqueId val="{00000000-F60A-4023-8435-A5DD69FAE20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62626"/>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EBEEF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B7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283AC6-F0A0-435A-88F4-C25A8325251D}" type="datetimeFigureOut">
              <a:rPr lang="en-IE" smtClean="0"/>
              <a:t>28/04/2026</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4BA90B-1209-4382-9450-1F05412C89FC}" type="slidenum">
              <a:rPr lang="en-IE" smtClean="0"/>
              <a:t>‹#›</a:t>
            </a:fld>
            <a:endParaRPr lang="en-IE"/>
          </a:p>
        </p:txBody>
      </p:sp>
    </p:spTree>
    <p:extLst>
      <p:ext uri="{BB962C8B-B14F-4D97-AF65-F5344CB8AC3E}">
        <p14:creationId xmlns:p14="http://schemas.microsoft.com/office/powerpoint/2010/main" val="8727766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E"/>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Hi everyone, I'm Nasir Ahmad. I'll walk you through RoadRank, my final year project. It's an edge-based driver monitoring system that uses computer vision to detect unsafe driving in real time, and turns safer driving into a game through a leaderboard.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E"/>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Quick recap of where we left off. RoadRank is built around two machine learning models. In Semester 1 I trained a behavior model, comparing AlexNet, VGGNet and ResNet on the REVITSONE Kaggle dataset and a Siamese facial-verification network that confirms who's actually behind the wheel. Both models were prototyped in Google Colab or Jupyter Notebook . Today I'll focus on how those models were stitched into a complete system in Semester 2.</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E"/>
          </a:p>
        </p:txBody>
      </p:sp>
      <p:sp>
        <p:nvSpPr>
          <p:cNvPr id="3" name="Notes Placeholder 2"/>
          <p:cNvSpPr>
            <a:spLocks noGrp="1"/>
          </p:cNvSpPr>
          <p:nvPr>
            <p:ph type="body" idx="1"/>
          </p:nvPr>
        </p:nvSpPr>
        <p:spPr/>
        <p:txBody>
          <a:bodyPr/>
          <a:lstStyle/>
          <a:p>
            <a:r>
              <a:rPr lang="en-US" dirty="0"/>
              <a:t>Here's the full architecture. A Raspberry Pi 5 runs a Flask camera server that owns the camera and both ML models. It talks over HTTP to a Node.js Express API, which handles user accounts and writes to MongoDB Atlas. The Next.js frontend is what the driver actually sees — live feed, dashboard, leaderboard. And in the background, a small sync worker mirrors the Pi's local behavior log into Mongo every ten minutes and recalculates the leaderboard.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on the timeline. Semester 1 went on research, dataset preparation and the three CNN architectures, with a working classifier on the Pi for the Christmas demo. Semester 2 was the full-stack web app. The only big addition to the original proposal was the Siamese verification stage — that became necessary once gamified scoring meant scores had to be tied to a verified identity, not just a username.</a:t>
            </a:r>
          </a:p>
        </p:txBody>
      </p:sp>
      <p:sp>
        <p:nvSpPr>
          <p:cNvPr id="4" name="Slide Number Placeholder 3"/>
          <p:cNvSpPr>
            <a:spLocks noGrp="1"/>
          </p:cNvSpPr>
          <p:nvPr>
            <p:ph type="sldNum" sz="quarter" idx="5"/>
          </p:nvPr>
        </p:nvSpPr>
        <p:spPr/>
        <p:txBody>
          <a:bodyPr/>
          <a:lstStyle/>
          <a:p>
            <a:fld id="{364BA90B-1209-4382-9450-1F05412C89FC}" type="slidenum">
              <a:rPr lang="en-IE" smtClean="0"/>
              <a:t>4</a:t>
            </a:fld>
            <a:endParaRPr lang="en-IE"/>
          </a:p>
        </p:txBody>
      </p:sp>
    </p:spTree>
    <p:extLst>
      <p:ext uri="{BB962C8B-B14F-4D97-AF65-F5344CB8AC3E}">
        <p14:creationId xmlns:p14="http://schemas.microsoft.com/office/powerpoint/2010/main" val="16036835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E"/>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camera server is the heart of the project. It's structured as a three-state machine: unverified, verifying, and verified. The first frame triggers verification; once the Siamese model confirms a match, behavior classification kicks in. Behind the scenes there are three cooperating threads — capture, model worker, and Flask. The trick is the handoff: the capture loop overwrites a single pending-frame slot and signals the worker. If inference is slower than capture — which it often is for VGGNet — older frames are dropped instead of queued. That's what keeps the Pi responsive and prevents memory growth.</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E"/>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Facial verification works like this. A frame from the Pi camera is resized to 100 by 100, </a:t>
            </a:r>
            <a:r>
              <a:rPr lang="en-US" dirty="0" err="1"/>
              <a:t>normalised</a:t>
            </a:r>
            <a:r>
              <a:rPr lang="en-US" dirty="0"/>
              <a:t>, and passed through the twin-tower embedding network into a 4096-dimensional vector. We compute the L1 distance against every reference image in the user's folder, and require more than fifty percent agreement to confirm identity. The reference images come from a short setup video — ffmpeg pulls one frame every third of a second, capped at fifty. Scoping the search to the expected username drops verification time from seconds to a fraction of a second.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E"/>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Once a driver is verified, </a:t>
            </a:r>
            <a:r>
              <a:rPr lang="en-US" dirty="0" err="1"/>
              <a:t>behaviour</a:t>
            </a:r>
            <a:r>
              <a:rPr lang="en-US" dirty="0"/>
              <a:t> classification runs. The scoring is simple: safe driving earns ten points, a turn earns five, talking and texting cost you. The challenge here was noise — the classifier would flicker between adjacent classes frame-to-frame. So I added a five-frame agreement gate: a </a:t>
            </a:r>
            <a:r>
              <a:rPr lang="en-US" dirty="0" err="1"/>
              <a:t>behaviour</a:t>
            </a:r>
            <a:r>
              <a:rPr lang="en-US" dirty="0"/>
              <a:t> only logs when the last five predictions all agree. Effectively, you have to commit to a </a:t>
            </a:r>
            <a:r>
              <a:rPr lang="en-US" dirty="0" err="1"/>
              <a:t>behaviour</a:t>
            </a:r>
            <a:r>
              <a:rPr lang="en-US" dirty="0"/>
              <a:t> for a full second before it counts. The Pi captures at ten frames per second and classifies every other frame, so about five hertz inference.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E"/>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web stack splits cleanly into two halves. The Express API on the left handles registration with </a:t>
            </a:r>
            <a:r>
              <a:rPr lang="en-US" dirty="0" err="1"/>
              <a:t>bcrypt</a:t>
            </a:r>
            <a:r>
              <a:rPr lang="en-US" dirty="0"/>
              <a:t>-hashed passwords, facial-setup uploads via </a:t>
            </a:r>
            <a:r>
              <a:rPr lang="en-US" dirty="0" err="1"/>
              <a:t>multer</a:t>
            </a:r>
            <a:r>
              <a:rPr lang="en-US" dirty="0"/>
              <a:t> and ffmpeg, login, and the alerts and </a:t>
            </a:r>
            <a:r>
              <a:rPr lang="en-US" dirty="0" err="1"/>
              <a:t>behaviour</a:t>
            </a:r>
            <a:r>
              <a:rPr lang="en-US" dirty="0"/>
              <a:t>-log endpoints that the dashboard consumes. On the right, the Next.js 14 frontend has a Live Feed that polls the camera server, a </a:t>
            </a:r>
            <a:r>
              <a:rPr lang="en-US" dirty="0" err="1"/>
              <a:t>Behaviour</a:t>
            </a:r>
            <a:r>
              <a:rPr lang="en-US" dirty="0"/>
              <a:t> Dashboard with a score chart, a Leaderboard with medals for the top three, and a Notifications page. There are two ways in: password login, or face-based sign-in driven directly by the camera.</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E"/>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leaderboard is kept in sync by a small Node worker that runs every ten minutes. It mirrors the Pi's local JSON log into MongoDB and re-ranks every user in a single bulk write. The trade-off is intentional — per-event syncing would give an instantly-fresh leaderboard, but a network blip would drop driving data. Batching plus the Pi's durable local log means the system tolerates the backend being offline. Real-time alerts still fire immediately for the user-facing case.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E"/>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Onto evaluation. The </a:t>
            </a:r>
            <a:r>
              <a:rPr lang="en-US" dirty="0" err="1"/>
              <a:t>behaviour</a:t>
            </a:r>
            <a:r>
              <a:rPr lang="en-US" dirty="0"/>
              <a:t> classifier was tested on a held-out set: VGGNet hit ninety-five point four </a:t>
            </a:r>
            <a:r>
              <a:rPr lang="en-US" dirty="0" err="1"/>
              <a:t>four</a:t>
            </a:r>
            <a:r>
              <a:rPr lang="en-US" dirty="0"/>
              <a:t> percent, AlexNet ninety-four point three two, and ResNet only thirty-three percent — likely a flatten-versus-global-average-pooling issue combined with binary cross-entropy on a five-class problem. VGGNet went into production. The Siamese model achieved precision and recall both above 0.9 at the half-threshold. For testing the app, I ran a user-test session, monitored the Pi with Prometheus and </a:t>
            </a:r>
            <a:r>
              <a:rPr lang="en-US" dirty="0" err="1"/>
              <a:t>NetData</a:t>
            </a:r>
            <a:r>
              <a:rPr lang="en-US" dirty="0"/>
              <a:t> — peaked at eighty-five degrees, right at the throttling threshold — I also wrote thirty-three Playwright end-to-end tests. All thirty-three pass, and the full suite runs in under two minutes.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E"/>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Three challenges worth calling out. First, threading on the Pi — naively spawning a thread per frame caused thread accumulation and growing latency. Fixed with the single-worker, slot-based handoff. Second, frame-by-frame noise — solved by the five-frame agreement gate. And third, recovery — either the Pi or the dashboard can go offline independently, so the dashboard now shows an offline card with the exact restart command, and the Pi state machine resets cleanly on /reset.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E"/>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wrap up. I set out to build a real-time driver monitoring system that </a:t>
            </a:r>
            <a:r>
              <a:rPr lang="en-US" dirty="0" err="1"/>
              <a:t>recognises</a:t>
            </a:r>
            <a:r>
              <a:rPr lang="en-US" dirty="0"/>
              <a:t> the driver, classifies </a:t>
            </a:r>
            <a:r>
              <a:rPr lang="en-US" dirty="0" err="1"/>
              <a:t>behaviour</a:t>
            </a:r>
            <a:r>
              <a:rPr lang="en-US" dirty="0"/>
              <a:t>, and makes safer driving rewarding through a leaderboard. I delivered an end-to-end working product: Pi camera server with a state machine, Express API, MongoDB-backed dashboard, dual-mode authentication, real-time alerts, and a persistent leaderboard. And along the way I learned what it really takes to make embedded ML and a full web stack cooperate reliably over a flaky network.</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E"/>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47A34-70ED-7C0B-18A7-12A0A044CD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E"/>
          </a:p>
        </p:txBody>
      </p:sp>
      <p:sp>
        <p:nvSpPr>
          <p:cNvPr id="3" name="Subtitle 2">
            <a:extLst>
              <a:ext uri="{FF2B5EF4-FFF2-40B4-BE49-F238E27FC236}">
                <a16:creationId xmlns:a16="http://schemas.microsoft.com/office/drawing/2014/main" id="{0407D903-1C1A-1841-5694-35A1660747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E"/>
          </a:p>
        </p:txBody>
      </p:sp>
      <p:sp>
        <p:nvSpPr>
          <p:cNvPr id="4" name="Date Placeholder 3">
            <a:extLst>
              <a:ext uri="{FF2B5EF4-FFF2-40B4-BE49-F238E27FC236}">
                <a16:creationId xmlns:a16="http://schemas.microsoft.com/office/drawing/2014/main" id="{19934403-847D-38B3-AD55-7AE678A8CDE1}"/>
              </a:ext>
            </a:extLst>
          </p:cNvPr>
          <p:cNvSpPr>
            <a:spLocks noGrp="1"/>
          </p:cNvSpPr>
          <p:nvPr>
            <p:ph type="dt" sz="half" idx="10"/>
          </p:nvPr>
        </p:nvSpPr>
        <p:spPr/>
        <p:txBody>
          <a:bodyPr/>
          <a:lstStyle/>
          <a:p>
            <a:fld id="{15AAC9F3-366C-411C-BB35-A17A13CCCCDA}" type="datetimeFigureOut">
              <a:rPr lang="en-IE" smtClean="0"/>
              <a:t>28/04/2026</a:t>
            </a:fld>
            <a:endParaRPr lang="en-IE"/>
          </a:p>
        </p:txBody>
      </p:sp>
      <p:sp>
        <p:nvSpPr>
          <p:cNvPr id="5" name="Footer Placeholder 4">
            <a:extLst>
              <a:ext uri="{FF2B5EF4-FFF2-40B4-BE49-F238E27FC236}">
                <a16:creationId xmlns:a16="http://schemas.microsoft.com/office/drawing/2014/main" id="{A51C2FAC-DE8D-1B61-AFE8-0B57E74049B0}"/>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829C5D4C-65E9-8C41-229D-7958FEEF219A}"/>
              </a:ext>
            </a:extLst>
          </p:cNvPr>
          <p:cNvSpPr>
            <a:spLocks noGrp="1"/>
          </p:cNvSpPr>
          <p:nvPr>
            <p:ph type="sldNum" sz="quarter" idx="12"/>
          </p:nvPr>
        </p:nvSpPr>
        <p:spPr/>
        <p:txBody>
          <a:bodyPr/>
          <a:lstStyle/>
          <a:p>
            <a:fld id="{738C252D-FBB9-4FA3-832F-FA83A2289572}" type="slidenum">
              <a:rPr lang="en-IE" smtClean="0"/>
              <a:t>‹#›</a:t>
            </a:fld>
            <a:endParaRPr lang="en-IE"/>
          </a:p>
        </p:txBody>
      </p:sp>
    </p:spTree>
    <p:extLst>
      <p:ext uri="{BB962C8B-B14F-4D97-AF65-F5344CB8AC3E}">
        <p14:creationId xmlns:p14="http://schemas.microsoft.com/office/powerpoint/2010/main" val="23749895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30541-80BC-EB70-E099-7AD7B91B4DA2}"/>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D8471316-9892-85FA-CF9D-8D60803784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E1A2FC57-6390-F69B-4EE1-2F146195EDEF}"/>
              </a:ext>
            </a:extLst>
          </p:cNvPr>
          <p:cNvSpPr>
            <a:spLocks noGrp="1"/>
          </p:cNvSpPr>
          <p:nvPr>
            <p:ph type="dt" sz="half" idx="10"/>
          </p:nvPr>
        </p:nvSpPr>
        <p:spPr/>
        <p:txBody>
          <a:bodyPr/>
          <a:lstStyle/>
          <a:p>
            <a:fld id="{15AAC9F3-366C-411C-BB35-A17A13CCCCDA}" type="datetimeFigureOut">
              <a:rPr lang="en-IE" smtClean="0"/>
              <a:t>28/04/2026</a:t>
            </a:fld>
            <a:endParaRPr lang="en-IE"/>
          </a:p>
        </p:txBody>
      </p:sp>
      <p:sp>
        <p:nvSpPr>
          <p:cNvPr id="5" name="Footer Placeholder 4">
            <a:extLst>
              <a:ext uri="{FF2B5EF4-FFF2-40B4-BE49-F238E27FC236}">
                <a16:creationId xmlns:a16="http://schemas.microsoft.com/office/drawing/2014/main" id="{8E42DBC4-B4C6-47AC-8701-0D4ABD8397CA}"/>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B4B87B46-4F2D-D3AD-3656-8976E324ABFB}"/>
              </a:ext>
            </a:extLst>
          </p:cNvPr>
          <p:cNvSpPr>
            <a:spLocks noGrp="1"/>
          </p:cNvSpPr>
          <p:nvPr>
            <p:ph type="sldNum" sz="quarter" idx="12"/>
          </p:nvPr>
        </p:nvSpPr>
        <p:spPr/>
        <p:txBody>
          <a:bodyPr/>
          <a:lstStyle/>
          <a:p>
            <a:fld id="{738C252D-FBB9-4FA3-832F-FA83A2289572}" type="slidenum">
              <a:rPr lang="en-IE" smtClean="0"/>
              <a:t>‹#›</a:t>
            </a:fld>
            <a:endParaRPr lang="en-IE"/>
          </a:p>
        </p:txBody>
      </p:sp>
    </p:spTree>
    <p:extLst>
      <p:ext uri="{BB962C8B-B14F-4D97-AF65-F5344CB8AC3E}">
        <p14:creationId xmlns:p14="http://schemas.microsoft.com/office/powerpoint/2010/main" val="6008999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37344-634B-9C63-D4D6-395F9A054DF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E"/>
          </a:p>
        </p:txBody>
      </p:sp>
      <p:sp>
        <p:nvSpPr>
          <p:cNvPr id="3" name="Text Placeholder 2">
            <a:extLst>
              <a:ext uri="{FF2B5EF4-FFF2-40B4-BE49-F238E27FC236}">
                <a16:creationId xmlns:a16="http://schemas.microsoft.com/office/drawing/2014/main" id="{5EAF5886-F2CD-0B95-137C-CC9FCCEAB82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9934D0-96FF-BB92-1C1F-1C37D0D8F3C2}"/>
              </a:ext>
            </a:extLst>
          </p:cNvPr>
          <p:cNvSpPr>
            <a:spLocks noGrp="1"/>
          </p:cNvSpPr>
          <p:nvPr>
            <p:ph type="dt" sz="half" idx="10"/>
          </p:nvPr>
        </p:nvSpPr>
        <p:spPr/>
        <p:txBody>
          <a:bodyPr/>
          <a:lstStyle/>
          <a:p>
            <a:fld id="{15AAC9F3-366C-411C-BB35-A17A13CCCCDA}" type="datetimeFigureOut">
              <a:rPr lang="en-IE" smtClean="0"/>
              <a:t>28/04/2026</a:t>
            </a:fld>
            <a:endParaRPr lang="en-IE"/>
          </a:p>
        </p:txBody>
      </p:sp>
      <p:sp>
        <p:nvSpPr>
          <p:cNvPr id="5" name="Footer Placeholder 4">
            <a:extLst>
              <a:ext uri="{FF2B5EF4-FFF2-40B4-BE49-F238E27FC236}">
                <a16:creationId xmlns:a16="http://schemas.microsoft.com/office/drawing/2014/main" id="{DEF23DB2-D1C4-DDCA-E369-24C54DB47DE0}"/>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F4DB85EC-23F5-CFD9-D74D-55A654BBE7D7}"/>
              </a:ext>
            </a:extLst>
          </p:cNvPr>
          <p:cNvSpPr>
            <a:spLocks noGrp="1"/>
          </p:cNvSpPr>
          <p:nvPr>
            <p:ph type="sldNum" sz="quarter" idx="12"/>
          </p:nvPr>
        </p:nvSpPr>
        <p:spPr/>
        <p:txBody>
          <a:bodyPr/>
          <a:lstStyle/>
          <a:p>
            <a:fld id="{738C252D-FBB9-4FA3-832F-FA83A2289572}" type="slidenum">
              <a:rPr lang="en-IE" smtClean="0"/>
              <a:t>‹#›</a:t>
            </a:fld>
            <a:endParaRPr lang="en-IE"/>
          </a:p>
        </p:txBody>
      </p:sp>
    </p:spTree>
    <p:extLst>
      <p:ext uri="{BB962C8B-B14F-4D97-AF65-F5344CB8AC3E}">
        <p14:creationId xmlns:p14="http://schemas.microsoft.com/office/powerpoint/2010/main" val="3293485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6C3FC-0606-5F1F-CFBA-4156BDB2B4A0}"/>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A2DFF5AD-77D9-6187-6550-A79A815F451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a:extLst>
              <a:ext uri="{FF2B5EF4-FFF2-40B4-BE49-F238E27FC236}">
                <a16:creationId xmlns:a16="http://schemas.microsoft.com/office/drawing/2014/main" id="{9B74DE58-F15B-14EE-F5BF-AC3DE71F577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a:extLst>
              <a:ext uri="{FF2B5EF4-FFF2-40B4-BE49-F238E27FC236}">
                <a16:creationId xmlns:a16="http://schemas.microsoft.com/office/drawing/2014/main" id="{18781A6F-0E7C-96A7-EF1C-03164F538010}"/>
              </a:ext>
            </a:extLst>
          </p:cNvPr>
          <p:cNvSpPr>
            <a:spLocks noGrp="1"/>
          </p:cNvSpPr>
          <p:nvPr>
            <p:ph type="dt" sz="half" idx="10"/>
          </p:nvPr>
        </p:nvSpPr>
        <p:spPr/>
        <p:txBody>
          <a:bodyPr/>
          <a:lstStyle/>
          <a:p>
            <a:fld id="{15AAC9F3-366C-411C-BB35-A17A13CCCCDA}" type="datetimeFigureOut">
              <a:rPr lang="en-IE" smtClean="0"/>
              <a:t>28/04/2026</a:t>
            </a:fld>
            <a:endParaRPr lang="en-IE"/>
          </a:p>
        </p:txBody>
      </p:sp>
      <p:sp>
        <p:nvSpPr>
          <p:cNvPr id="6" name="Footer Placeholder 5">
            <a:extLst>
              <a:ext uri="{FF2B5EF4-FFF2-40B4-BE49-F238E27FC236}">
                <a16:creationId xmlns:a16="http://schemas.microsoft.com/office/drawing/2014/main" id="{9A99D005-4055-7899-0A9A-0AC53B9DBDA1}"/>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F6EE22F3-B243-60A1-312F-EED5BBCEFF1A}"/>
              </a:ext>
            </a:extLst>
          </p:cNvPr>
          <p:cNvSpPr>
            <a:spLocks noGrp="1"/>
          </p:cNvSpPr>
          <p:nvPr>
            <p:ph type="sldNum" sz="quarter" idx="12"/>
          </p:nvPr>
        </p:nvSpPr>
        <p:spPr/>
        <p:txBody>
          <a:bodyPr/>
          <a:lstStyle/>
          <a:p>
            <a:fld id="{738C252D-FBB9-4FA3-832F-FA83A2289572}" type="slidenum">
              <a:rPr lang="en-IE" smtClean="0"/>
              <a:t>‹#›</a:t>
            </a:fld>
            <a:endParaRPr lang="en-IE"/>
          </a:p>
        </p:txBody>
      </p:sp>
    </p:spTree>
    <p:extLst>
      <p:ext uri="{BB962C8B-B14F-4D97-AF65-F5344CB8AC3E}">
        <p14:creationId xmlns:p14="http://schemas.microsoft.com/office/powerpoint/2010/main" val="31428970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6CBA9-AEDC-5A96-3496-92270073DC7B}"/>
              </a:ext>
            </a:extLst>
          </p:cNvPr>
          <p:cNvSpPr>
            <a:spLocks noGrp="1"/>
          </p:cNvSpPr>
          <p:nvPr>
            <p:ph type="title"/>
          </p:nvPr>
        </p:nvSpPr>
        <p:spPr>
          <a:xfrm>
            <a:off x="839788" y="365125"/>
            <a:ext cx="10515600" cy="1325563"/>
          </a:xfrm>
        </p:spPr>
        <p:txBody>
          <a:bodyPr/>
          <a:lstStyle/>
          <a:p>
            <a:r>
              <a:rPr lang="en-US"/>
              <a:t>Click to edit Master title style</a:t>
            </a:r>
            <a:endParaRPr lang="en-IE"/>
          </a:p>
        </p:txBody>
      </p:sp>
      <p:sp>
        <p:nvSpPr>
          <p:cNvPr id="3" name="Text Placeholder 2">
            <a:extLst>
              <a:ext uri="{FF2B5EF4-FFF2-40B4-BE49-F238E27FC236}">
                <a16:creationId xmlns:a16="http://schemas.microsoft.com/office/drawing/2014/main" id="{F238C758-C800-BD56-A535-10259DB0989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ADA2D77-79D3-DBBA-B539-CB3D56D602A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a:extLst>
              <a:ext uri="{FF2B5EF4-FFF2-40B4-BE49-F238E27FC236}">
                <a16:creationId xmlns:a16="http://schemas.microsoft.com/office/drawing/2014/main" id="{73161D60-5012-1F61-C9B3-2876FA77B3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BF57AC4-7CEB-F0BE-121A-E6E8569CDD1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a:extLst>
              <a:ext uri="{FF2B5EF4-FFF2-40B4-BE49-F238E27FC236}">
                <a16:creationId xmlns:a16="http://schemas.microsoft.com/office/drawing/2014/main" id="{6BBFD8B6-C114-D751-166C-DFB2264ADAF8}"/>
              </a:ext>
            </a:extLst>
          </p:cNvPr>
          <p:cNvSpPr>
            <a:spLocks noGrp="1"/>
          </p:cNvSpPr>
          <p:nvPr>
            <p:ph type="dt" sz="half" idx="10"/>
          </p:nvPr>
        </p:nvSpPr>
        <p:spPr/>
        <p:txBody>
          <a:bodyPr/>
          <a:lstStyle/>
          <a:p>
            <a:fld id="{15AAC9F3-366C-411C-BB35-A17A13CCCCDA}" type="datetimeFigureOut">
              <a:rPr lang="en-IE" smtClean="0"/>
              <a:t>28/04/2026</a:t>
            </a:fld>
            <a:endParaRPr lang="en-IE"/>
          </a:p>
        </p:txBody>
      </p:sp>
      <p:sp>
        <p:nvSpPr>
          <p:cNvPr id="8" name="Footer Placeholder 7">
            <a:extLst>
              <a:ext uri="{FF2B5EF4-FFF2-40B4-BE49-F238E27FC236}">
                <a16:creationId xmlns:a16="http://schemas.microsoft.com/office/drawing/2014/main" id="{5395C952-0A9D-9F70-7ED1-1A80B5449123}"/>
              </a:ext>
            </a:extLst>
          </p:cNvPr>
          <p:cNvSpPr>
            <a:spLocks noGrp="1"/>
          </p:cNvSpPr>
          <p:nvPr>
            <p:ph type="ftr" sz="quarter" idx="11"/>
          </p:nvPr>
        </p:nvSpPr>
        <p:spPr/>
        <p:txBody>
          <a:bodyPr/>
          <a:lstStyle/>
          <a:p>
            <a:endParaRPr lang="en-IE"/>
          </a:p>
        </p:txBody>
      </p:sp>
      <p:sp>
        <p:nvSpPr>
          <p:cNvPr id="9" name="Slide Number Placeholder 8">
            <a:extLst>
              <a:ext uri="{FF2B5EF4-FFF2-40B4-BE49-F238E27FC236}">
                <a16:creationId xmlns:a16="http://schemas.microsoft.com/office/drawing/2014/main" id="{C7CC0233-F671-A984-9561-3943CDCE466F}"/>
              </a:ext>
            </a:extLst>
          </p:cNvPr>
          <p:cNvSpPr>
            <a:spLocks noGrp="1"/>
          </p:cNvSpPr>
          <p:nvPr>
            <p:ph type="sldNum" sz="quarter" idx="12"/>
          </p:nvPr>
        </p:nvSpPr>
        <p:spPr/>
        <p:txBody>
          <a:bodyPr/>
          <a:lstStyle/>
          <a:p>
            <a:fld id="{738C252D-FBB9-4FA3-832F-FA83A2289572}" type="slidenum">
              <a:rPr lang="en-IE" smtClean="0"/>
              <a:t>‹#›</a:t>
            </a:fld>
            <a:endParaRPr lang="en-IE"/>
          </a:p>
        </p:txBody>
      </p:sp>
    </p:spTree>
    <p:extLst>
      <p:ext uri="{BB962C8B-B14F-4D97-AF65-F5344CB8AC3E}">
        <p14:creationId xmlns:p14="http://schemas.microsoft.com/office/powerpoint/2010/main" val="5713854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D0DF1-BF84-EEDF-C07D-A43CCA5503E5}"/>
              </a:ext>
            </a:extLst>
          </p:cNvPr>
          <p:cNvSpPr>
            <a:spLocks noGrp="1"/>
          </p:cNvSpPr>
          <p:nvPr>
            <p:ph type="title"/>
          </p:nvPr>
        </p:nvSpPr>
        <p:spPr/>
        <p:txBody>
          <a:bodyPr/>
          <a:lstStyle/>
          <a:p>
            <a:r>
              <a:rPr lang="en-US"/>
              <a:t>Click to edit Master title style</a:t>
            </a:r>
            <a:endParaRPr lang="en-IE"/>
          </a:p>
        </p:txBody>
      </p:sp>
      <p:sp>
        <p:nvSpPr>
          <p:cNvPr id="3" name="Date Placeholder 2">
            <a:extLst>
              <a:ext uri="{FF2B5EF4-FFF2-40B4-BE49-F238E27FC236}">
                <a16:creationId xmlns:a16="http://schemas.microsoft.com/office/drawing/2014/main" id="{21FC8E35-4D5E-4FB8-5EF3-B2A2225B0B2C}"/>
              </a:ext>
            </a:extLst>
          </p:cNvPr>
          <p:cNvSpPr>
            <a:spLocks noGrp="1"/>
          </p:cNvSpPr>
          <p:nvPr>
            <p:ph type="dt" sz="half" idx="10"/>
          </p:nvPr>
        </p:nvSpPr>
        <p:spPr/>
        <p:txBody>
          <a:bodyPr/>
          <a:lstStyle/>
          <a:p>
            <a:fld id="{15AAC9F3-366C-411C-BB35-A17A13CCCCDA}" type="datetimeFigureOut">
              <a:rPr lang="en-IE" smtClean="0"/>
              <a:t>28/04/2026</a:t>
            </a:fld>
            <a:endParaRPr lang="en-IE"/>
          </a:p>
        </p:txBody>
      </p:sp>
      <p:sp>
        <p:nvSpPr>
          <p:cNvPr id="4" name="Footer Placeholder 3">
            <a:extLst>
              <a:ext uri="{FF2B5EF4-FFF2-40B4-BE49-F238E27FC236}">
                <a16:creationId xmlns:a16="http://schemas.microsoft.com/office/drawing/2014/main" id="{7D184473-FA8A-38CB-54A0-AE94011346AD}"/>
              </a:ext>
            </a:extLst>
          </p:cNvPr>
          <p:cNvSpPr>
            <a:spLocks noGrp="1"/>
          </p:cNvSpPr>
          <p:nvPr>
            <p:ph type="ftr" sz="quarter" idx="11"/>
          </p:nvPr>
        </p:nvSpPr>
        <p:spPr/>
        <p:txBody>
          <a:bodyPr/>
          <a:lstStyle/>
          <a:p>
            <a:endParaRPr lang="en-IE"/>
          </a:p>
        </p:txBody>
      </p:sp>
      <p:sp>
        <p:nvSpPr>
          <p:cNvPr id="5" name="Slide Number Placeholder 4">
            <a:extLst>
              <a:ext uri="{FF2B5EF4-FFF2-40B4-BE49-F238E27FC236}">
                <a16:creationId xmlns:a16="http://schemas.microsoft.com/office/drawing/2014/main" id="{48DE630B-9081-D514-0012-45EECFC954F6}"/>
              </a:ext>
            </a:extLst>
          </p:cNvPr>
          <p:cNvSpPr>
            <a:spLocks noGrp="1"/>
          </p:cNvSpPr>
          <p:nvPr>
            <p:ph type="sldNum" sz="quarter" idx="12"/>
          </p:nvPr>
        </p:nvSpPr>
        <p:spPr/>
        <p:txBody>
          <a:bodyPr/>
          <a:lstStyle/>
          <a:p>
            <a:fld id="{738C252D-FBB9-4FA3-832F-FA83A2289572}" type="slidenum">
              <a:rPr lang="en-IE" smtClean="0"/>
              <a:t>‹#›</a:t>
            </a:fld>
            <a:endParaRPr lang="en-IE"/>
          </a:p>
        </p:txBody>
      </p:sp>
    </p:spTree>
    <p:extLst>
      <p:ext uri="{BB962C8B-B14F-4D97-AF65-F5344CB8AC3E}">
        <p14:creationId xmlns:p14="http://schemas.microsoft.com/office/powerpoint/2010/main" val="1481766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4AA98E7-2ED7-4AA0-9517-EC354F3D7BFE}"/>
              </a:ext>
            </a:extLst>
          </p:cNvPr>
          <p:cNvSpPr>
            <a:spLocks noGrp="1"/>
          </p:cNvSpPr>
          <p:nvPr>
            <p:ph type="dt" sz="half" idx="10"/>
          </p:nvPr>
        </p:nvSpPr>
        <p:spPr/>
        <p:txBody>
          <a:bodyPr/>
          <a:lstStyle/>
          <a:p>
            <a:fld id="{15AAC9F3-366C-411C-BB35-A17A13CCCCDA}" type="datetimeFigureOut">
              <a:rPr lang="en-IE" smtClean="0"/>
              <a:t>28/04/2026</a:t>
            </a:fld>
            <a:endParaRPr lang="en-IE"/>
          </a:p>
        </p:txBody>
      </p:sp>
      <p:sp>
        <p:nvSpPr>
          <p:cNvPr id="3" name="Footer Placeholder 2">
            <a:extLst>
              <a:ext uri="{FF2B5EF4-FFF2-40B4-BE49-F238E27FC236}">
                <a16:creationId xmlns:a16="http://schemas.microsoft.com/office/drawing/2014/main" id="{D0D31868-8EB9-8EB7-8A26-86FFA1D980DE}"/>
              </a:ext>
            </a:extLst>
          </p:cNvPr>
          <p:cNvSpPr>
            <a:spLocks noGrp="1"/>
          </p:cNvSpPr>
          <p:nvPr>
            <p:ph type="ftr" sz="quarter" idx="11"/>
          </p:nvPr>
        </p:nvSpPr>
        <p:spPr/>
        <p:txBody>
          <a:bodyPr/>
          <a:lstStyle/>
          <a:p>
            <a:endParaRPr lang="en-IE"/>
          </a:p>
        </p:txBody>
      </p:sp>
      <p:sp>
        <p:nvSpPr>
          <p:cNvPr id="4" name="Slide Number Placeholder 3">
            <a:extLst>
              <a:ext uri="{FF2B5EF4-FFF2-40B4-BE49-F238E27FC236}">
                <a16:creationId xmlns:a16="http://schemas.microsoft.com/office/drawing/2014/main" id="{153BC31A-0705-0FC7-09F0-5CC7655096EF}"/>
              </a:ext>
            </a:extLst>
          </p:cNvPr>
          <p:cNvSpPr>
            <a:spLocks noGrp="1"/>
          </p:cNvSpPr>
          <p:nvPr>
            <p:ph type="sldNum" sz="quarter" idx="12"/>
          </p:nvPr>
        </p:nvSpPr>
        <p:spPr/>
        <p:txBody>
          <a:bodyPr/>
          <a:lstStyle/>
          <a:p>
            <a:fld id="{738C252D-FBB9-4FA3-832F-FA83A2289572}" type="slidenum">
              <a:rPr lang="en-IE" smtClean="0"/>
              <a:t>‹#›</a:t>
            </a:fld>
            <a:endParaRPr lang="en-IE"/>
          </a:p>
        </p:txBody>
      </p:sp>
    </p:spTree>
    <p:extLst>
      <p:ext uri="{BB962C8B-B14F-4D97-AF65-F5344CB8AC3E}">
        <p14:creationId xmlns:p14="http://schemas.microsoft.com/office/powerpoint/2010/main" val="2010974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9F928-4FBF-A21A-71B8-E30107A465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Content Placeholder 2">
            <a:extLst>
              <a:ext uri="{FF2B5EF4-FFF2-40B4-BE49-F238E27FC236}">
                <a16:creationId xmlns:a16="http://schemas.microsoft.com/office/drawing/2014/main" id="{7495A19C-186C-9A41-2494-32A10D488B5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a:extLst>
              <a:ext uri="{FF2B5EF4-FFF2-40B4-BE49-F238E27FC236}">
                <a16:creationId xmlns:a16="http://schemas.microsoft.com/office/drawing/2014/main" id="{9C9F759C-8294-249C-3077-A500D9F2DC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93F7DE-74E8-9160-81AF-D3B46FAF318C}"/>
              </a:ext>
            </a:extLst>
          </p:cNvPr>
          <p:cNvSpPr>
            <a:spLocks noGrp="1"/>
          </p:cNvSpPr>
          <p:nvPr>
            <p:ph type="dt" sz="half" idx="10"/>
          </p:nvPr>
        </p:nvSpPr>
        <p:spPr/>
        <p:txBody>
          <a:bodyPr/>
          <a:lstStyle/>
          <a:p>
            <a:fld id="{15AAC9F3-366C-411C-BB35-A17A13CCCCDA}" type="datetimeFigureOut">
              <a:rPr lang="en-IE" smtClean="0"/>
              <a:t>28/04/2026</a:t>
            </a:fld>
            <a:endParaRPr lang="en-IE"/>
          </a:p>
        </p:txBody>
      </p:sp>
      <p:sp>
        <p:nvSpPr>
          <p:cNvPr id="6" name="Footer Placeholder 5">
            <a:extLst>
              <a:ext uri="{FF2B5EF4-FFF2-40B4-BE49-F238E27FC236}">
                <a16:creationId xmlns:a16="http://schemas.microsoft.com/office/drawing/2014/main" id="{BE875166-0F2C-CAA3-F298-EA97C1877BA6}"/>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9322B615-42F3-4FB1-46DB-11FD3B9E7781}"/>
              </a:ext>
            </a:extLst>
          </p:cNvPr>
          <p:cNvSpPr>
            <a:spLocks noGrp="1"/>
          </p:cNvSpPr>
          <p:nvPr>
            <p:ph type="sldNum" sz="quarter" idx="12"/>
          </p:nvPr>
        </p:nvSpPr>
        <p:spPr/>
        <p:txBody>
          <a:bodyPr/>
          <a:lstStyle/>
          <a:p>
            <a:fld id="{738C252D-FBB9-4FA3-832F-FA83A2289572}" type="slidenum">
              <a:rPr lang="en-IE" smtClean="0"/>
              <a:t>‹#›</a:t>
            </a:fld>
            <a:endParaRPr lang="en-IE"/>
          </a:p>
        </p:txBody>
      </p:sp>
    </p:spTree>
    <p:extLst>
      <p:ext uri="{BB962C8B-B14F-4D97-AF65-F5344CB8AC3E}">
        <p14:creationId xmlns:p14="http://schemas.microsoft.com/office/powerpoint/2010/main" val="40479841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D990F-3396-0817-5C2B-CFDBE1B0D4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Picture Placeholder 2">
            <a:extLst>
              <a:ext uri="{FF2B5EF4-FFF2-40B4-BE49-F238E27FC236}">
                <a16:creationId xmlns:a16="http://schemas.microsoft.com/office/drawing/2014/main" id="{C624C38B-E286-CE0B-9414-600C5D31E9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a:extLst>
              <a:ext uri="{FF2B5EF4-FFF2-40B4-BE49-F238E27FC236}">
                <a16:creationId xmlns:a16="http://schemas.microsoft.com/office/drawing/2014/main" id="{1FF27759-2472-C3CA-2782-C1981372D5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337A1E-6F94-FA0D-3FE9-AEE5F7625A02}"/>
              </a:ext>
            </a:extLst>
          </p:cNvPr>
          <p:cNvSpPr>
            <a:spLocks noGrp="1"/>
          </p:cNvSpPr>
          <p:nvPr>
            <p:ph type="dt" sz="half" idx="10"/>
          </p:nvPr>
        </p:nvSpPr>
        <p:spPr/>
        <p:txBody>
          <a:bodyPr/>
          <a:lstStyle/>
          <a:p>
            <a:fld id="{15AAC9F3-366C-411C-BB35-A17A13CCCCDA}" type="datetimeFigureOut">
              <a:rPr lang="en-IE" smtClean="0"/>
              <a:t>28/04/2026</a:t>
            </a:fld>
            <a:endParaRPr lang="en-IE"/>
          </a:p>
        </p:txBody>
      </p:sp>
      <p:sp>
        <p:nvSpPr>
          <p:cNvPr id="6" name="Footer Placeholder 5">
            <a:extLst>
              <a:ext uri="{FF2B5EF4-FFF2-40B4-BE49-F238E27FC236}">
                <a16:creationId xmlns:a16="http://schemas.microsoft.com/office/drawing/2014/main" id="{1E3A813C-5BE8-5CA7-2FEE-8C149AD0418A}"/>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FF0C5D71-7E67-E109-DAC8-C1A37449381E}"/>
              </a:ext>
            </a:extLst>
          </p:cNvPr>
          <p:cNvSpPr>
            <a:spLocks noGrp="1"/>
          </p:cNvSpPr>
          <p:nvPr>
            <p:ph type="sldNum" sz="quarter" idx="12"/>
          </p:nvPr>
        </p:nvSpPr>
        <p:spPr/>
        <p:txBody>
          <a:bodyPr/>
          <a:lstStyle/>
          <a:p>
            <a:fld id="{738C252D-FBB9-4FA3-832F-FA83A2289572}" type="slidenum">
              <a:rPr lang="en-IE" smtClean="0"/>
              <a:t>‹#›</a:t>
            </a:fld>
            <a:endParaRPr lang="en-IE"/>
          </a:p>
        </p:txBody>
      </p:sp>
    </p:spTree>
    <p:extLst>
      <p:ext uri="{BB962C8B-B14F-4D97-AF65-F5344CB8AC3E}">
        <p14:creationId xmlns:p14="http://schemas.microsoft.com/office/powerpoint/2010/main" val="17083221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0EF35-0FD5-F312-5A49-39704E1A8EF4}"/>
              </a:ext>
            </a:extLst>
          </p:cNvPr>
          <p:cNvSpPr>
            <a:spLocks noGrp="1"/>
          </p:cNvSpPr>
          <p:nvPr>
            <p:ph type="title"/>
          </p:nvPr>
        </p:nvSpPr>
        <p:spPr/>
        <p:txBody>
          <a:bodyPr/>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ECCC9206-48E3-B295-7FCD-9AFB982714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0E26860F-B1BB-CD1B-E0EB-2313682C9BB2}"/>
              </a:ext>
            </a:extLst>
          </p:cNvPr>
          <p:cNvSpPr>
            <a:spLocks noGrp="1"/>
          </p:cNvSpPr>
          <p:nvPr>
            <p:ph type="dt" sz="half" idx="10"/>
          </p:nvPr>
        </p:nvSpPr>
        <p:spPr/>
        <p:txBody>
          <a:bodyPr/>
          <a:lstStyle/>
          <a:p>
            <a:fld id="{15AAC9F3-366C-411C-BB35-A17A13CCCCDA}" type="datetimeFigureOut">
              <a:rPr lang="en-IE" smtClean="0"/>
              <a:t>28/04/2026</a:t>
            </a:fld>
            <a:endParaRPr lang="en-IE"/>
          </a:p>
        </p:txBody>
      </p:sp>
      <p:sp>
        <p:nvSpPr>
          <p:cNvPr id="5" name="Footer Placeholder 4">
            <a:extLst>
              <a:ext uri="{FF2B5EF4-FFF2-40B4-BE49-F238E27FC236}">
                <a16:creationId xmlns:a16="http://schemas.microsoft.com/office/drawing/2014/main" id="{5A5041B5-55D9-B4B4-2120-6658FA83CB60}"/>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91FC5B8B-C264-8C1C-E042-3CDA4DAB726B}"/>
              </a:ext>
            </a:extLst>
          </p:cNvPr>
          <p:cNvSpPr>
            <a:spLocks noGrp="1"/>
          </p:cNvSpPr>
          <p:nvPr>
            <p:ph type="sldNum" sz="quarter" idx="12"/>
          </p:nvPr>
        </p:nvSpPr>
        <p:spPr/>
        <p:txBody>
          <a:bodyPr/>
          <a:lstStyle/>
          <a:p>
            <a:fld id="{738C252D-FBB9-4FA3-832F-FA83A2289572}" type="slidenum">
              <a:rPr lang="en-IE" smtClean="0"/>
              <a:t>‹#›</a:t>
            </a:fld>
            <a:endParaRPr lang="en-IE"/>
          </a:p>
        </p:txBody>
      </p:sp>
    </p:spTree>
    <p:extLst>
      <p:ext uri="{BB962C8B-B14F-4D97-AF65-F5344CB8AC3E}">
        <p14:creationId xmlns:p14="http://schemas.microsoft.com/office/powerpoint/2010/main" val="660807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B0CE24-DD5A-FE42-4CE3-0C6CE06F9B9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E433CAD7-ECDC-4848-8387-4A33B798AAD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5BE26E3D-BE32-B956-6D32-39164D024922}"/>
              </a:ext>
            </a:extLst>
          </p:cNvPr>
          <p:cNvSpPr>
            <a:spLocks noGrp="1"/>
          </p:cNvSpPr>
          <p:nvPr>
            <p:ph type="dt" sz="half" idx="10"/>
          </p:nvPr>
        </p:nvSpPr>
        <p:spPr/>
        <p:txBody>
          <a:bodyPr/>
          <a:lstStyle/>
          <a:p>
            <a:fld id="{15AAC9F3-366C-411C-BB35-A17A13CCCCDA}" type="datetimeFigureOut">
              <a:rPr lang="en-IE" smtClean="0"/>
              <a:t>28/04/2026</a:t>
            </a:fld>
            <a:endParaRPr lang="en-IE"/>
          </a:p>
        </p:txBody>
      </p:sp>
      <p:sp>
        <p:nvSpPr>
          <p:cNvPr id="5" name="Footer Placeholder 4">
            <a:extLst>
              <a:ext uri="{FF2B5EF4-FFF2-40B4-BE49-F238E27FC236}">
                <a16:creationId xmlns:a16="http://schemas.microsoft.com/office/drawing/2014/main" id="{51CDBC08-F5CF-ED17-286B-8B27043FF963}"/>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A517B127-71A5-2177-4979-D2C060D1A043}"/>
              </a:ext>
            </a:extLst>
          </p:cNvPr>
          <p:cNvSpPr>
            <a:spLocks noGrp="1"/>
          </p:cNvSpPr>
          <p:nvPr>
            <p:ph type="sldNum" sz="quarter" idx="12"/>
          </p:nvPr>
        </p:nvSpPr>
        <p:spPr/>
        <p:txBody>
          <a:bodyPr/>
          <a:lstStyle/>
          <a:p>
            <a:fld id="{738C252D-FBB9-4FA3-832F-FA83A2289572}" type="slidenum">
              <a:rPr lang="en-IE" smtClean="0"/>
              <a:t>‹#›</a:t>
            </a:fld>
            <a:endParaRPr lang="en-IE"/>
          </a:p>
        </p:txBody>
      </p:sp>
    </p:spTree>
    <p:extLst>
      <p:ext uri="{BB962C8B-B14F-4D97-AF65-F5344CB8AC3E}">
        <p14:creationId xmlns:p14="http://schemas.microsoft.com/office/powerpoint/2010/main" val="37840203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017684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71C097-4870-869A-0283-5D7E93AA33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E"/>
          </a:p>
        </p:txBody>
      </p:sp>
      <p:sp>
        <p:nvSpPr>
          <p:cNvPr id="3" name="Text Placeholder 2">
            <a:extLst>
              <a:ext uri="{FF2B5EF4-FFF2-40B4-BE49-F238E27FC236}">
                <a16:creationId xmlns:a16="http://schemas.microsoft.com/office/drawing/2014/main" id="{45494A44-0401-7167-2836-94E5346448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6913C8D0-781E-E0B6-F37C-F03E50712C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5AAC9F3-366C-411C-BB35-A17A13CCCCDA}" type="datetimeFigureOut">
              <a:rPr lang="en-IE" smtClean="0"/>
              <a:t>28/04/2026</a:t>
            </a:fld>
            <a:endParaRPr lang="en-IE"/>
          </a:p>
        </p:txBody>
      </p:sp>
      <p:sp>
        <p:nvSpPr>
          <p:cNvPr id="5" name="Footer Placeholder 4">
            <a:extLst>
              <a:ext uri="{FF2B5EF4-FFF2-40B4-BE49-F238E27FC236}">
                <a16:creationId xmlns:a16="http://schemas.microsoft.com/office/drawing/2014/main" id="{0957B155-5CF3-EB3F-1038-A340B8F107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E"/>
          </a:p>
        </p:txBody>
      </p:sp>
      <p:sp>
        <p:nvSpPr>
          <p:cNvPr id="6" name="Slide Number Placeholder 5">
            <a:extLst>
              <a:ext uri="{FF2B5EF4-FFF2-40B4-BE49-F238E27FC236}">
                <a16:creationId xmlns:a16="http://schemas.microsoft.com/office/drawing/2014/main" id="{34669371-0D53-C075-1AC6-0BAC66D1AA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38C252D-FBB9-4FA3-832F-FA83A2289572}" type="slidenum">
              <a:rPr lang="en-IE" smtClean="0"/>
              <a:t>‹#›</a:t>
            </a:fld>
            <a:endParaRPr lang="en-IE"/>
          </a:p>
        </p:txBody>
      </p:sp>
    </p:spTree>
    <p:extLst>
      <p:ext uri="{BB962C8B-B14F-4D97-AF65-F5344CB8AC3E}">
        <p14:creationId xmlns:p14="http://schemas.microsoft.com/office/powerpoint/2010/main" val="21222827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hyperlink" Target="https://youtu.be/GTDBRtyNb0g" TargetMode="External"/><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hyperlink" Target="https://github.com/Nasir-AhmadZ/Driver-Analysis-ML-Model" TargetMode="External"/><Relationship Id="rId5" Type="http://schemas.openxmlformats.org/officeDocument/2006/relationships/hyperlink" Target="https://github.com/Nasir-AhmadZ/FacialVerificationML" TargetMode="External"/><Relationship Id="rId4" Type="http://schemas.openxmlformats.org/officeDocument/2006/relationships/hyperlink" Target="https://github.com/Nasir-AhmadZ/Dashboar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5088" y="13622"/>
            <a:ext cx="12191695" cy="5143500"/>
          </a:xfrm>
          <a:prstGeom prst="rect">
            <a:avLst/>
          </a:prstGeom>
          <a:solidFill>
            <a:srgbClr val="0E3A52"/>
          </a:solidFill>
          <a:ln/>
        </p:spPr>
        <p:txBody>
          <a:bodyPr/>
          <a:lstStyle/>
          <a:p>
            <a:endParaRPr lang="en-IE"/>
          </a:p>
        </p:txBody>
      </p:sp>
      <p:sp>
        <p:nvSpPr>
          <p:cNvPr id="3" name="Shape 1"/>
          <p:cNvSpPr/>
          <p:nvPr/>
        </p:nvSpPr>
        <p:spPr>
          <a:xfrm>
            <a:off x="6705432" y="0"/>
            <a:ext cx="2194505" cy="5143500"/>
          </a:xfrm>
          <a:prstGeom prst="rect">
            <a:avLst/>
          </a:prstGeom>
          <a:solidFill>
            <a:srgbClr val="1A5A7A">
              <a:alpha val="25000"/>
            </a:srgbClr>
          </a:solidFill>
          <a:ln/>
        </p:spPr>
        <p:txBody>
          <a:bodyPr/>
          <a:lstStyle/>
          <a:p>
            <a:endParaRPr lang="en-IE"/>
          </a:p>
        </p:txBody>
      </p:sp>
      <p:sp>
        <p:nvSpPr>
          <p:cNvPr id="4" name="Shape 2"/>
          <p:cNvSpPr/>
          <p:nvPr/>
        </p:nvSpPr>
        <p:spPr>
          <a:xfrm>
            <a:off x="5486263" y="-1371600"/>
            <a:ext cx="6705432" cy="7543800"/>
          </a:xfrm>
          <a:prstGeom prst="ellipse">
            <a:avLst/>
          </a:prstGeom>
          <a:solidFill>
            <a:srgbClr val="2C6E8E">
              <a:alpha val="12000"/>
            </a:srgbClr>
          </a:solidFill>
          <a:ln/>
        </p:spPr>
        <p:txBody>
          <a:bodyPr/>
          <a:lstStyle/>
          <a:p>
            <a:endParaRPr lang="en-IE"/>
          </a:p>
        </p:txBody>
      </p:sp>
      <p:sp>
        <p:nvSpPr>
          <p:cNvPr id="5" name="Text 3"/>
          <p:cNvSpPr/>
          <p:nvPr/>
        </p:nvSpPr>
        <p:spPr>
          <a:xfrm>
            <a:off x="822960" y="1463040"/>
            <a:ext cx="8229600" cy="1097280"/>
          </a:xfrm>
          <a:prstGeom prst="rect">
            <a:avLst/>
          </a:prstGeom>
          <a:noFill/>
          <a:ln/>
        </p:spPr>
        <p:txBody>
          <a:bodyPr wrap="square" lIns="0" tIns="0" rIns="0" bIns="0" rtlCol="0" anchor="ctr"/>
          <a:lstStyle/>
          <a:p>
            <a:pPr marL="0" indent="0">
              <a:buNone/>
            </a:pPr>
            <a:r>
              <a:rPr lang="en-US" sz="6600" dirty="0">
                <a:solidFill>
                  <a:srgbClr val="FFFFFF"/>
                </a:solidFill>
                <a:latin typeface="Calibri Light" pitchFamily="34" charset="0"/>
                <a:ea typeface="Calibri Light" pitchFamily="34" charset="-122"/>
                <a:cs typeface="Calibri Light" pitchFamily="34" charset="-120"/>
              </a:rPr>
              <a:t>RoadRank</a:t>
            </a:r>
            <a:endParaRPr lang="en-US" sz="6600" dirty="0"/>
          </a:p>
        </p:txBody>
      </p:sp>
      <p:sp>
        <p:nvSpPr>
          <p:cNvPr id="6" name="Text 4"/>
          <p:cNvSpPr/>
          <p:nvPr/>
        </p:nvSpPr>
        <p:spPr>
          <a:xfrm>
            <a:off x="822960" y="2606040"/>
            <a:ext cx="10058400" cy="1608968"/>
          </a:xfrm>
          <a:prstGeom prst="rect">
            <a:avLst/>
          </a:prstGeom>
          <a:noFill/>
          <a:ln/>
        </p:spPr>
        <p:txBody>
          <a:bodyPr wrap="square" lIns="0" tIns="0" rIns="0" bIns="0" rtlCol="0" anchor="ctr"/>
          <a:lstStyle/>
          <a:p>
            <a:pPr marL="0" indent="0">
              <a:buNone/>
            </a:pPr>
            <a:r>
              <a:rPr lang="en-US" sz="3600" dirty="0">
                <a:solidFill>
                  <a:srgbClr val="FFFFFF"/>
                </a:solidFill>
                <a:latin typeface="Calibri Light" pitchFamily="34" charset="0"/>
                <a:ea typeface="Calibri Light" pitchFamily="34" charset="-122"/>
                <a:cs typeface="Calibri Light" pitchFamily="34" charset="-120"/>
              </a:rPr>
              <a:t>Final Demo</a:t>
            </a:r>
          </a:p>
          <a:p>
            <a:pPr marL="0" indent="0">
              <a:buNone/>
            </a:pPr>
            <a:r>
              <a:rPr lang="en-US" sz="3600" dirty="0">
                <a:solidFill>
                  <a:srgbClr val="FFFFFF"/>
                </a:solidFill>
                <a:latin typeface="Calibri Light" pitchFamily="34" charset="0"/>
                <a:ea typeface="Calibri Light" pitchFamily="34" charset="-122"/>
                <a:cs typeface="Calibri Light" pitchFamily="34" charset="-120"/>
              </a:rPr>
              <a:t>Driver Behavior FYP</a:t>
            </a:r>
            <a:endParaRPr lang="en-US" sz="3600" dirty="0"/>
          </a:p>
        </p:txBody>
      </p:sp>
      <p:sp>
        <p:nvSpPr>
          <p:cNvPr id="7" name="Text 5"/>
          <p:cNvSpPr/>
          <p:nvPr/>
        </p:nvSpPr>
        <p:spPr>
          <a:xfrm>
            <a:off x="822960" y="5577840"/>
            <a:ext cx="10058400" cy="502920"/>
          </a:xfrm>
          <a:prstGeom prst="rect">
            <a:avLst/>
          </a:prstGeom>
          <a:noFill/>
          <a:ln/>
        </p:spPr>
        <p:txBody>
          <a:bodyPr wrap="square" lIns="0" tIns="0" rIns="0" bIns="0" rtlCol="0" anchor="ctr"/>
          <a:lstStyle/>
          <a:p>
            <a:pPr marL="0" indent="0">
              <a:buNone/>
            </a:pPr>
            <a:r>
              <a:rPr lang="en-US" sz="2400" dirty="0">
                <a:solidFill>
                  <a:srgbClr val="262626"/>
                </a:solidFill>
                <a:latin typeface="Calibri" pitchFamily="34" charset="0"/>
                <a:ea typeface="Calibri" pitchFamily="34" charset="-122"/>
                <a:cs typeface="Calibri" pitchFamily="34" charset="-120"/>
              </a:rPr>
              <a:t>Nasir Ahmad — G00419630</a:t>
            </a:r>
            <a:endParaRPr lang="en-US" sz="2400" dirty="0"/>
          </a:p>
        </p:txBody>
      </p:sp>
      <p:sp>
        <p:nvSpPr>
          <p:cNvPr id="8" name="Text 6"/>
          <p:cNvSpPr/>
          <p:nvPr/>
        </p:nvSpPr>
        <p:spPr>
          <a:xfrm>
            <a:off x="822960" y="6035040"/>
            <a:ext cx="10515600" cy="411480"/>
          </a:xfrm>
          <a:prstGeom prst="rect">
            <a:avLst/>
          </a:prstGeom>
          <a:noFill/>
          <a:ln/>
        </p:spPr>
        <p:txBody>
          <a:bodyPr wrap="square" lIns="0" tIns="0" rIns="0" bIns="0" rtlCol="0" anchor="ctr"/>
          <a:lstStyle/>
          <a:p>
            <a:pPr marL="0" indent="0">
              <a:buNone/>
            </a:pPr>
            <a:r>
              <a:rPr lang="en-US" sz="1400" dirty="0">
                <a:solidFill>
                  <a:srgbClr val="5A6B7A"/>
                </a:solidFill>
                <a:latin typeface="Calibri" pitchFamily="34" charset="0"/>
                <a:ea typeface="Calibri" pitchFamily="34" charset="-122"/>
                <a:cs typeface="Calibri" pitchFamily="34" charset="-120"/>
              </a:rPr>
              <a:t>Bachelor of Engineering (Honours) in Software and Electronic Engineering · Atlantic Technological University · 2025/2026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1417320"/>
          </a:xfrm>
          <a:prstGeom prst="rect">
            <a:avLst/>
          </a:prstGeom>
          <a:solidFill>
            <a:srgbClr val="0E3A52"/>
          </a:solidFill>
          <a:ln/>
        </p:spPr>
        <p:txBody>
          <a:bodyPr/>
          <a:lstStyle/>
          <a:p>
            <a:endParaRPr lang="en-IE"/>
          </a:p>
        </p:txBody>
      </p:sp>
      <p:sp>
        <p:nvSpPr>
          <p:cNvPr id="3" name="Shape 1"/>
          <p:cNvSpPr/>
          <p:nvPr/>
        </p:nvSpPr>
        <p:spPr>
          <a:xfrm>
            <a:off x="8046519" y="0"/>
            <a:ext cx="1584920" cy="1417320"/>
          </a:xfrm>
          <a:prstGeom prst="rect">
            <a:avLst/>
          </a:prstGeom>
          <a:solidFill>
            <a:srgbClr val="1A5A7A">
              <a:alpha val="40000"/>
            </a:srgbClr>
          </a:solidFill>
          <a:ln/>
        </p:spPr>
        <p:txBody>
          <a:bodyPr/>
          <a:lstStyle/>
          <a:p>
            <a:endParaRPr lang="en-IE"/>
          </a:p>
        </p:txBody>
      </p:sp>
      <p:sp>
        <p:nvSpPr>
          <p:cNvPr id="4" name="Text 2"/>
          <p:cNvSpPr/>
          <p:nvPr/>
        </p:nvSpPr>
        <p:spPr>
          <a:xfrm>
            <a:off x="502920" y="228600"/>
            <a:ext cx="11185855" cy="960120"/>
          </a:xfrm>
          <a:prstGeom prst="rect">
            <a:avLst/>
          </a:prstGeom>
          <a:noFill/>
          <a:ln/>
        </p:spPr>
        <p:txBody>
          <a:bodyPr wrap="square" lIns="0" tIns="0" rIns="0" bIns="0" rtlCol="0" anchor="ctr"/>
          <a:lstStyle/>
          <a:p>
            <a:pPr marL="0" indent="0">
              <a:buNone/>
            </a:pPr>
            <a:r>
              <a:rPr lang="en-US" sz="4000" dirty="0">
                <a:solidFill>
                  <a:srgbClr val="FFFFFF"/>
                </a:solidFill>
                <a:latin typeface="Calibri Light" pitchFamily="34" charset="0"/>
                <a:ea typeface="Calibri Light" pitchFamily="34" charset="-122"/>
                <a:cs typeface="Calibri Light" pitchFamily="34" charset="-120"/>
              </a:rPr>
              <a:t>Recap</a:t>
            </a:r>
            <a:endParaRPr lang="en-US" sz="4000" dirty="0"/>
          </a:p>
        </p:txBody>
      </p:sp>
      <p:sp>
        <p:nvSpPr>
          <p:cNvPr id="5" name="Text 3"/>
          <p:cNvSpPr/>
          <p:nvPr/>
        </p:nvSpPr>
        <p:spPr>
          <a:xfrm>
            <a:off x="640080" y="1783080"/>
            <a:ext cx="10911535" cy="4572000"/>
          </a:xfrm>
          <a:prstGeom prst="rect">
            <a:avLst/>
          </a:prstGeom>
          <a:noFill/>
          <a:ln/>
        </p:spPr>
        <p:txBody>
          <a:bodyPr wrap="square" rtlCol="0" anchor="t"/>
          <a:lstStyle/>
          <a:p>
            <a:pPr marL="0" indent="0">
              <a:spcAft>
                <a:spcPts val="600"/>
              </a:spcAft>
              <a:buNone/>
            </a:pPr>
            <a:r>
              <a:rPr lang="en-US" sz="2200" b="1" dirty="0">
                <a:solidFill>
                  <a:srgbClr val="0E3A52"/>
                </a:solidFill>
              </a:rPr>
              <a:t>What RoadRank is</a:t>
            </a:r>
            <a:endParaRPr lang="en-US" sz="2200" dirty="0"/>
          </a:p>
          <a:p>
            <a:pPr marL="0" indent="0">
              <a:spcAft>
                <a:spcPts val="600"/>
              </a:spcAft>
              <a:buNone/>
            </a:pPr>
            <a:r>
              <a:rPr lang="en-US" sz="1800" dirty="0">
                <a:solidFill>
                  <a:srgbClr val="262626"/>
                </a:solidFill>
              </a:rPr>
              <a:t>An edge-based driver monitoring system that detects unsafe driving in real time and gamifies safer driving through a leaderboard.</a:t>
            </a:r>
            <a:endParaRPr lang="en-US" sz="2200" dirty="0"/>
          </a:p>
          <a:p>
            <a:pPr marL="0" indent="0">
              <a:spcAft>
                <a:spcPts val="600"/>
              </a:spcAft>
              <a:buNone/>
            </a:pPr>
            <a:r>
              <a:rPr lang="en-US" sz="800" dirty="0">
                <a:solidFill>
                  <a:srgbClr val="000000"/>
                </a:solidFill>
              </a:rPr>
              <a:t> </a:t>
            </a:r>
            <a:endParaRPr lang="en-US" sz="2200" dirty="0"/>
          </a:p>
          <a:p>
            <a:pPr marL="0" indent="0">
              <a:spcAft>
                <a:spcPts val="600"/>
              </a:spcAft>
              <a:buNone/>
            </a:pPr>
            <a:r>
              <a:rPr lang="en-US" sz="2200" b="1" dirty="0">
                <a:solidFill>
                  <a:srgbClr val="0E3A52"/>
                </a:solidFill>
              </a:rPr>
              <a:t>Semester 1 - Research and models</a:t>
            </a:r>
            <a:endParaRPr lang="en-US" sz="2200" dirty="0"/>
          </a:p>
          <a:p>
            <a:pPr marL="0" indent="0">
              <a:spcAft>
                <a:spcPts val="600"/>
              </a:spcAft>
              <a:buNone/>
            </a:pPr>
            <a:r>
              <a:rPr lang="en-US" sz="1800" dirty="0">
                <a:solidFill>
                  <a:srgbClr val="262626"/>
                </a:solidFill>
              </a:rPr>
              <a:t>Trained the behaviour classifier (VGGNet, AlexNet, ResNet) and the Siamese facial verification model in Google Colab and Jupyter.</a:t>
            </a:r>
            <a:endParaRPr lang="en-US" sz="2200" dirty="0"/>
          </a:p>
          <a:p>
            <a:pPr marL="0" indent="0">
              <a:spcAft>
                <a:spcPts val="600"/>
              </a:spcAft>
              <a:buNone/>
            </a:pPr>
            <a:r>
              <a:rPr lang="en-US" sz="800" dirty="0">
                <a:solidFill>
                  <a:srgbClr val="000000"/>
                </a:solidFill>
              </a:rPr>
              <a:t> </a:t>
            </a:r>
            <a:endParaRPr lang="en-US" sz="2200" dirty="0"/>
          </a:p>
        </p:txBody>
      </p:sp>
      <p:pic>
        <p:nvPicPr>
          <p:cNvPr id="6" name="Picture 5">
            <a:extLst>
              <a:ext uri="{FF2B5EF4-FFF2-40B4-BE49-F238E27FC236}">
                <a16:creationId xmlns:a16="http://schemas.microsoft.com/office/drawing/2014/main" id="{824C9A4F-2287-D625-DEB3-B21A058B9D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2920" y="4039125"/>
            <a:ext cx="1509975" cy="268171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1417320"/>
          </a:xfrm>
          <a:prstGeom prst="rect">
            <a:avLst/>
          </a:prstGeom>
          <a:solidFill>
            <a:srgbClr val="0E3A52"/>
          </a:solidFill>
          <a:ln/>
        </p:spPr>
        <p:txBody>
          <a:bodyPr/>
          <a:lstStyle/>
          <a:p>
            <a:endParaRPr lang="en-IE"/>
          </a:p>
        </p:txBody>
      </p:sp>
      <p:sp>
        <p:nvSpPr>
          <p:cNvPr id="3" name="Shape 1"/>
          <p:cNvSpPr/>
          <p:nvPr/>
        </p:nvSpPr>
        <p:spPr>
          <a:xfrm>
            <a:off x="8046519" y="0"/>
            <a:ext cx="1584920" cy="1417320"/>
          </a:xfrm>
          <a:prstGeom prst="rect">
            <a:avLst/>
          </a:prstGeom>
          <a:solidFill>
            <a:srgbClr val="1A5A7A">
              <a:alpha val="40000"/>
            </a:srgbClr>
          </a:solidFill>
          <a:ln/>
        </p:spPr>
        <p:txBody>
          <a:bodyPr/>
          <a:lstStyle/>
          <a:p>
            <a:endParaRPr lang="en-IE"/>
          </a:p>
        </p:txBody>
      </p:sp>
      <p:sp>
        <p:nvSpPr>
          <p:cNvPr id="4" name="Text 2"/>
          <p:cNvSpPr/>
          <p:nvPr/>
        </p:nvSpPr>
        <p:spPr>
          <a:xfrm>
            <a:off x="502920" y="228600"/>
            <a:ext cx="11185855" cy="960120"/>
          </a:xfrm>
          <a:prstGeom prst="rect">
            <a:avLst/>
          </a:prstGeom>
          <a:noFill/>
          <a:ln/>
        </p:spPr>
        <p:txBody>
          <a:bodyPr wrap="square" lIns="0" tIns="0" rIns="0" bIns="0" rtlCol="0" anchor="ctr"/>
          <a:lstStyle/>
          <a:p>
            <a:pPr marL="0" indent="0">
              <a:buNone/>
            </a:pPr>
            <a:r>
              <a:rPr lang="en-US" sz="4000" dirty="0">
                <a:solidFill>
                  <a:srgbClr val="FFFFFF"/>
                </a:solidFill>
                <a:latin typeface="Calibri Light" pitchFamily="34" charset="0"/>
                <a:ea typeface="Calibri Light" pitchFamily="34" charset="-122"/>
                <a:cs typeface="Calibri Light" pitchFamily="34" charset="-120"/>
              </a:rPr>
              <a:t>Architecture Diagram</a:t>
            </a:r>
            <a:endParaRPr lang="en-US" sz="4000" dirty="0"/>
          </a:p>
        </p:txBody>
      </p:sp>
      <p:pic>
        <p:nvPicPr>
          <p:cNvPr id="26" name="Picture 25">
            <a:extLst>
              <a:ext uri="{FF2B5EF4-FFF2-40B4-BE49-F238E27FC236}">
                <a16:creationId xmlns:a16="http://schemas.microsoft.com/office/drawing/2014/main" id="{6CCBA66E-B64E-D8D9-A00B-5FD3C43F4B1D}"/>
              </a:ext>
            </a:extLst>
          </p:cNvPr>
          <p:cNvPicPr>
            <a:picLocks noChangeAspect="1"/>
          </p:cNvPicPr>
          <p:nvPr/>
        </p:nvPicPr>
        <p:blipFill rotWithShape="1">
          <a:blip r:embed="rId3"/>
          <a:srcRect l="961" r="961" b="1616"/>
          <a:stretch>
            <a:fillRect/>
          </a:stretch>
        </p:blipFill>
        <p:spPr bwMode="auto">
          <a:xfrm>
            <a:off x="1270200" y="1417320"/>
            <a:ext cx="9651294" cy="5440680"/>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2A8F6BB3-F8D0-C274-24C8-AEC4F02926EB}"/>
              </a:ext>
            </a:extLst>
          </p:cNvPr>
          <p:cNvSpPr/>
          <p:nvPr/>
        </p:nvSpPr>
        <p:spPr>
          <a:xfrm>
            <a:off x="0" y="0"/>
            <a:ext cx="12191695" cy="1417320"/>
          </a:xfrm>
          <a:prstGeom prst="rect">
            <a:avLst/>
          </a:prstGeom>
          <a:solidFill>
            <a:srgbClr val="0E3A52"/>
          </a:solidFill>
          <a:ln/>
        </p:spPr>
        <p:txBody>
          <a:bodyPr/>
          <a:lstStyle/>
          <a:p>
            <a:endParaRPr lang="en-IE"/>
          </a:p>
        </p:txBody>
      </p:sp>
      <p:sp>
        <p:nvSpPr>
          <p:cNvPr id="3" name="Text 2">
            <a:extLst>
              <a:ext uri="{FF2B5EF4-FFF2-40B4-BE49-F238E27FC236}">
                <a16:creationId xmlns:a16="http://schemas.microsoft.com/office/drawing/2014/main" id="{AB37E0B1-8404-6500-AF66-E7B6CAD377FA}"/>
              </a:ext>
            </a:extLst>
          </p:cNvPr>
          <p:cNvSpPr/>
          <p:nvPr/>
        </p:nvSpPr>
        <p:spPr>
          <a:xfrm>
            <a:off x="502920" y="228600"/>
            <a:ext cx="11185855" cy="960120"/>
          </a:xfrm>
          <a:prstGeom prst="rect">
            <a:avLst/>
          </a:prstGeom>
          <a:noFill/>
          <a:ln/>
        </p:spPr>
        <p:txBody>
          <a:bodyPr wrap="square" lIns="0" tIns="0" rIns="0" bIns="0" rtlCol="0" anchor="ctr"/>
          <a:lstStyle/>
          <a:p>
            <a:pPr marL="0" indent="0">
              <a:buNone/>
            </a:pPr>
            <a:r>
              <a:rPr lang="en-US" sz="4000" dirty="0">
                <a:solidFill>
                  <a:srgbClr val="FFFFFF"/>
                </a:solidFill>
                <a:latin typeface="Calibri Light" pitchFamily="34" charset="0"/>
                <a:ea typeface="Calibri Light" pitchFamily="34" charset="-122"/>
                <a:cs typeface="Calibri Light" pitchFamily="34" charset="-120"/>
              </a:rPr>
              <a:t>Timeline</a:t>
            </a:r>
            <a:endParaRPr lang="en-US" sz="4000" dirty="0"/>
          </a:p>
        </p:txBody>
      </p:sp>
      <p:pic>
        <p:nvPicPr>
          <p:cNvPr id="5" name="Picture 4">
            <a:extLst>
              <a:ext uri="{FF2B5EF4-FFF2-40B4-BE49-F238E27FC236}">
                <a16:creationId xmlns:a16="http://schemas.microsoft.com/office/drawing/2014/main" id="{88E9D2FE-FEDC-2523-670A-8DB0146AB9BE}"/>
              </a:ext>
            </a:extLst>
          </p:cNvPr>
          <p:cNvPicPr>
            <a:picLocks noChangeAspect="1"/>
          </p:cNvPicPr>
          <p:nvPr/>
        </p:nvPicPr>
        <p:blipFill>
          <a:blip r:embed="rId3"/>
          <a:srcRect l="1133" b="2117"/>
          <a:stretch>
            <a:fillRect/>
          </a:stretch>
        </p:blipFill>
        <p:spPr>
          <a:xfrm>
            <a:off x="1224643" y="1417321"/>
            <a:ext cx="9742562" cy="5440679"/>
          </a:xfrm>
          <a:prstGeom prst="rect">
            <a:avLst/>
          </a:prstGeom>
        </p:spPr>
      </p:pic>
    </p:spTree>
    <p:extLst>
      <p:ext uri="{BB962C8B-B14F-4D97-AF65-F5344CB8AC3E}">
        <p14:creationId xmlns:p14="http://schemas.microsoft.com/office/powerpoint/2010/main" val="1509594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0E3A52"/>
          </a:solidFill>
          <a:ln/>
        </p:spPr>
        <p:txBody>
          <a:bodyPr/>
          <a:lstStyle/>
          <a:p>
            <a:endParaRPr lang="en-IE"/>
          </a:p>
        </p:txBody>
      </p:sp>
      <p:sp>
        <p:nvSpPr>
          <p:cNvPr id="3" name="Shape 1"/>
          <p:cNvSpPr/>
          <p:nvPr/>
        </p:nvSpPr>
        <p:spPr>
          <a:xfrm>
            <a:off x="-1097280" y="914400"/>
            <a:ext cx="5120640" cy="5120640"/>
          </a:xfrm>
          <a:prstGeom prst="ellipse">
            <a:avLst/>
          </a:prstGeom>
          <a:solidFill>
            <a:srgbClr val="2C6E8E">
              <a:alpha val="12000"/>
            </a:srgbClr>
          </a:solidFill>
          <a:ln/>
        </p:spPr>
        <p:txBody>
          <a:bodyPr/>
          <a:lstStyle/>
          <a:p>
            <a:endParaRPr lang="en-IE"/>
          </a:p>
        </p:txBody>
      </p:sp>
      <p:sp>
        <p:nvSpPr>
          <p:cNvPr id="4" name="Text 2"/>
          <p:cNvSpPr/>
          <p:nvPr/>
        </p:nvSpPr>
        <p:spPr>
          <a:xfrm>
            <a:off x="411480" y="2194560"/>
            <a:ext cx="3383280" cy="2286000"/>
          </a:xfrm>
          <a:prstGeom prst="rect">
            <a:avLst/>
          </a:prstGeom>
          <a:noFill/>
          <a:ln/>
        </p:spPr>
        <p:txBody>
          <a:bodyPr wrap="square" lIns="0" tIns="0" rIns="0" bIns="0" rtlCol="0" anchor="t"/>
          <a:lstStyle/>
          <a:p>
            <a:pPr marL="0" indent="0" algn="l">
              <a:buNone/>
            </a:pPr>
            <a:r>
              <a:rPr lang="en-US" sz="4000" dirty="0">
                <a:solidFill>
                  <a:srgbClr val="FFFFFF"/>
                </a:solidFill>
                <a:latin typeface="Calibri Light" pitchFamily="34" charset="0"/>
                <a:ea typeface="Calibri Light" pitchFamily="34" charset="-122"/>
                <a:cs typeface="Calibri Light" pitchFamily="34" charset="-120"/>
              </a:rPr>
              <a:t>Camera Server</a:t>
            </a:r>
            <a:endParaRPr lang="en-US" sz="4000" dirty="0"/>
          </a:p>
          <a:p>
            <a:pPr marL="0" indent="0" algn="l">
              <a:buNone/>
            </a:pPr>
            <a:r>
              <a:rPr lang="en-US" sz="4000" dirty="0">
                <a:solidFill>
                  <a:srgbClr val="FFFFFF"/>
                </a:solidFill>
                <a:latin typeface="Calibri Light" pitchFamily="34" charset="0"/>
                <a:ea typeface="Calibri Light" pitchFamily="34" charset="-122"/>
                <a:cs typeface="Calibri Light" pitchFamily="34" charset="-120"/>
              </a:rPr>
              <a:t>State machine</a:t>
            </a:r>
            <a:endParaRPr lang="en-US" sz="4000" dirty="0"/>
          </a:p>
          <a:p>
            <a:pPr marL="0" indent="0" algn="l">
              <a:buNone/>
            </a:pPr>
            <a:r>
              <a:rPr lang="en-US" sz="4000" dirty="0">
                <a:solidFill>
                  <a:srgbClr val="FFFFFF"/>
                </a:solidFill>
                <a:latin typeface="Calibri Light" pitchFamily="34" charset="0"/>
                <a:ea typeface="Calibri Light" pitchFamily="34" charset="-122"/>
                <a:cs typeface="Calibri Light" pitchFamily="34" charset="-120"/>
              </a:rPr>
              <a:t>&amp; Threading</a:t>
            </a:r>
            <a:endParaRPr lang="en-US" sz="4000" dirty="0"/>
          </a:p>
        </p:txBody>
      </p:sp>
      <p:sp>
        <p:nvSpPr>
          <p:cNvPr id="5" name="Shape 3"/>
          <p:cNvSpPr/>
          <p:nvPr/>
        </p:nvSpPr>
        <p:spPr>
          <a:xfrm>
            <a:off x="4434840" y="1463040"/>
            <a:ext cx="640080" cy="640080"/>
          </a:xfrm>
          <a:prstGeom prst="ellipse">
            <a:avLst/>
          </a:prstGeom>
          <a:solidFill>
            <a:srgbClr val="5A6B7A"/>
          </a:solidFill>
          <a:ln/>
        </p:spPr>
        <p:txBody>
          <a:bodyPr/>
          <a:lstStyle/>
          <a:p>
            <a:endParaRPr lang="en-IE"/>
          </a:p>
        </p:txBody>
      </p:sp>
      <p:sp>
        <p:nvSpPr>
          <p:cNvPr id="6" name="Text 4"/>
          <p:cNvSpPr/>
          <p:nvPr/>
        </p:nvSpPr>
        <p:spPr>
          <a:xfrm>
            <a:off x="4434840" y="146304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Text 5"/>
          <p:cNvSpPr/>
          <p:nvPr/>
        </p:nvSpPr>
        <p:spPr>
          <a:xfrm>
            <a:off x="5303520" y="1417320"/>
            <a:ext cx="6309360" cy="777240"/>
          </a:xfrm>
          <a:prstGeom prst="rect">
            <a:avLst/>
          </a:prstGeom>
          <a:noFill/>
          <a:ln/>
        </p:spPr>
        <p:txBody>
          <a:bodyPr wrap="square" lIns="0" tIns="0" rIns="0" bIns="0" rtlCol="0" anchor="t"/>
          <a:lstStyle/>
          <a:p>
            <a:pPr marL="0" indent="0">
              <a:spcAft>
                <a:spcPts val="200"/>
              </a:spcAft>
              <a:buNone/>
            </a:pPr>
            <a:r>
              <a:rPr lang="en-US" sz="2000" b="1" dirty="0">
                <a:solidFill>
                  <a:srgbClr val="0E3A52"/>
                </a:solidFill>
              </a:rPr>
              <a:t>unverified</a:t>
            </a:r>
            <a:endParaRPr lang="en-US" sz="2000" dirty="0"/>
          </a:p>
          <a:p>
            <a:pPr marL="0" indent="0">
              <a:spcAft>
                <a:spcPts val="200"/>
              </a:spcAft>
              <a:buNone/>
            </a:pPr>
            <a:r>
              <a:rPr lang="en-US" sz="1400" dirty="0">
                <a:solidFill>
                  <a:srgbClr val="262626"/>
                </a:solidFill>
              </a:rPr>
              <a:t>Initial state. The first captured frame triggers start_verify, and the machine moves to verifying.</a:t>
            </a:r>
            <a:endParaRPr lang="en-US" sz="2000" dirty="0"/>
          </a:p>
        </p:txBody>
      </p:sp>
      <p:sp>
        <p:nvSpPr>
          <p:cNvPr id="8" name="Shape 6"/>
          <p:cNvSpPr/>
          <p:nvPr/>
        </p:nvSpPr>
        <p:spPr>
          <a:xfrm>
            <a:off x="4434840" y="2468880"/>
            <a:ext cx="640080" cy="640080"/>
          </a:xfrm>
          <a:prstGeom prst="ellipse">
            <a:avLst/>
          </a:prstGeom>
          <a:solidFill>
            <a:srgbClr val="E65100"/>
          </a:solidFill>
          <a:ln/>
        </p:spPr>
        <p:txBody>
          <a:bodyPr/>
          <a:lstStyle/>
          <a:p>
            <a:endParaRPr lang="en-IE"/>
          </a:p>
        </p:txBody>
      </p:sp>
      <p:sp>
        <p:nvSpPr>
          <p:cNvPr id="9" name="Text 7"/>
          <p:cNvSpPr/>
          <p:nvPr/>
        </p:nvSpPr>
        <p:spPr>
          <a:xfrm>
            <a:off x="4434840" y="246888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0" name="Text 8"/>
          <p:cNvSpPr/>
          <p:nvPr/>
        </p:nvSpPr>
        <p:spPr>
          <a:xfrm>
            <a:off x="5303520" y="2423160"/>
            <a:ext cx="6309360" cy="777240"/>
          </a:xfrm>
          <a:prstGeom prst="rect">
            <a:avLst/>
          </a:prstGeom>
          <a:noFill/>
          <a:ln/>
        </p:spPr>
        <p:txBody>
          <a:bodyPr wrap="square" lIns="0" tIns="0" rIns="0" bIns="0" rtlCol="0" anchor="t"/>
          <a:lstStyle/>
          <a:p>
            <a:pPr marL="0" indent="0">
              <a:spcAft>
                <a:spcPts val="200"/>
              </a:spcAft>
              <a:buNone/>
            </a:pPr>
            <a:r>
              <a:rPr lang="en-US" sz="2000" b="1" dirty="0">
                <a:solidFill>
                  <a:srgbClr val="0E3A52"/>
                </a:solidFill>
              </a:rPr>
              <a:t>verifying</a:t>
            </a:r>
            <a:endParaRPr lang="en-US" sz="2000" dirty="0"/>
          </a:p>
          <a:p>
            <a:pPr marL="0" indent="0">
              <a:spcAft>
                <a:spcPts val="200"/>
              </a:spcAft>
              <a:buNone/>
            </a:pPr>
            <a:r>
              <a:rPr lang="en-US" sz="1400" dirty="0">
                <a:solidFill>
                  <a:srgbClr val="262626"/>
                </a:solidFill>
              </a:rPr>
              <a:t>Each frame is preprocessed and compared against the user's stored faces using the Siamese L1 model. On match -&gt; verify_success.</a:t>
            </a:r>
            <a:endParaRPr lang="en-US" sz="2000" dirty="0"/>
          </a:p>
        </p:txBody>
      </p:sp>
      <p:sp>
        <p:nvSpPr>
          <p:cNvPr id="11" name="Shape 9"/>
          <p:cNvSpPr/>
          <p:nvPr/>
        </p:nvSpPr>
        <p:spPr>
          <a:xfrm>
            <a:off x="4434840" y="3474720"/>
            <a:ext cx="640080" cy="640080"/>
          </a:xfrm>
          <a:prstGeom prst="ellipse">
            <a:avLst/>
          </a:prstGeom>
          <a:solidFill>
            <a:srgbClr val="2E7D32"/>
          </a:solidFill>
          <a:ln/>
        </p:spPr>
        <p:txBody>
          <a:bodyPr/>
          <a:lstStyle/>
          <a:p>
            <a:endParaRPr lang="en-IE"/>
          </a:p>
        </p:txBody>
      </p:sp>
      <p:sp>
        <p:nvSpPr>
          <p:cNvPr id="12" name="Text 10"/>
          <p:cNvSpPr/>
          <p:nvPr/>
        </p:nvSpPr>
        <p:spPr>
          <a:xfrm>
            <a:off x="4434840" y="347472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3" name="Text 11"/>
          <p:cNvSpPr/>
          <p:nvPr/>
        </p:nvSpPr>
        <p:spPr>
          <a:xfrm>
            <a:off x="5303520" y="3429000"/>
            <a:ext cx="6309360" cy="777240"/>
          </a:xfrm>
          <a:prstGeom prst="rect">
            <a:avLst/>
          </a:prstGeom>
          <a:noFill/>
          <a:ln/>
        </p:spPr>
        <p:txBody>
          <a:bodyPr wrap="square" lIns="0" tIns="0" rIns="0" bIns="0" rtlCol="0" anchor="t"/>
          <a:lstStyle/>
          <a:p>
            <a:pPr marL="0" indent="0">
              <a:spcAft>
                <a:spcPts val="200"/>
              </a:spcAft>
              <a:buNone/>
            </a:pPr>
            <a:r>
              <a:rPr lang="en-US" sz="2000" b="1" dirty="0">
                <a:solidFill>
                  <a:srgbClr val="0E3A52"/>
                </a:solidFill>
              </a:rPr>
              <a:t>verified</a:t>
            </a:r>
            <a:endParaRPr lang="en-US" sz="2000" dirty="0"/>
          </a:p>
          <a:p>
            <a:pPr marL="0" indent="0">
              <a:spcAft>
                <a:spcPts val="200"/>
              </a:spcAft>
              <a:buNone/>
            </a:pPr>
            <a:r>
              <a:rPr lang="en-US" sz="1400" dirty="0">
                <a:solidFill>
                  <a:srgbClr val="262626"/>
                </a:solidFill>
              </a:rPr>
              <a:t>Behaviour classification runs on every other frame. A 5-frame agreement buffer debounces noisy predictions before logging.</a:t>
            </a:r>
            <a:endParaRPr lang="en-US" sz="2000" dirty="0"/>
          </a:p>
        </p:txBody>
      </p:sp>
      <p:sp>
        <p:nvSpPr>
          <p:cNvPr id="14" name="Shape 12"/>
          <p:cNvSpPr/>
          <p:nvPr/>
        </p:nvSpPr>
        <p:spPr>
          <a:xfrm>
            <a:off x="4434840" y="4983480"/>
            <a:ext cx="7223760" cy="1325880"/>
          </a:xfrm>
          <a:prstGeom prst="rect">
            <a:avLst/>
          </a:prstGeom>
          <a:solidFill>
            <a:srgbClr val="F2F5F8"/>
          </a:solidFill>
          <a:ln w="12700">
            <a:solidFill>
              <a:srgbClr val="D4DCE3"/>
            </a:solidFill>
            <a:prstDash val="solid"/>
          </a:ln>
        </p:spPr>
        <p:txBody>
          <a:bodyPr/>
          <a:lstStyle/>
          <a:p>
            <a:endParaRPr lang="en-IE"/>
          </a:p>
        </p:txBody>
      </p:sp>
      <p:sp>
        <p:nvSpPr>
          <p:cNvPr id="15" name="Text 13"/>
          <p:cNvSpPr/>
          <p:nvPr/>
        </p:nvSpPr>
        <p:spPr>
          <a:xfrm>
            <a:off x="4599432" y="5074920"/>
            <a:ext cx="6903720" cy="1188720"/>
          </a:xfrm>
          <a:prstGeom prst="rect">
            <a:avLst/>
          </a:prstGeom>
          <a:noFill/>
          <a:ln/>
        </p:spPr>
        <p:txBody>
          <a:bodyPr wrap="square" lIns="0" tIns="0" rIns="0" bIns="0" rtlCol="0" anchor="t"/>
          <a:lstStyle/>
          <a:p>
            <a:pPr marL="0" indent="0">
              <a:buNone/>
            </a:pPr>
            <a:r>
              <a:rPr lang="en-US" sz="1600" b="1" dirty="0">
                <a:solidFill>
                  <a:srgbClr val="0E3A52"/>
                </a:solidFill>
              </a:rPr>
              <a:t>Why a single-worker, slot-based handoff?</a:t>
            </a:r>
            <a:endParaRPr lang="en-US" sz="1600" dirty="0"/>
          </a:p>
          <a:p>
            <a:pPr marL="0" indent="0">
              <a:buNone/>
            </a:pPr>
            <a:r>
              <a:rPr lang="en-US" sz="1300" dirty="0">
                <a:solidFill>
                  <a:srgbClr val="262626"/>
                </a:solidFill>
              </a:rPr>
              <a:t>Capture loop overwrites a single pending frame and signals an event. The worker drains it, runs the model, repeats. Stale frames are dropped, threads never accumulate, the Pi stays responsive.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1417320"/>
          </a:xfrm>
          <a:prstGeom prst="rect">
            <a:avLst/>
          </a:prstGeom>
          <a:solidFill>
            <a:srgbClr val="0E3A52"/>
          </a:solidFill>
          <a:ln/>
        </p:spPr>
        <p:txBody>
          <a:bodyPr/>
          <a:lstStyle/>
          <a:p>
            <a:endParaRPr lang="en-IE"/>
          </a:p>
        </p:txBody>
      </p:sp>
      <p:sp>
        <p:nvSpPr>
          <p:cNvPr id="3" name="Shape 1"/>
          <p:cNvSpPr/>
          <p:nvPr/>
        </p:nvSpPr>
        <p:spPr>
          <a:xfrm>
            <a:off x="8046519" y="0"/>
            <a:ext cx="1584920" cy="1417320"/>
          </a:xfrm>
          <a:prstGeom prst="rect">
            <a:avLst/>
          </a:prstGeom>
          <a:solidFill>
            <a:srgbClr val="1A5A7A">
              <a:alpha val="40000"/>
            </a:srgbClr>
          </a:solidFill>
          <a:ln/>
        </p:spPr>
        <p:txBody>
          <a:bodyPr/>
          <a:lstStyle/>
          <a:p>
            <a:endParaRPr lang="en-IE"/>
          </a:p>
        </p:txBody>
      </p:sp>
      <p:sp>
        <p:nvSpPr>
          <p:cNvPr id="4" name="Text 2"/>
          <p:cNvSpPr/>
          <p:nvPr/>
        </p:nvSpPr>
        <p:spPr>
          <a:xfrm>
            <a:off x="502920" y="228600"/>
            <a:ext cx="11185855" cy="960120"/>
          </a:xfrm>
          <a:prstGeom prst="rect">
            <a:avLst/>
          </a:prstGeom>
          <a:noFill/>
          <a:ln/>
        </p:spPr>
        <p:txBody>
          <a:bodyPr wrap="square" lIns="0" tIns="0" rIns="0" bIns="0" rtlCol="0" anchor="ctr"/>
          <a:lstStyle/>
          <a:p>
            <a:pPr marL="0" indent="0">
              <a:buNone/>
            </a:pPr>
            <a:r>
              <a:rPr lang="en-US" sz="4000" dirty="0">
                <a:solidFill>
                  <a:srgbClr val="FFFFFF"/>
                </a:solidFill>
                <a:latin typeface="Calibri Light" pitchFamily="34" charset="0"/>
                <a:ea typeface="Calibri Light" pitchFamily="34" charset="-122"/>
                <a:cs typeface="Calibri Light" pitchFamily="34" charset="-120"/>
              </a:rPr>
              <a:t>Facial Verification</a:t>
            </a:r>
            <a:endParaRPr lang="en-US" sz="4000" dirty="0"/>
          </a:p>
        </p:txBody>
      </p:sp>
      <p:sp>
        <p:nvSpPr>
          <p:cNvPr id="5" name="Shape 3"/>
          <p:cNvSpPr/>
          <p:nvPr/>
        </p:nvSpPr>
        <p:spPr>
          <a:xfrm>
            <a:off x="548640" y="2011680"/>
            <a:ext cx="2057400" cy="1280160"/>
          </a:xfrm>
          <a:prstGeom prst="rect">
            <a:avLst/>
          </a:prstGeom>
          <a:solidFill>
            <a:srgbClr val="FFFFFF"/>
          </a:solidFill>
          <a:ln w="12700">
            <a:solidFill>
              <a:srgbClr val="D4DCE3"/>
            </a:solidFill>
            <a:prstDash val="solid"/>
          </a:ln>
        </p:spPr>
        <p:txBody>
          <a:bodyPr/>
          <a:lstStyle/>
          <a:p>
            <a:endParaRPr lang="en-IE"/>
          </a:p>
        </p:txBody>
      </p:sp>
      <p:sp>
        <p:nvSpPr>
          <p:cNvPr id="6" name="Shape 4"/>
          <p:cNvSpPr/>
          <p:nvPr/>
        </p:nvSpPr>
        <p:spPr>
          <a:xfrm>
            <a:off x="548640" y="2011680"/>
            <a:ext cx="2057400" cy="73152"/>
          </a:xfrm>
          <a:prstGeom prst="rect">
            <a:avLst/>
          </a:prstGeom>
          <a:solidFill>
            <a:srgbClr val="C62828"/>
          </a:solidFill>
          <a:ln/>
        </p:spPr>
        <p:txBody>
          <a:bodyPr/>
          <a:lstStyle/>
          <a:p>
            <a:endParaRPr lang="en-IE"/>
          </a:p>
        </p:txBody>
      </p:sp>
      <p:sp>
        <p:nvSpPr>
          <p:cNvPr id="7" name="Text 5"/>
          <p:cNvSpPr/>
          <p:nvPr/>
        </p:nvSpPr>
        <p:spPr>
          <a:xfrm>
            <a:off x="640080" y="2194560"/>
            <a:ext cx="1874520" cy="365760"/>
          </a:xfrm>
          <a:prstGeom prst="rect">
            <a:avLst/>
          </a:prstGeom>
          <a:noFill/>
          <a:ln/>
        </p:spPr>
        <p:txBody>
          <a:bodyPr wrap="square" lIns="0" tIns="0" rIns="0" bIns="0" rtlCol="0" anchor="ctr"/>
          <a:lstStyle/>
          <a:p>
            <a:pPr marL="0" indent="0" algn="ctr">
              <a:buNone/>
            </a:pPr>
            <a:r>
              <a:rPr lang="en-US" sz="1600" b="1" dirty="0">
                <a:solidFill>
                  <a:srgbClr val="0E3A52"/>
                </a:solidFill>
                <a:latin typeface="Calibri" pitchFamily="34" charset="0"/>
                <a:ea typeface="Calibri" pitchFamily="34" charset="-122"/>
                <a:cs typeface="Calibri" pitchFamily="34" charset="-120"/>
              </a:rPr>
              <a:t>Frame in</a:t>
            </a:r>
            <a:endParaRPr lang="en-US" sz="1600" dirty="0"/>
          </a:p>
        </p:txBody>
      </p:sp>
      <p:sp>
        <p:nvSpPr>
          <p:cNvPr id="8" name="Text 6"/>
          <p:cNvSpPr/>
          <p:nvPr/>
        </p:nvSpPr>
        <p:spPr>
          <a:xfrm>
            <a:off x="640080" y="2578608"/>
            <a:ext cx="1874520" cy="640080"/>
          </a:xfrm>
          <a:prstGeom prst="rect">
            <a:avLst/>
          </a:prstGeom>
          <a:noFill/>
          <a:ln/>
        </p:spPr>
        <p:txBody>
          <a:bodyPr wrap="square" lIns="0" tIns="0" rIns="0" bIns="0" rtlCol="0" anchor="t"/>
          <a:lstStyle/>
          <a:p>
            <a:pPr marL="0" indent="0" algn="ctr">
              <a:buNone/>
            </a:pPr>
            <a:r>
              <a:rPr lang="en-US" sz="1200" dirty="0">
                <a:solidFill>
                  <a:srgbClr val="262626"/>
                </a:solidFill>
                <a:latin typeface="Calibri" pitchFamily="34" charset="0"/>
                <a:ea typeface="Calibri" pitchFamily="34" charset="-122"/>
                <a:cs typeface="Calibri" pitchFamily="34" charset="-120"/>
              </a:rPr>
              <a:t>Pi Camera Module 3</a:t>
            </a:r>
            <a:endParaRPr lang="en-US" sz="1200" dirty="0"/>
          </a:p>
        </p:txBody>
      </p:sp>
      <p:sp>
        <p:nvSpPr>
          <p:cNvPr id="9" name="Shape 7"/>
          <p:cNvSpPr/>
          <p:nvPr/>
        </p:nvSpPr>
        <p:spPr>
          <a:xfrm>
            <a:off x="2624328" y="2651760"/>
            <a:ext cx="164592" cy="0"/>
          </a:xfrm>
          <a:prstGeom prst="line">
            <a:avLst/>
          </a:prstGeom>
          <a:noFill/>
          <a:ln w="19050">
            <a:solidFill>
              <a:srgbClr val="5A6B7A"/>
            </a:solidFill>
            <a:prstDash val="solid"/>
            <a:tailEnd type="triangle"/>
          </a:ln>
        </p:spPr>
        <p:txBody>
          <a:bodyPr/>
          <a:lstStyle/>
          <a:p>
            <a:endParaRPr lang="en-IE"/>
          </a:p>
        </p:txBody>
      </p:sp>
      <p:sp>
        <p:nvSpPr>
          <p:cNvPr id="10" name="Shape 8"/>
          <p:cNvSpPr/>
          <p:nvPr/>
        </p:nvSpPr>
        <p:spPr>
          <a:xfrm>
            <a:off x="2807208" y="2011680"/>
            <a:ext cx="2057400" cy="1280160"/>
          </a:xfrm>
          <a:prstGeom prst="rect">
            <a:avLst/>
          </a:prstGeom>
          <a:solidFill>
            <a:srgbClr val="FFFFFF"/>
          </a:solidFill>
          <a:ln w="12700">
            <a:solidFill>
              <a:srgbClr val="D4DCE3"/>
            </a:solidFill>
            <a:prstDash val="solid"/>
          </a:ln>
        </p:spPr>
        <p:txBody>
          <a:bodyPr/>
          <a:lstStyle/>
          <a:p>
            <a:endParaRPr lang="en-IE"/>
          </a:p>
        </p:txBody>
      </p:sp>
      <p:sp>
        <p:nvSpPr>
          <p:cNvPr id="11" name="Shape 9"/>
          <p:cNvSpPr/>
          <p:nvPr/>
        </p:nvSpPr>
        <p:spPr>
          <a:xfrm>
            <a:off x="2807208" y="2011680"/>
            <a:ext cx="2057400" cy="73152"/>
          </a:xfrm>
          <a:prstGeom prst="rect">
            <a:avLst/>
          </a:prstGeom>
          <a:solidFill>
            <a:srgbClr val="E65100"/>
          </a:solidFill>
          <a:ln/>
        </p:spPr>
        <p:txBody>
          <a:bodyPr/>
          <a:lstStyle/>
          <a:p>
            <a:endParaRPr lang="en-IE"/>
          </a:p>
        </p:txBody>
      </p:sp>
      <p:sp>
        <p:nvSpPr>
          <p:cNvPr id="12" name="Text 10"/>
          <p:cNvSpPr/>
          <p:nvPr/>
        </p:nvSpPr>
        <p:spPr>
          <a:xfrm>
            <a:off x="2898648" y="2194560"/>
            <a:ext cx="1874520" cy="365760"/>
          </a:xfrm>
          <a:prstGeom prst="rect">
            <a:avLst/>
          </a:prstGeom>
          <a:noFill/>
          <a:ln/>
        </p:spPr>
        <p:txBody>
          <a:bodyPr wrap="square" lIns="0" tIns="0" rIns="0" bIns="0" rtlCol="0" anchor="ctr"/>
          <a:lstStyle/>
          <a:p>
            <a:pPr marL="0" indent="0" algn="ctr">
              <a:buNone/>
            </a:pPr>
            <a:r>
              <a:rPr lang="en-US" sz="1600" b="1" dirty="0">
                <a:solidFill>
                  <a:srgbClr val="0E3A52"/>
                </a:solidFill>
                <a:latin typeface="Calibri" pitchFamily="34" charset="0"/>
                <a:ea typeface="Calibri" pitchFamily="34" charset="-122"/>
                <a:cs typeface="Calibri" pitchFamily="34" charset="-120"/>
              </a:rPr>
              <a:t>Preprocess</a:t>
            </a:r>
            <a:endParaRPr lang="en-US" sz="1600" dirty="0"/>
          </a:p>
        </p:txBody>
      </p:sp>
      <p:sp>
        <p:nvSpPr>
          <p:cNvPr id="13" name="Text 11"/>
          <p:cNvSpPr/>
          <p:nvPr/>
        </p:nvSpPr>
        <p:spPr>
          <a:xfrm>
            <a:off x="2898648" y="2578608"/>
            <a:ext cx="1874520" cy="640080"/>
          </a:xfrm>
          <a:prstGeom prst="rect">
            <a:avLst/>
          </a:prstGeom>
          <a:noFill/>
          <a:ln/>
        </p:spPr>
        <p:txBody>
          <a:bodyPr wrap="square" lIns="0" tIns="0" rIns="0" bIns="0" rtlCol="0" anchor="t"/>
          <a:lstStyle/>
          <a:p>
            <a:pPr marL="0" indent="0" algn="ctr">
              <a:buNone/>
            </a:pPr>
            <a:r>
              <a:rPr lang="en-US" sz="1200" dirty="0">
                <a:solidFill>
                  <a:srgbClr val="262626"/>
                </a:solidFill>
                <a:latin typeface="Calibri" pitchFamily="34" charset="0"/>
                <a:ea typeface="Calibri" pitchFamily="34" charset="-122"/>
                <a:cs typeface="Calibri" pitchFamily="34" charset="-120"/>
              </a:rPr>
              <a:t>Resize 100x100</a:t>
            </a:r>
            <a:endParaRPr lang="en-US" sz="1200" dirty="0"/>
          </a:p>
          <a:p>
            <a:pPr marL="0" indent="0" algn="ctr">
              <a:buNone/>
            </a:pPr>
            <a:r>
              <a:rPr lang="en-US" sz="1200" dirty="0">
                <a:solidFill>
                  <a:srgbClr val="262626"/>
                </a:solidFill>
                <a:latin typeface="Calibri" pitchFamily="34" charset="0"/>
                <a:ea typeface="Calibri" pitchFamily="34" charset="-122"/>
                <a:cs typeface="Calibri" pitchFamily="34" charset="-120"/>
              </a:rPr>
              <a:t>Normalise 0–1</a:t>
            </a:r>
            <a:endParaRPr lang="en-US" sz="1200" dirty="0"/>
          </a:p>
        </p:txBody>
      </p:sp>
      <p:sp>
        <p:nvSpPr>
          <p:cNvPr id="14" name="Shape 12"/>
          <p:cNvSpPr/>
          <p:nvPr/>
        </p:nvSpPr>
        <p:spPr>
          <a:xfrm>
            <a:off x="4882896" y="2651760"/>
            <a:ext cx="164592" cy="0"/>
          </a:xfrm>
          <a:prstGeom prst="line">
            <a:avLst/>
          </a:prstGeom>
          <a:noFill/>
          <a:ln w="19050">
            <a:solidFill>
              <a:srgbClr val="5A6B7A"/>
            </a:solidFill>
            <a:prstDash val="solid"/>
            <a:tailEnd type="triangle"/>
          </a:ln>
        </p:spPr>
        <p:txBody>
          <a:bodyPr/>
          <a:lstStyle/>
          <a:p>
            <a:endParaRPr lang="en-IE"/>
          </a:p>
        </p:txBody>
      </p:sp>
      <p:sp>
        <p:nvSpPr>
          <p:cNvPr id="15" name="Shape 13"/>
          <p:cNvSpPr/>
          <p:nvPr/>
        </p:nvSpPr>
        <p:spPr>
          <a:xfrm>
            <a:off x="5065776" y="2011680"/>
            <a:ext cx="2057400" cy="1280160"/>
          </a:xfrm>
          <a:prstGeom prst="rect">
            <a:avLst/>
          </a:prstGeom>
          <a:solidFill>
            <a:srgbClr val="FFFFFF"/>
          </a:solidFill>
          <a:ln w="12700">
            <a:solidFill>
              <a:srgbClr val="D4DCE3"/>
            </a:solidFill>
            <a:prstDash val="solid"/>
          </a:ln>
        </p:spPr>
        <p:txBody>
          <a:bodyPr/>
          <a:lstStyle/>
          <a:p>
            <a:endParaRPr lang="en-IE"/>
          </a:p>
        </p:txBody>
      </p:sp>
      <p:sp>
        <p:nvSpPr>
          <p:cNvPr id="16" name="Shape 14"/>
          <p:cNvSpPr/>
          <p:nvPr/>
        </p:nvSpPr>
        <p:spPr>
          <a:xfrm>
            <a:off x="5065776" y="2011680"/>
            <a:ext cx="2057400" cy="73152"/>
          </a:xfrm>
          <a:prstGeom prst="rect">
            <a:avLst/>
          </a:prstGeom>
          <a:solidFill>
            <a:srgbClr val="F57F17"/>
          </a:solidFill>
          <a:ln/>
        </p:spPr>
        <p:txBody>
          <a:bodyPr/>
          <a:lstStyle/>
          <a:p>
            <a:endParaRPr lang="en-IE"/>
          </a:p>
        </p:txBody>
      </p:sp>
      <p:sp>
        <p:nvSpPr>
          <p:cNvPr id="17" name="Text 15"/>
          <p:cNvSpPr/>
          <p:nvPr/>
        </p:nvSpPr>
        <p:spPr>
          <a:xfrm>
            <a:off x="5157216" y="2194560"/>
            <a:ext cx="1874520" cy="365760"/>
          </a:xfrm>
          <a:prstGeom prst="rect">
            <a:avLst/>
          </a:prstGeom>
          <a:noFill/>
          <a:ln/>
        </p:spPr>
        <p:txBody>
          <a:bodyPr wrap="square" lIns="0" tIns="0" rIns="0" bIns="0" rtlCol="0" anchor="ctr"/>
          <a:lstStyle/>
          <a:p>
            <a:pPr marL="0" indent="0" algn="ctr">
              <a:buNone/>
            </a:pPr>
            <a:r>
              <a:rPr lang="en-US" sz="1600" b="1" dirty="0">
                <a:solidFill>
                  <a:srgbClr val="0E3A52"/>
                </a:solidFill>
                <a:latin typeface="Calibri" pitchFamily="34" charset="0"/>
                <a:ea typeface="Calibri" pitchFamily="34" charset="-122"/>
                <a:cs typeface="Calibri" pitchFamily="34" charset="-120"/>
              </a:rPr>
              <a:t>Embedding</a:t>
            </a:r>
            <a:endParaRPr lang="en-US" sz="1600" dirty="0"/>
          </a:p>
        </p:txBody>
      </p:sp>
      <p:sp>
        <p:nvSpPr>
          <p:cNvPr id="18" name="Text 16"/>
          <p:cNvSpPr/>
          <p:nvPr/>
        </p:nvSpPr>
        <p:spPr>
          <a:xfrm>
            <a:off x="5157216" y="2578608"/>
            <a:ext cx="1874520" cy="640080"/>
          </a:xfrm>
          <a:prstGeom prst="rect">
            <a:avLst/>
          </a:prstGeom>
          <a:noFill/>
          <a:ln/>
        </p:spPr>
        <p:txBody>
          <a:bodyPr wrap="square" lIns="0" tIns="0" rIns="0" bIns="0" rtlCol="0" anchor="t"/>
          <a:lstStyle/>
          <a:p>
            <a:pPr marL="0" indent="0" algn="ctr">
              <a:buNone/>
            </a:pPr>
            <a:r>
              <a:rPr lang="en-US" sz="1200" dirty="0">
                <a:solidFill>
                  <a:srgbClr val="262626"/>
                </a:solidFill>
                <a:latin typeface="Calibri" pitchFamily="34" charset="0"/>
                <a:ea typeface="Calibri" pitchFamily="34" charset="-122"/>
                <a:cs typeface="Calibri" pitchFamily="34" charset="-120"/>
              </a:rPr>
              <a:t>Twin tower</a:t>
            </a:r>
            <a:endParaRPr lang="en-US" sz="1200" dirty="0"/>
          </a:p>
          <a:p>
            <a:pPr marL="0" indent="0" algn="ctr">
              <a:buNone/>
            </a:pPr>
            <a:r>
              <a:rPr lang="en-US" sz="1200" dirty="0">
                <a:solidFill>
                  <a:srgbClr val="262626"/>
                </a:solidFill>
                <a:latin typeface="Calibri" pitchFamily="34" charset="0"/>
                <a:ea typeface="Calibri" pitchFamily="34" charset="-122"/>
                <a:cs typeface="Calibri" pitchFamily="34" charset="-120"/>
              </a:rPr>
              <a:t>4096-d vector</a:t>
            </a:r>
            <a:endParaRPr lang="en-US" sz="1200" dirty="0"/>
          </a:p>
        </p:txBody>
      </p:sp>
      <p:sp>
        <p:nvSpPr>
          <p:cNvPr id="19" name="Shape 17"/>
          <p:cNvSpPr/>
          <p:nvPr/>
        </p:nvSpPr>
        <p:spPr>
          <a:xfrm>
            <a:off x="7141464" y="2651760"/>
            <a:ext cx="164592" cy="0"/>
          </a:xfrm>
          <a:prstGeom prst="line">
            <a:avLst/>
          </a:prstGeom>
          <a:noFill/>
          <a:ln w="19050">
            <a:solidFill>
              <a:srgbClr val="5A6B7A"/>
            </a:solidFill>
            <a:prstDash val="solid"/>
            <a:tailEnd type="triangle"/>
          </a:ln>
        </p:spPr>
        <p:txBody>
          <a:bodyPr/>
          <a:lstStyle/>
          <a:p>
            <a:endParaRPr lang="en-IE"/>
          </a:p>
        </p:txBody>
      </p:sp>
      <p:sp>
        <p:nvSpPr>
          <p:cNvPr id="20" name="Shape 18"/>
          <p:cNvSpPr/>
          <p:nvPr/>
        </p:nvSpPr>
        <p:spPr>
          <a:xfrm>
            <a:off x="7324344" y="2011680"/>
            <a:ext cx="2057400" cy="1280160"/>
          </a:xfrm>
          <a:prstGeom prst="rect">
            <a:avLst/>
          </a:prstGeom>
          <a:solidFill>
            <a:srgbClr val="FFFFFF"/>
          </a:solidFill>
          <a:ln w="12700">
            <a:solidFill>
              <a:srgbClr val="D4DCE3"/>
            </a:solidFill>
            <a:prstDash val="solid"/>
          </a:ln>
        </p:spPr>
        <p:txBody>
          <a:bodyPr/>
          <a:lstStyle/>
          <a:p>
            <a:endParaRPr lang="en-IE"/>
          </a:p>
        </p:txBody>
      </p:sp>
      <p:sp>
        <p:nvSpPr>
          <p:cNvPr id="21" name="Shape 19"/>
          <p:cNvSpPr/>
          <p:nvPr/>
        </p:nvSpPr>
        <p:spPr>
          <a:xfrm>
            <a:off x="7324344" y="2011680"/>
            <a:ext cx="2057400" cy="73152"/>
          </a:xfrm>
          <a:prstGeom prst="rect">
            <a:avLst/>
          </a:prstGeom>
          <a:solidFill>
            <a:srgbClr val="1565C0"/>
          </a:solidFill>
          <a:ln/>
        </p:spPr>
        <p:txBody>
          <a:bodyPr/>
          <a:lstStyle/>
          <a:p>
            <a:endParaRPr lang="en-IE"/>
          </a:p>
        </p:txBody>
      </p:sp>
      <p:sp>
        <p:nvSpPr>
          <p:cNvPr id="22" name="Text 20"/>
          <p:cNvSpPr/>
          <p:nvPr/>
        </p:nvSpPr>
        <p:spPr>
          <a:xfrm>
            <a:off x="7415784" y="2194560"/>
            <a:ext cx="1874520" cy="365760"/>
          </a:xfrm>
          <a:prstGeom prst="rect">
            <a:avLst/>
          </a:prstGeom>
          <a:noFill/>
          <a:ln/>
        </p:spPr>
        <p:txBody>
          <a:bodyPr wrap="square" lIns="0" tIns="0" rIns="0" bIns="0" rtlCol="0" anchor="ctr"/>
          <a:lstStyle/>
          <a:p>
            <a:pPr marL="0" indent="0" algn="ctr">
              <a:buNone/>
            </a:pPr>
            <a:r>
              <a:rPr lang="en-US" sz="1600" b="1" dirty="0">
                <a:solidFill>
                  <a:srgbClr val="0E3A52"/>
                </a:solidFill>
                <a:latin typeface="Calibri" pitchFamily="34" charset="0"/>
                <a:ea typeface="Calibri" pitchFamily="34" charset="-122"/>
                <a:cs typeface="Calibri" pitchFamily="34" charset="-120"/>
              </a:rPr>
              <a:t>L1 distance</a:t>
            </a:r>
            <a:endParaRPr lang="en-US" sz="1600" dirty="0"/>
          </a:p>
        </p:txBody>
      </p:sp>
      <p:sp>
        <p:nvSpPr>
          <p:cNvPr id="23" name="Text 21"/>
          <p:cNvSpPr/>
          <p:nvPr/>
        </p:nvSpPr>
        <p:spPr>
          <a:xfrm>
            <a:off x="7415784" y="2578608"/>
            <a:ext cx="1874520" cy="640080"/>
          </a:xfrm>
          <a:prstGeom prst="rect">
            <a:avLst/>
          </a:prstGeom>
          <a:noFill/>
          <a:ln/>
        </p:spPr>
        <p:txBody>
          <a:bodyPr wrap="square" lIns="0" tIns="0" rIns="0" bIns="0" rtlCol="0" anchor="t"/>
          <a:lstStyle/>
          <a:p>
            <a:pPr marL="0" indent="0" algn="ctr">
              <a:buNone/>
            </a:pPr>
            <a:r>
              <a:rPr lang="en-US" sz="1200" dirty="0">
                <a:solidFill>
                  <a:srgbClr val="262626"/>
                </a:solidFill>
                <a:latin typeface="Calibri" pitchFamily="34" charset="0"/>
                <a:ea typeface="Calibri" pitchFamily="34" charset="-122"/>
                <a:cs typeface="Calibri" pitchFamily="34" charset="-120"/>
              </a:rPr>
              <a:t>Compare to</a:t>
            </a:r>
            <a:endParaRPr lang="en-US" sz="1200" dirty="0"/>
          </a:p>
          <a:p>
            <a:pPr marL="0" indent="0" algn="ctr">
              <a:buNone/>
            </a:pPr>
            <a:r>
              <a:rPr lang="en-US" sz="1200" dirty="0">
                <a:solidFill>
                  <a:srgbClr val="262626"/>
                </a:solidFill>
                <a:latin typeface="Calibri" pitchFamily="34" charset="0"/>
                <a:ea typeface="Calibri" pitchFamily="34" charset="-122"/>
                <a:cs typeface="Calibri" pitchFamily="34" charset="-120"/>
              </a:rPr>
              <a:t>stored faces</a:t>
            </a:r>
            <a:endParaRPr lang="en-US" sz="1200" dirty="0"/>
          </a:p>
        </p:txBody>
      </p:sp>
      <p:sp>
        <p:nvSpPr>
          <p:cNvPr id="24" name="Shape 22"/>
          <p:cNvSpPr/>
          <p:nvPr/>
        </p:nvSpPr>
        <p:spPr>
          <a:xfrm>
            <a:off x="9400032" y="2651760"/>
            <a:ext cx="164592" cy="0"/>
          </a:xfrm>
          <a:prstGeom prst="line">
            <a:avLst/>
          </a:prstGeom>
          <a:noFill/>
          <a:ln w="19050">
            <a:solidFill>
              <a:srgbClr val="5A6B7A"/>
            </a:solidFill>
            <a:prstDash val="solid"/>
            <a:tailEnd type="triangle"/>
          </a:ln>
        </p:spPr>
        <p:txBody>
          <a:bodyPr/>
          <a:lstStyle/>
          <a:p>
            <a:endParaRPr lang="en-IE"/>
          </a:p>
        </p:txBody>
      </p:sp>
      <p:sp>
        <p:nvSpPr>
          <p:cNvPr id="25" name="Shape 23"/>
          <p:cNvSpPr/>
          <p:nvPr/>
        </p:nvSpPr>
        <p:spPr>
          <a:xfrm>
            <a:off x="9582912" y="2011680"/>
            <a:ext cx="2057400" cy="1280160"/>
          </a:xfrm>
          <a:prstGeom prst="rect">
            <a:avLst/>
          </a:prstGeom>
          <a:solidFill>
            <a:srgbClr val="FFFFFF"/>
          </a:solidFill>
          <a:ln w="12700">
            <a:solidFill>
              <a:srgbClr val="D4DCE3"/>
            </a:solidFill>
            <a:prstDash val="solid"/>
          </a:ln>
        </p:spPr>
        <p:txBody>
          <a:bodyPr/>
          <a:lstStyle/>
          <a:p>
            <a:endParaRPr lang="en-IE"/>
          </a:p>
        </p:txBody>
      </p:sp>
      <p:sp>
        <p:nvSpPr>
          <p:cNvPr id="26" name="Shape 24"/>
          <p:cNvSpPr/>
          <p:nvPr/>
        </p:nvSpPr>
        <p:spPr>
          <a:xfrm>
            <a:off x="9582912" y="2011680"/>
            <a:ext cx="2057400" cy="73152"/>
          </a:xfrm>
          <a:prstGeom prst="rect">
            <a:avLst/>
          </a:prstGeom>
          <a:solidFill>
            <a:srgbClr val="2E7D32"/>
          </a:solidFill>
          <a:ln/>
        </p:spPr>
        <p:txBody>
          <a:bodyPr/>
          <a:lstStyle/>
          <a:p>
            <a:endParaRPr lang="en-IE"/>
          </a:p>
        </p:txBody>
      </p:sp>
      <p:sp>
        <p:nvSpPr>
          <p:cNvPr id="27" name="Text 25"/>
          <p:cNvSpPr/>
          <p:nvPr/>
        </p:nvSpPr>
        <p:spPr>
          <a:xfrm>
            <a:off x="9674352" y="2194560"/>
            <a:ext cx="1874520" cy="365760"/>
          </a:xfrm>
          <a:prstGeom prst="rect">
            <a:avLst/>
          </a:prstGeom>
          <a:noFill/>
          <a:ln/>
        </p:spPr>
        <p:txBody>
          <a:bodyPr wrap="square" lIns="0" tIns="0" rIns="0" bIns="0" rtlCol="0" anchor="ctr"/>
          <a:lstStyle/>
          <a:p>
            <a:pPr marL="0" indent="0" algn="ctr">
              <a:buNone/>
            </a:pPr>
            <a:r>
              <a:rPr lang="en-US" sz="1600" b="1" dirty="0">
                <a:solidFill>
                  <a:srgbClr val="0E3A52"/>
                </a:solidFill>
                <a:latin typeface="Calibri" pitchFamily="34" charset="0"/>
                <a:ea typeface="Calibri" pitchFamily="34" charset="-122"/>
                <a:cs typeface="Calibri" pitchFamily="34" charset="-120"/>
              </a:rPr>
              <a:t>Match?</a:t>
            </a:r>
            <a:endParaRPr lang="en-US" sz="1600" dirty="0"/>
          </a:p>
        </p:txBody>
      </p:sp>
      <p:sp>
        <p:nvSpPr>
          <p:cNvPr id="28" name="Text 26"/>
          <p:cNvSpPr/>
          <p:nvPr/>
        </p:nvSpPr>
        <p:spPr>
          <a:xfrm>
            <a:off x="9674352" y="2578608"/>
            <a:ext cx="1874520" cy="640080"/>
          </a:xfrm>
          <a:prstGeom prst="rect">
            <a:avLst/>
          </a:prstGeom>
          <a:noFill/>
          <a:ln/>
        </p:spPr>
        <p:txBody>
          <a:bodyPr wrap="square" lIns="0" tIns="0" rIns="0" bIns="0" rtlCol="0" anchor="t"/>
          <a:lstStyle/>
          <a:p>
            <a:pPr marL="0" indent="0" algn="ctr">
              <a:buNone/>
            </a:pPr>
            <a:r>
              <a:rPr lang="en-US" sz="1200" dirty="0">
                <a:solidFill>
                  <a:srgbClr val="262626"/>
                </a:solidFill>
                <a:latin typeface="Calibri" pitchFamily="34" charset="0"/>
                <a:ea typeface="Calibri" pitchFamily="34" charset="-122"/>
                <a:cs typeface="Calibri" pitchFamily="34" charset="-120"/>
              </a:rPr>
              <a:t>&gt;50% agreement</a:t>
            </a:r>
            <a:endParaRPr lang="en-US" sz="1200" dirty="0"/>
          </a:p>
          <a:p>
            <a:pPr marL="0" indent="0" algn="ctr">
              <a:buNone/>
            </a:pPr>
            <a:r>
              <a:rPr lang="en-US" sz="1200" dirty="0">
                <a:solidFill>
                  <a:srgbClr val="262626"/>
                </a:solidFill>
                <a:latin typeface="Calibri" pitchFamily="34" charset="0"/>
                <a:ea typeface="Calibri" pitchFamily="34" charset="-122"/>
                <a:cs typeface="Calibri" pitchFamily="34" charset="-120"/>
              </a:rPr>
              <a:t>-&gt; verified</a:t>
            </a:r>
            <a:endParaRPr lang="en-US" sz="1200" dirty="0"/>
          </a:p>
        </p:txBody>
      </p:sp>
      <p:sp>
        <p:nvSpPr>
          <p:cNvPr id="29" name="Shape 27"/>
          <p:cNvSpPr/>
          <p:nvPr/>
        </p:nvSpPr>
        <p:spPr>
          <a:xfrm>
            <a:off x="502920" y="3931920"/>
            <a:ext cx="3657600" cy="2103120"/>
          </a:xfrm>
          <a:prstGeom prst="rect">
            <a:avLst/>
          </a:prstGeom>
          <a:solidFill>
            <a:srgbClr val="F2F5F8"/>
          </a:solidFill>
          <a:ln w="12700">
            <a:solidFill>
              <a:srgbClr val="D4DCE3"/>
            </a:solidFill>
            <a:prstDash val="solid"/>
          </a:ln>
        </p:spPr>
        <p:txBody>
          <a:bodyPr/>
          <a:lstStyle/>
          <a:p>
            <a:endParaRPr lang="en-IE"/>
          </a:p>
        </p:txBody>
      </p:sp>
      <p:sp>
        <p:nvSpPr>
          <p:cNvPr id="30" name="Shape 28"/>
          <p:cNvSpPr/>
          <p:nvPr/>
        </p:nvSpPr>
        <p:spPr>
          <a:xfrm>
            <a:off x="502920" y="3931920"/>
            <a:ext cx="91440" cy="2103120"/>
          </a:xfrm>
          <a:prstGeom prst="rect">
            <a:avLst/>
          </a:prstGeom>
          <a:solidFill>
            <a:srgbClr val="C62828"/>
          </a:solidFill>
          <a:ln/>
        </p:spPr>
        <p:txBody>
          <a:bodyPr/>
          <a:lstStyle/>
          <a:p>
            <a:endParaRPr lang="en-IE"/>
          </a:p>
        </p:txBody>
      </p:sp>
      <p:sp>
        <p:nvSpPr>
          <p:cNvPr id="31" name="Text 29"/>
          <p:cNvSpPr/>
          <p:nvPr/>
        </p:nvSpPr>
        <p:spPr>
          <a:xfrm>
            <a:off x="731520" y="4069080"/>
            <a:ext cx="3291840" cy="365760"/>
          </a:xfrm>
          <a:prstGeom prst="rect">
            <a:avLst/>
          </a:prstGeom>
          <a:noFill/>
          <a:ln/>
        </p:spPr>
        <p:txBody>
          <a:bodyPr wrap="square" lIns="0" tIns="0" rIns="0" bIns="0" rtlCol="0" anchor="ctr"/>
          <a:lstStyle/>
          <a:p>
            <a:pPr marL="0" indent="0">
              <a:buNone/>
            </a:pPr>
            <a:r>
              <a:rPr lang="en-US" sz="1600" b="1" dirty="0">
                <a:solidFill>
                  <a:srgbClr val="0E3A52"/>
                </a:solidFill>
                <a:latin typeface="Calibri" pitchFamily="34" charset="0"/>
                <a:ea typeface="Calibri" pitchFamily="34" charset="-122"/>
                <a:cs typeface="Calibri" pitchFamily="34" charset="-120"/>
              </a:rPr>
              <a:t>Up to 50 reference frames</a:t>
            </a:r>
            <a:endParaRPr lang="en-US" sz="1600" dirty="0"/>
          </a:p>
        </p:txBody>
      </p:sp>
      <p:sp>
        <p:nvSpPr>
          <p:cNvPr id="32" name="Text 30"/>
          <p:cNvSpPr/>
          <p:nvPr/>
        </p:nvSpPr>
        <p:spPr>
          <a:xfrm>
            <a:off x="731520" y="4434840"/>
            <a:ext cx="3291840" cy="1508760"/>
          </a:xfrm>
          <a:prstGeom prst="rect">
            <a:avLst/>
          </a:prstGeom>
          <a:noFill/>
          <a:ln/>
        </p:spPr>
        <p:txBody>
          <a:bodyPr wrap="square" lIns="0" tIns="0" rIns="0" bIns="0" rtlCol="0" anchor="t"/>
          <a:lstStyle/>
          <a:p>
            <a:pPr marL="0" indent="0">
              <a:buNone/>
            </a:pPr>
            <a:r>
              <a:rPr lang="en-US" sz="1250" dirty="0">
                <a:solidFill>
                  <a:srgbClr val="262626"/>
                </a:solidFill>
                <a:latin typeface="Calibri" pitchFamily="34" charset="0"/>
                <a:ea typeface="Calibri" pitchFamily="34" charset="-122"/>
                <a:cs typeface="Calibri" pitchFamily="34" charset="-120"/>
              </a:rPr>
              <a:t>ffmpeg pulls 1 frame every 0.33s from the user's setup video, capped at 50, into application_data/verification_images/&lt;user&gt;/.</a:t>
            </a:r>
            <a:endParaRPr lang="en-US" sz="1250" dirty="0"/>
          </a:p>
        </p:txBody>
      </p:sp>
      <p:sp>
        <p:nvSpPr>
          <p:cNvPr id="33" name="Shape 31"/>
          <p:cNvSpPr/>
          <p:nvPr/>
        </p:nvSpPr>
        <p:spPr>
          <a:xfrm>
            <a:off x="4389120" y="3931920"/>
            <a:ext cx="3657600" cy="2103120"/>
          </a:xfrm>
          <a:prstGeom prst="rect">
            <a:avLst/>
          </a:prstGeom>
          <a:solidFill>
            <a:srgbClr val="F2F5F8"/>
          </a:solidFill>
          <a:ln w="12700">
            <a:solidFill>
              <a:srgbClr val="D4DCE3"/>
            </a:solidFill>
            <a:prstDash val="solid"/>
          </a:ln>
        </p:spPr>
        <p:txBody>
          <a:bodyPr/>
          <a:lstStyle/>
          <a:p>
            <a:endParaRPr lang="en-IE"/>
          </a:p>
        </p:txBody>
      </p:sp>
      <p:sp>
        <p:nvSpPr>
          <p:cNvPr id="34" name="Shape 32"/>
          <p:cNvSpPr/>
          <p:nvPr/>
        </p:nvSpPr>
        <p:spPr>
          <a:xfrm>
            <a:off x="4389120" y="3931920"/>
            <a:ext cx="91440" cy="2103120"/>
          </a:xfrm>
          <a:prstGeom prst="rect">
            <a:avLst/>
          </a:prstGeom>
          <a:solidFill>
            <a:srgbClr val="E65100"/>
          </a:solidFill>
          <a:ln/>
        </p:spPr>
        <p:txBody>
          <a:bodyPr/>
          <a:lstStyle/>
          <a:p>
            <a:endParaRPr lang="en-IE"/>
          </a:p>
        </p:txBody>
      </p:sp>
      <p:sp>
        <p:nvSpPr>
          <p:cNvPr id="35" name="Text 33"/>
          <p:cNvSpPr/>
          <p:nvPr/>
        </p:nvSpPr>
        <p:spPr>
          <a:xfrm>
            <a:off x="4617720" y="4069080"/>
            <a:ext cx="3291840" cy="365760"/>
          </a:xfrm>
          <a:prstGeom prst="rect">
            <a:avLst/>
          </a:prstGeom>
          <a:noFill/>
          <a:ln/>
        </p:spPr>
        <p:txBody>
          <a:bodyPr wrap="square" lIns="0" tIns="0" rIns="0" bIns="0" rtlCol="0" anchor="ctr"/>
          <a:lstStyle/>
          <a:p>
            <a:pPr marL="0" indent="0">
              <a:buNone/>
            </a:pPr>
            <a:r>
              <a:rPr lang="en-US" sz="1600" b="1" dirty="0">
                <a:solidFill>
                  <a:srgbClr val="0E3A52"/>
                </a:solidFill>
                <a:latin typeface="Calibri" pitchFamily="34" charset="0"/>
                <a:ea typeface="Calibri" pitchFamily="34" charset="-122"/>
                <a:cs typeface="Calibri" pitchFamily="34" charset="-120"/>
              </a:rPr>
              <a:t>Scoped by expected user</a:t>
            </a:r>
            <a:endParaRPr lang="en-US" sz="1600" dirty="0"/>
          </a:p>
        </p:txBody>
      </p:sp>
      <p:sp>
        <p:nvSpPr>
          <p:cNvPr id="36" name="Text 34"/>
          <p:cNvSpPr/>
          <p:nvPr/>
        </p:nvSpPr>
        <p:spPr>
          <a:xfrm>
            <a:off x="4617720" y="4434840"/>
            <a:ext cx="3291840" cy="1508760"/>
          </a:xfrm>
          <a:prstGeom prst="rect">
            <a:avLst/>
          </a:prstGeom>
          <a:noFill/>
          <a:ln/>
        </p:spPr>
        <p:txBody>
          <a:bodyPr wrap="square" lIns="0" tIns="0" rIns="0" bIns="0" rtlCol="0" anchor="t"/>
          <a:lstStyle/>
          <a:p>
            <a:pPr marL="0" indent="0">
              <a:buNone/>
            </a:pPr>
            <a:r>
              <a:rPr lang="en-US" sz="1250" dirty="0">
                <a:solidFill>
                  <a:srgbClr val="262626"/>
                </a:solidFill>
                <a:latin typeface="Calibri" pitchFamily="34" charset="0"/>
                <a:ea typeface="Calibri" pitchFamily="34" charset="-122"/>
                <a:cs typeface="Calibri" pitchFamily="34" charset="-120"/>
              </a:rPr>
              <a:t>When a username is supplied, the Pi only compares against that user's folder verification falls from seconds to a fraction of a second.</a:t>
            </a:r>
            <a:endParaRPr lang="en-US" sz="1250" dirty="0"/>
          </a:p>
        </p:txBody>
      </p:sp>
      <p:sp>
        <p:nvSpPr>
          <p:cNvPr id="37" name="Shape 35"/>
          <p:cNvSpPr/>
          <p:nvPr/>
        </p:nvSpPr>
        <p:spPr>
          <a:xfrm>
            <a:off x="8275320" y="3931920"/>
            <a:ext cx="3657600" cy="2103120"/>
          </a:xfrm>
          <a:prstGeom prst="rect">
            <a:avLst/>
          </a:prstGeom>
          <a:solidFill>
            <a:srgbClr val="F2F5F8"/>
          </a:solidFill>
          <a:ln w="12700">
            <a:solidFill>
              <a:srgbClr val="D4DCE3"/>
            </a:solidFill>
            <a:prstDash val="solid"/>
          </a:ln>
        </p:spPr>
        <p:txBody>
          <a:bodyPr/>
          <a:lstStyle/>
          <a:p>
            <a:endParaRPr lang="en-IE"/>
          </a:p>
        </p:txBody>
      </p:sp>
      <p:sp>
        <p:nvSpPr>
          <p:cNvPr id="38" name="Shape 36"/>
          <p:cNvSpPr/>
          <p:nvPr/>
        </p:nvSpPr>
        <p:spPr>
          <a:xfrm>
            <a:off x="8275320" y="3931920"/>
            <a:ext cx="91440" cy="2103120"/>
          </a:xfrm>
          <a:prstGeom prst="rect">
            <a:avLst/>
          </a:prstGeom>
          <a:solidFill>
            <a:srgbClr val="2E7D32"/>
          </a:solidFill>
          <a:ln/>
        </p:spPr>
        <p:txBody>
          <a:bodyPr/>
          <a:lstStyle/>
          <a:p>
            <a:endParaRPr lang="en-IE"/>
          </a:p>
        </p:txBody>
      </p:sp>
      <p:sp>
        <p:nvSpPr>
          <p:cNvPr id="39" name="Text 37"/>
          <p:cNvSpPr/>
          <p:nvPr/>
        </p:nvSpPr>
        <p:spPr>
          <a:xfrm>
            <a:off x="8503920" y="4069080"/>
            <a:ext cx="3291840" cy="365760"/>
          </a:xfrm>
          <a:prstGeom prst="rect">
            <a:avLst/>
          </a:prstGeom>
          <a:noFill/>
          <a:ln/>
        </p:spPr>
        <p:txBody>
          <a:bodyPr wrap="square" lIns="0" tIns="0" rIns="0" bIns="0" rtlCol="0" anchor="ctr"/>
          <a:lstStyle/>
          <a:p>
            <a:pPr marL="0" indent="0">
              <a:buNone/>
            </a:pPr>
            <a:r>
              <a:rPr lang="en-US" sz="1600" b="1" dirty="0">
                <a:solidFill>
                  <a:srgbClr val="0E3A52"/>
                </a:solidFill>
                <a:latin typeface="Calibri" pitchFamily="34" charset="0"/>
                <a:ea typeface="Calibri" pitchFamily="34" charset="-122"/>
                <a:cs typeface="Calibri" pitchFamily="34" charset="-120"/>
              </a:rPr>
              <a:t>Thresholds</a:t>
            </a:r>
            <a:endParaRPr lang="en-US" sz="1600" dirty="0"/>
          </a:p>
        </p:txBody>
      </p:sp>
      <p:sp>
        <p:nvSpPr>
          <p:cNvPr id="40" name="Text 38"/>
          <p:cNvSpPr/>
          <p:nvPr/>
        </p:nvSpPr>
        <p:spPr>
          <a:xfrm>
            <a:off x="8503920" y="4434840"/>
            <a:ext cx="3291840" cy="1508760"/>
          </a:xfrm>
          <a:prstGeom prst="rect">
            <a:avLst/>
          </a:prstGeom>
          <a:noFill/>
          <a:ln/>
        </p:spPr>
        <p:txBody>
          <a:bodyPr wrap="square" lIns="0" tIns="0" rIns="0" bIns="0" rtlCol="0" anchor="t"/>
          <a:lstStyle/>
          <a:p>
            <a:pPr marL="0" indent="0">
              <a:buNone/>
            </a:pPr>
            <a:r>
              <a:rPr lang="en-US" sz="1250" dirty="0">
                <a:solidFill>
                  <a:srgbClr val="262626"/>
                </a:solidFill>
                <a:latin typeface="Calibri" pitchFamily="34" charset="0"/>
                <a:ea typeface="Calibri" pitchFamily="34" charset="-122"/>
                <a:cs typeface="Calibri" pitchFamily="34" charset="-120"/>
              </a:rPr>
              <a:t>0.5 per-frame and 0.5 aggregate match thresholds tuned for real-world lighting on the Pi camera, not lab conditions.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0E3A52"/>
          </a:solidFill>
          <a:ln/>
        </p:spPr>
        <p:txBody>
          <a:bodyPr/>
          <a:lstStyle/>
          <a:p>
            <a:endParaRPr lang="en-IE"/>
          </a:p>
        </p:txBody>
      </p:sp>
      <p:sp>
        <p:nvSpPr>
          <p:cNvPr id="3" name="Shape 1"/>
          <p:cNvSpPr/>
          <p:nvPr/>
        </p:nvSpPr>
        <p:spPr>
          <a:xfrm>
            <a:off x="-1097280" y="914400"/>
            <a:ext cx="5120640" cy="5120640"/>
          </a:xfrm>
          <a:prstGeom prst="ellipse">
            <a:avLst/>
          </a:prstGeom>
          <a:solidFill>
            <a:srgbClr val="2C6E8E">
              <a:alpha val="12000"/>
            </a:srgbClr>
          </a:solidFill>
          <a:ln/>
        </p:spPr>
        <p:txBody>
          <a:bodyPr/>
          <a:lstStyle/>
          <a:p>
            <a:endParaRPr lang="en-IE"/>
          </a:p>
        </p:txBody>
      </p:sp>
      <p:sp>
        <p:nvSpPr>
          <p:cNvPr id="4" name="Text 2"/>
          <p:cNvSpPr/>
          <p:nvPr/>
        </p:nvSpPr>
        <p:spPr>
          <a:xfrm>
            <a:off x="411480" y="2194560"/>
            <a:ext cx="3383280" cy="2286000"/>
          </a:xfrm>
          <a:prstGeom prst="rect">
            <a:avLst/>
          </a:prstGeom>
          <a:noFill/>
          <a:ln/>
        </p:spPr>
        <p:txBody>
          <a:bodyPr wrap="square" lIns="0" tIns="0" rIns="0" bIns="0" rtlCol="0" anchor="t"/>
          <a:lstStyle/>
          <a:p>
            <a:pPr marL="0" indent="0" algn="l">
              <a:buNone/>
            </a:pPr>
            <a:r>
              <a:rPr lang="en-US" sz="4000" dirty="0">
                <a:solidFill>
                  <a:srgbClr val="FFFFFF"/>
                </a:solidFill>
                <a:latin typeface="Calibri Light" pitchFamily="34" charset="0"/>
                <a:ea typeface="Calibri Light" pitchFamily="34" charset="-122"/>
                <a:cs typeface="Calibri Light" pitchFamily="34" charset="-120"/>
              </a:rPr>
              <a:t>Behaviour</a:t>
            </a:r>
            <a:endParaRPr lang="en-US" sz="4000" dirty="0"/>
          </a:p>
          <a:p>
            <a:pPr marL="0" indent="0" algn="l">
              <a:buNone/>
            </a:pPr>
            <a:r>
              <a:rPr lang="en-US" sz="4000" dirty="0">
                <a:solidFill>
                  <a:srgbClr val="FFFFFF"/>
                </a:solidFill>
                <a:latin typeface="Calibri Light" pitchFamily="34" charset="0"/>
                <a:ea typeface="Calibri Light" pitchFamily="34" charset="-122"/>
                <a:cs typeface="Calibri Light" pitchFamily="34" charset="-120"/>
              </a:rPr>
              <a:t>classification</a:t>
            </a:r>
            <a:endParaRPr lang="en-US" sz="4000" dirty="0"/>
          </a:p>
          <a:p>
            <a:pPr marL="0" indent="0" algn="l">
              <a:buNone/>
            </a:pPr>
            <a:r>
              <a:rPr lang="en-US" sz="4000" dirty="0">
                <a:solidFill>
                  <a:srgbClr val="FFFFFF"/>
                </a:solidFill>
                <a:latin typeface="Calibri Light" pitchFamily="34" charset="0"/>
                <a:ea typeface="Calibri Light" pitchFamily="34" charset="-122"/>
                <a:cs typeface="Calibri Light" pitchFamily="34" charset="-120"/>
              </a:rPr>
              <a:t>&amp; debouncing</a:t>
            </a:r>
            <a:endParaRPr lang="en-US" sz="4000" dirty="0"/>
          </a:p>
        </p:txBody>
      </p:sp>
      <p:sp>
        <p:nvSpPr>
          <p:cNvPr id="5" name="Text 3"/>
          <p:cNvSpPr/>
          <p:nvPr/>
        </p:nvSpPr>
        <p:spPr>
          <a:xfrm>
            <a:off x="4434840" y="822960"/>
            <a:ext cx="4572000" cy="365760"/>
          </a:xfrm>
          <a:prstGeom prst="rect">
            <a:avLst/>
          </a:prstGeom>
          <a:noFill/>
          <a:ln/>
        </p:spPr>
        <p:txBody>
          <a:bodyPr wrap="square" lIns="0" tIns="0" rIns="0" bIns="0" rtlCol="0" anchor="ctr"/>
          <a:lstStyle/>
          <a:p>
            <a:pPr marL="0" indent="0">
              <a:buNone/>
            </a:pPr>
            <a:r>
              <a:rPr lang="en-US" sz="1600" b="1" dirty="0">
                <a:solidFill>
                  <a:srgbClr val="0E3A52"/>
                </a:solidFill>
                <a:latin typeface="Calibri" pitchFamily="34" charset="0"/>
                <a:ea typeface="Calibri" pitchFamily="34" charset="-122"/>
                <a:cs typeface="Calibri" pitchFamily="34" charset="-120"/>
              </a:rPr>
              <a:t>Per-event scoring</a:t>
            </a:r>
            <a:endParaRPr lang="en-US" sz="1600" dirty="0"/>
          </a:p>
        </p:txBody>
      </p:sp>
      <p:sp>
        <p:nvSpPr>
          <p:cNvPr id="6" name="Shape 4"/>
          <p:cNvSpPr/>
          <p:nvPr/>
        </p:nvSpPr>
        <p:spPr>
          <a:xfrm>
            <a:off x="4434840" y="1280160"/>
            <a:ext cx="3657600" cy="457200"/>
          </a:xfrm>
          <a:prstGeom prst="rect">
            <a:avLst/>
          </a:prstGeom>
          <a:solidFill>
            <a:srgbClr val="F2F5F8"/>
          </a:solidFill>
          <a:ln w="6350">
            <a:solidFill>
              <a:srgbClr val="E2E8EE"/>
            </a:solidFill>
            <a:prstDash val="solid"/>
          </a:ln>
        </p:spPr>
        <p:txBody>
          <a:bodyPr/>
          <a:lstStyle/>
          <a:p>
            <a:endParaRPr lang="en-IE"/>
          </a:p>
        </p:txBody>
      </p:sp>
      <p:sp>
        <p:nvSpPr>
          <p:cNvPr id="7" name="Shape 5"/>
          <p:cNvSpPr/>
          <p:nvPr/>
        </p:nvSpPr>
        <p:spPr>
          <a:xfrm>
            <a:off x="4434840" y="1280160"/>
            <a:ext cx="109728" cy="457200"/>
          </a:xfrm>
          <a:prstGeom prst="rect">
            <a:avLst/>
          </a:prstGeom>
          <a:solidFill>
            <a:srgbClr val="2E7D32"/>
          </a:solidFill>
          <a:ln/>
        </p:spPr>
        <p:txBody>
          <a:bodyPr/>
          <a:lstStyle/>
          <a:p>
            <a:endParaRPr lang="en-IE"/>
          </a:p>
        </p:txBody>
      </p:sp>
      <p:sp>
        <p:nvSpPr>
          <p:cNvPr id="8" name="Text 6"/>
          <p:cNvSpPr/>
          <p:nvPr/>
        </p:nvSpPr>
        <p:spPr>
          <a:xfrm>
            <a:off x="4617720" y="1280160"/>
            <a:ext cx="2286000" cy="457200"/>
          </a:xfrm>
          <a:prstGeom prst="rect">
            <a:avLst/>
          </a:prstGeom>
          <a:noFill/>
          <a:ln/>
        </p:spPr>
        <p:txBody>
          <a:bodyPr wrap="square" lIns="0" tIns="0" rIns="0" bIns="0" rtlCol="0" anchor="ctr"/>
          <a:lstStyle/>
          <a:p>
            <a:pPr marL="0" indent="0">
              <a:buNone/>
            </a:pPr>
            <a:r>
              <a:rPr lang="en-US" sz="1600" b="1" dirty="0">
                <a:solidFill>
                  <a:srgbClr val="0E3A52"/>
                </a:solidFill>
                <a:latin typeface="Calibri" pitchFamily="34" charset="0"/>
                <a:ea typeface="Calibri" pitchFamily="34" charset="-122"/>
                <a:cs typeface="Calibri" pitchFamily="34" charset="-120"/>
              </a:rPr>
              <a:t>Safe</a:t>
            </a:r>
            <a:endParaRPr lang="en-US" sz="1600" dirty="0"/>
          </a:p>
        </p:txBody>
      </p:sp>
      <p:sp>
        <p:nvSpPr>
          <p:cNvPr id="9" name="Text 7"/>
          <p:cNvSpPr/>
          <p:nvPr/>
        </p:nvSpPr>
        <p:spPr>
          <a:xfrm>
            <a:off x="6858000" y="1280160"/>
            <a:ext cx="1188720" cy="457200"/>
          </a:xfrm>
          <a:prstGeom prst="rect">
            <a:avLst/>
          </a:prstGeom>
          <a:noFill/>
          <a:ln/>
        </p:spPr>
        <p:txBody>
          <a:bodyPr wrap="square" lIns="0" tIns="0" rIns="0" bIns="0" rtlCol="0" anchor="ctr"/>
          <a:lstStyle/>
          <a:p>
            <a:pPr marL="0" indent="0" algn="r">
              <a:buNone/>
            </a:pPr>
            <a:r>
              <a:rPr lang="en-US" sz="1600" b="1" dirty="0">
                <a:solidFill>
                  <a:srgbClr val="2E7D32"/>
                </a:solidFill>
                <a:latin typeface="Calibri" pitchFamily="34" charset="0"/>
                <a:ea typeface="Calibri" pitchFamily="34" charset="-122"/>
                <a:cs typeface="Calibri" pitchFamily="34" charset="-120"/>
              </a:rPr>
              <a:t>+10</a:t>
            </a:r>
            <a:endParaRPr lang="en-US" sz="1600" dirty="0"/>
          </a:p>
        </p:txBody>
      </p:sp>
      <p:sp>
        <p:nvSpPr>
          <p:cNvPr id="10" name="Shape 8"/>
          <p:cNvSpPr/>
          <p:nvPr/>
        </p:nvSpPr>
        <p:spPr>
          <a:xfrm>
            <a:off x="4434840" y="1783080"/>
            <a:ext cx="3657600" cy="457200"/>
          </a:xfrm>
          <a:prstGeom prst="rect">
            <a:avLst/>
          </a:prstGeom>
          <a:solidFill>
            <a:srgbClr val="FFFFFF"/>
          </a:solidFill>
          <a:ln w="6350">
            <a:solidFill>
              <a:srgbClr val="E2E8EE"/>
            </a:solidFill>
            <a:prstDash val="solid"/>
          </a:ln>
        </p:spPr>
        <p:txBody>
          <a:bodyPr/>
          <a:lstStyle/>
          <a:p>
            <a:endParaRPr lang="en-IE"/>
          </a:p>
        </p:txBody>
      </p:sp>
      <p:sp>
        <p:nvSpPr>
          <p:cNvPr id="11" name="Shape 9"/>
          <p:cNvSpPr/>
          <p:nvPr/>
        </p:nvSpPr>
        <p:spPr>
          <a:xfrm>
            <a:off x="4434840" y="1783080"/>
            <a:ext cx="109728" cy="457200"/>
          </a:xfrm>
          <a:prstGeom prst="rect">
            <a:avLst/>
          </a:prstGeom>
          <a:solidFill>
            <a:srgbClr val="1565C0"/>
          </a:solidFill>
          <a:ln/>
        </p:spPr>
        <p:txBody>
          <a:bodyPr/>
          <a:lstStyle/>
          <a:p>
            <a:endParaRPr lang="en-IE"/>
          </a:p>
        </p:txBody>
      </p:sp>
      <p:sp>
        <p:nvSpPr>
          <p:cNvPr id="12" name="Text 10"/>
          <p:cNvSpPr/>
          <p:nvPr/>
        </p:nvSpPr>
        <p:spPr>
          <a:xfrm>
            <a:off x="4617720" y="1783080"/>
            <a:ext cx="2286000" cy="457200"/>
          </a:xfrm>
          <a:prstGeom prst="rect">
            <a:avLst/>
          </a:prstGeom>
          <a:noFill/>
          <a:ln/>
        </p:spPr>
        <p:txBody>
          <a:bodyPr wrap="square" lIns="0" tIns="0" rIns="0" bIns="0" rtlCol="0" anchor="ctr"/>
          <a:lstStyle/>
          <a:p>
            <a:pPr marL="0" indent="0">
              <a:buNone/>
            </a:pPr>
            <a:r>
              <a:rPr lang="en-US" sz="1600" b="1" dirty="0">
                <a:solidFill>
                  <a:srgbClr val="0E3A52"/>
                </a:solidFill>
                <a:latin typeface="Calibri" pitchFamily="34" charset="0"/>
                <a:ea typeface="Calibri" pitchFamily="34" charset="-122"/>
                <a:cs typeface="Calibri" pitchFamily="34" charset="-120"/>
              </a:rPr>
              <a:t>Turn</a:t>
            </a:r>
            <a:endParaRPr lang="en-US" sz="1600" dirty="0"/>
          </a:p>
        </p:txBody>
      </p:sp>
      <p:sp>
        <p:nvSpPr>
          <p:cNvPr id="13" name="Text 11"/>
          <p:cNvSpPr/>
          <p:nvPr/>
        </p:nvSpPr>
        <p:spPr>
          <a:xfrm>
            <a:off x="6858000" y="1783080"/>
            <a:ext cx="1188720" cy="457200"/>
          </a:xfrm>
          <a:prstGeom prst="rect">
            <a:avLst/>
          </a:prstGeom>
          <a:noFill/>
          <a:ln/>
        </p:spPr>
        <p:txBody>
          <a:bodyPr wrap="square" lIns="0" tIns="0" rIns="0" bIns="0" rtlCol="0" anchor="ctr"/>
          <a:lstStyle/>
          <a:p>
            <a:pPr marL="0" indent="0" algn="r">
              <a:buNone/>
            </a:pPr>
            <a:r>
              <a:rPr lang="en-US" sz="1600" b="1" dirty="0">
                <a:solidFill>
                  <a:srgbClr val="1565C0"/>
                </a:solidFill>
                <a:latin typeface="Calibri" pitchFamily="34" charset="0"/>
                <a:ea typeface="Calibri" pitchFamily="34" charset="-122"/>
                <a:cs typeface="Calibri" pitchFamily="34" charset="-120"/>
              </a:rPr>
              <a:t>+5</a:t>
            </a:r>
            <a:endParaRPr lang="en-US" sz="1600" dirty="0"/>
          </a:p>
        </p:txBody>
      </p:sp>
      <p:sp>
        <p:nvSpPr>
          <p:cNvPr id="14" name="Shape 12"/>
          <p:cNvSpPr/>
          <p:nvPr/>
        </p:nvSpPr>
        <p:spPr>
          <a:xfrm>
            <a:off x="4434840" y="2286000"/>
            <a:ext cx="3657600" cy="457200"/>
          </a:xfrm>
          <a:prstGeom prst="rect">
            <a:avLst/>
          </a:prstGeom>
          <a:solidFill>
            <a:srgbClr val="F2F5F8"/>
          </a:solidFill>
          <a:ln w="6350">
            <a:solidFill>
              <a:srgbClr val="E2E8EE"/>
            </a:solidFill>
            <a:prstDash val="solid"/>
          </a:ln>
        </p:spPr>
        <p:txBody>
          <a:bodyPr/>
          <a:lstStyle/>
          <a:p>
            <a:endParaRPr lang="en-IE"/>
          </a:p>
        </p:txBody>
      </p:sp>
      <p:sp>
        <p:nvSpPr>
          <p:cNvPr id="15" name="Shape 13"/>
          <p:cNvSpPr/>
          <p:nvPr/>
        </p:nvSpPr>
        <p:spPr>
          <a:xfrm>
            <a:off x="4434840" y="2286000"/>
            <a:ext cx="109728" cy="457200"/>
          </a:xfrm>
          <a:prstGeom prst="rect">
            <a:avLst/>
          </a:prstGeom>
          <a:solidFill>
            <a:srgbClr val="F57F17"/>
          </a:solidFill>
          <a:ln/>
        </p:spPr>
        <p:txBody>
          <a:bodyPr/>
          <a:lstStyle/>
          <a:p>
            <a:endParaRPr lang="en-IE"/>
          </a:p>
        </p:txBody>
      </p:sp>
      <p:sp>
        <p:nvSpPr>
          <p:cNvPr id="16" name="Text 14"/>
          <p:cNvSpPr/>
          <p:nvPr/>
        </p:nvSpPr>
        <p:spPr>
          <a:xfrm>
            <a:off x="4617720" y="2286000"/>
            <a:ext cx="2286000" cy="457200"/>
          </a:xfrm>
          <a:prstGeom prst="rect">
            <a:avLst/>
          </a:prstGeom>
          <a:noFill/>
          <a:ln/>
        </p:spPr>
        <p:txBody>
          <a:bodyPr wrap="square" lIns="0" tIns="0" rIns="0" bIns="0" rtlCol="0" anchor="ctr"/>
          <a:lstStyle/>
          <a:p>
            <a:pPr marL="0" indent="0">
              <a:buNone/>
            </a:pPr>
            <a:r>
              <a:rPr lang="en-US" sz="1600" b="1" dirty="0">
                <a:solidFill>
                  <a:srgbClr val="0E3A52"/>
                </a:solidFill>
                <a:latin typeface="Calibri" pitchFamily="34" charset="0"/>
                <a:ea typeface="Calibri" pitchFamily="34" charset="-122"/>
                <a:cs typeface="Calibri" pitchFamily="34" charset="-120"/>
              </a:rPr>
              <a:t>Other</a:t>
            </a:r>
            <a:endParaRPr lang="en-US" sz="1600" dirty="0"/>
          </a:p>
        </p:txBody>
      </p:sp>
      <p:sp>
        <p:nvSpPr>
          <p:cNvPr id="17" name="Text 15"/>
          <p:cNvSpPr/>
          <p:nvPr/>
        </p:nvSpPr>
        <p:spPr>
          <a:xfrm>
            <a:off x="6858000" y="2286000"/>
            <a:ext cx="1188720" cy="457200"/>
          </a:xfrm>
          <a:prstGeom prst="rect">
            <a:avLst/>
          </a:prstGeom>
          <a:noFill/>
          <a:ln/>
        </p:spPr>
        <p:txBody>
          <a:bodyPr wrap="square" lIns="0" tIns="0" rIns="0" bIns="0" rtlCol="0" anchor="ctr"/>
          <a:lstStyle/>
          <a:p>
            <a:pPr marL="0" indent="0" algn="r">
              <a:buNone/>
            </a:pPr>
            <a:r>
              <a:rPr lang="en-US" sz="1600" b="1" dirty="0">
                <a:solidFill>
                  <a:srgbClr val="F57F17"/>
                </a:solidFill>
                <a:latin typeface="Calibri" pitchFamily="34" charset="0"/>
                <a:ea typeface="Calibri" pitchFamily="34" charset="-122"/>
                <a:cs typeface="Calibri" pitchFamily="34" charset="-120"/>
              </a:rPr>
              <a:t>-2</a:t>
            </a:r>
            <a:endParaRPr lang="en-US" sz="1600" dirty="0"/>
          </a:p>
        </p:txBody>
      </p:sp>
      <p:sp>
        <p:nvSpPr>
          <p:cNvPr id="18" name="Shape 16"/>
          <p:cNvSpPr/>
          <p:nvPr/>
        </p:nvSpPr>
        <p:spPr>
          <a:xfrm>
            <a:off x="4434840" y="2788920"/>
            <a:ext cx="3657600" cy="457200"/>
          </a:xfrm>
          <a:prstGeom prst="rect">
            <a:avLst/>
          </a:prstGeom>
          <a:solidFill>
            <a:srgbClr val="FFFFFF"/>
          </a:solidFill>
          <a:ln w="6350">
            <a:solidFill>
              <a:srgbClr val="E2E8EE"/>
            </a:solidFill>
            <a:prstDash val="solid"/>
          </a:ln>
        </p:spPr>
        <p:txBody>
          <a:bodyPr/>
          <a:lstStyle/>
          <a:p>
            <a:endParaRPr lang="en-IE"/>
          </a:p>
        </p:txBody>
      </p:sp>
      <p:sp>
        <p:nvSpPr>
          <p:cNvPr id="19" name="Shape 17"/>
          <p:cNvSpPr/>
          <p:nvPr/>
        </p:nvSpPr>
        <p:spPr>
          <a:xfrm>
            <a:off x="4434840" y="2788920"/>
            <a:ext cx="109728" cy="457200"/>
          </a:xfrm>
          <a:prstGeom prst="rect">
            <a:avLst/>
          </a:prstGeom>
          <a:solidFill>
            <a:srgbClr val="E65100"/>
          </a:solidFill>
          <a:ln/>
        </p:spPr>
        <p:txBody>
          <a:bodyPr/>
          <a:lstStyle/>
          <a:p>
            <a:endParaRPr lang="en-IE"/>
          </a:p>
        </p:txBody>
      </p:sp>
      <p:sp>
        <p:nvSpPr>
          <p:cNvPr id="20" name="Text 18"/>
          <p:cNvSpPr/>
          <p:nvPr/>
        </p:nvSpPr>
        <p:spPr>
          <a:xfrm>
            <a:off x="4617720" y="2788920"/>
            <a:ext cx="2286000" cy="457200"/>
          </a:xfrm>
          <a:prstGeom prst="rect">
            <a:avLst/>
          </a:prstGeom>
          <a:noFill/>
          <a:ln/>
        </p:spPr>
        <p:txBody>
          <a:bodyPr wrap="square" lIns="0" tIns="0" rIns="0" bIns="0" rtlCol="0" anchor="ctr"/>
          <a:lstStyle/>
          <a:p>
            <a:pPr marL="0" indent="0">
              <a:buNone/>
            </a:pPr>
            <a:r>
              <a:rPr lang="en-US" sz="1600" b="1" dirty="0">
                <a:solidFill>
                  <a:srgbClr val="0E3A52"/>
                </a:solidFill>
                <a:latin typeface="Calibri" pitchFamily="34" charset="0"/>
                <a:ea typeface="Calibri" pitchFamily="34" charset="-122"/>
                <a:cs typeface="Calibri" pitchFamily="34" charset="-120"/>
              </a:rPr>
              <a:t>Talking</a:t>
            </a:r>
            <a:endParaRPr lang="en-US" sz="1600" dirty="0"/>
          </a:p>
        </p:txBody>
      </p:sp>
      <p:sp>
        <p:nvSpPr>
          <p:cNvPr id="21" name="Text 19"/>
          <p:cNvSpPr/>
          <p:nvPr/>
        </p:nvSpPr>
        <p:spPr>
          <a:xfrm>
            <a:off x="6858000" y="2788920"/>
            <a:ext cx="1188720" cy="457200"/>
          </a:xfrm>
          <a:prstGeom prst="rect">
            <a:avLst/>
          </a:prstGeom>
          <a:noFill/>
          <a:ln/>
        </p:spPr>
        <p:txBody>
          <a:bodyPr wrap="square" lIns="0" tIns="0" rIns="0" bIns="0" rtlCol="0" anchor="ctr"/>
          <a:lstStyle/>
          <a:p>
            <a:pPr marL="0" indent="0" algn="r">
              <a:buNone/>
            </a:pPr>
            <a:r>
              <a:rPr lang="en-US" sz="1600" b="1" dirty="0">
                <a:solidFill>
                  <a:srgbClr val="E65100"/>
                </a:solidFill>
                <a:latin typeface="Calibri" pitchFamily="34" charset="0"/>
                <a:ea typeface="Calibri" pitchFamily="34" charset="-122"/>
                <a:cs typeface="Calibri" pitchFamily="34" charset="-120"/>
              </a:rPr>
              <a:t>-5</a:t>
            </a:r>
            <a:endParaRPr lang="en-US" sz="1600" dirty="0"/>
          </a:p>
        </p:txBody>
      </p:sp>
      <p:sp>
        <p:nvSpPr>
          <p:cNvPr id="22" name="Shape 20"/>
          <p:cNvSpPr/>
          <p:nvPr/>
        </p:nvSpPr>
        <p:spPr>
          <a:xfrm>
            <a:off x="4434840" y="3291840"/>
            <a:ext cx="3657600" cy="457200"/>
          </a:xfrm>
          <a:prstGeom prst="rect">
            <a:avLst/>
          </a:prstGeom>
          <a:solidFill>
            <a:srgbClr val="F2F5F8"/>
          </a:solidFill>
          <a:ln w="6350">
            <a:solidFill>
              <a:srgbClr val="E2E8EE"/>
            </a:solidFill>
            <a:prstDash val="solid"/>
          </a:ln>
        </p:spPr>
        <p:txBody>
          <a:bodyPr/>
          <a:lstStyle/>
          <a:p>
            <a:endParaRPr lang="en-IE"/>
          </a:p>
        </p:txBody>
      </p:sp>
      <p:sp>
        <p:nvSpPr>
          <p:cNvPr id="23" name="Shape 21"/>
          <p:cNvSpPr/>
          <p:nvPr/>
        </p:nvSpPr>
        <p:spPr>
          <a:xfrm>
            <a:off x="4434840" y="3291840"/>
            <a:ext cx="109728" cy="457200"/>
          </a:xfrm>
          <a:prstGeom prst="rect">
            <a:avLst/>
          </a:prstGeom>
          <a:solidFill>
            <a:srgbClr val="C62828"/>
          </a:solidFill>
          <a:ln/>
        </p:spPr>
        <p:txBody>
          <a:bodyPr/>
          <a:lstStyle/>
          <a:p>
            <a:endParaRPr lang="en-IE"/>
          </a:p>
        </p:txBody>
      </p:sp>
      <p:sp>
        <p:nvSpPr>
          <p:cNvPr id="24" name="Text 22"/>
          <p:cNvSpPr/>
          <p:nvPr/>
        </p:nvSpPr>
        <p:spPr>
          <a:xfrm>
            <a:off x="4617720" y="3291840"/>
            <a:ext cx="2286000" cy="457200"/>
          </a:xfrm>
          <a:prstGeom prst="rect">
            <a:avLst/>
          </a:prstGeom>
          <a:noFill/>
          <a:ln/>
        </p:spPr>
        <p:txBody>
          <a:bodyPr wrap="square" lIns="0" tIns="0" rIns="0" bIns="0" rtlCol="0" anchor="ctr"/>
          <a:lstStyle/>
          <a:p>
            <a:pPr marL="0" indent="0">
              <a:buNone/>
            </a:pPr>
            <a:r>
              <a:rPr lang="en-US" sz="1600" b="1" dirty="0">
                <a:solidFill>
                  <a:srgbClr val="0E3A52"/>
                </a:solidFill>
                <a:latin typeface="Calibri" pitchFamily="34" charset="0"/>
                <a:ea typeface="Calibri" pitchFamily="34" charset="-122"/>
                <a:cs typeface="Calibri" pitchFamily="34" charset="-120"/>
              </a:rPr>
              <a:t>Texting</a:t>
            </a:r>
            <a:endParaRPr lang="en-US" sz="1600" dirty="0"/>
          </a:p>
        </p:txBody>
      </p:sp>
      <p:sp>
        <p:nvSpPr>
          <p:cNvPr id="25" name="Text 23"/>
          <p:cNvSpPr/>
          <p:nvPr/>
        </p:nvSpPr>
        <p:spPr>
          <a:xfrm>
            <a:off x="6858000" y="3291840"/>
            <a:ext cx="1188720" cy="457200"/>
          </a:xfrm>
          <a:prstGeom prst="rect">
            <a:avLst/>
          </a:prstGeom>
          <a:noFill/>
          <a:ln/>
        </p:spPr>
        <p:txBody>
          <a:bodyPr wrap="square" lIns="0" tIns="0" rIns="0" bIns="0" rtlCol="0" anchor="ctr"/>
          <a:lstStyle/>
          <a:p>
            <a:pPr marL="0" indent="0" algn="r">
              <a:buNone/>
            </a:pPr>
            <a:r>
              <a:rPr lang="en-US" sz="1600" b="1" dirty="0">
                <a:solidFill>
                  <a:srgbClr val="C62828"/>
                </a:solidFill>
                <a:latin typeface="Calibri" pitchFamily="34" charset="0"/>
                <a:ea typeface="Calibri" pitchFamily="34" charset="-122"/>
                <a:cs typeface="Calibri" pitchFamily="34" charset="-120"/>
              </a:rPr>
              <a:t>-10</a:t>
            </a:r>
            <a:endParaRPr lang="en-US" sz="1600" dirty="0"/>
          </a:p>
        </p:txBody>
      </p:sp>
      <p:sp>
        <p:nvSpPr>
          <p:cNvPr id="26" name="Shape 24"/>
          <p:cNvSpPr/>
          <p:nvPr/>
        </p:nvSpPr>
        <p:spPr>
          <a:xfrm>
            <a:off x="8458200" y="1234440"/>
            <a:ext cx="3246120" cy="2606040"/>
          </a:xfrm>
          <a:prstGeom prst="rect">
            <a:avLst/>
          </a:prstGeom>
          <a:solidFill>
            <a:srgbClr val="F2F5F8"/>
          </a:solidFill>
          <a:ln w="12700">
            <a:solidFill>
              <a:srgbClr val="D4DCE3"/>
            </a:solidFill>
            <a:prstDash val="solid"/>
          </a:ln>
        </p:spPr>
        <p:txBody>
          <a:bodyPr/>
          <a:lstStyle/>
          <a:p>
            <a:endParaRPr lang="en-IE"/>
          </a:p>
        </p:txBody>
      </p:sp>
      <p:sp>
        <p:nvSpPr>
          <p:cNvPr id="27" name="Text 25"/>
          <p:cNvSpPr/>
          <p:nvPr/>
        </p:nvSpPr>
        <p:spPr>
          <a:xfrm>
            <a:off x="8595360" y="1325880"/>
            <a:ext cx="3017520" cy="2514600"/>
          </a:xfrm>
          <a:prstGeom prst="rect">
            <a:avLst/>
          </a:prstGeom>
          <a:noFill/>
          <a:ln/>
        </p:spPr>
        <p:txBody>
          <a:bodyPr wrap="square" lIns="0" tIns="0" rIns="0" bIns="0" rtlCol="0" anchor="t"/>
          <a:lstStyle/>
          <a:p>
            <a:pPr marL="0" indent="0">
              <a:buNone/>
            </a:pPr>
            <a:r>
              <a:rPr lang="en-US" sz="1500" b="1" dirty="0">
                <a:solidFill>
                  <a:srgbClr val="0E3A52"/>
                </a:solidFill>
              </a:rPr>
              <a:t>5-frame agre</a:t>
            </a:r>
            <a:r>
              <a:rPr lang="en-US" sz="1500" b="1" dirty="0">
                <a:solidFill>
                  <a:schemeClr val="tx2">
                    <a:lumMod val="90000"/>
                    <a:lumOff val="10000"/>
                  </a:schemeClr>
                </a:solidFill>
              </a:rPr>
              <a:t>emen</a:t>
            </a:r>
            <a:r>
              <a:rPr lang="en-US" sz="1500" b="1" dirty="0">
                <a:solidFill>
                  <a:srgbClr val="0E3A52"/>
                </a:solidFill>
              </a:rPr>
              <a:t>t</a:t>
            </a:r>
            <a:endParaRPr lang="en-US" sz="1500" dirty="0"/>
          </a:p>
          <a:p>
            <a:pPr marL="0" indent="0">
              <a:buNone/>
            </a:pPr>
            <a:r>
              <a:rPr lang="en-US" sz="1200" dirty="0">
                <a:solidFill>
                  <a:srgbClr val="262626"/>
                </a:solidFill>
              </a:rPr>
              <a:t>An event is only logged when the last 5 predictions all agree, and only if the label is new. Cuts noise drastically: a one-second commitment gate.</a:t>
            </a:r>
            <a:endParaRPr lang="en-US" sz="1500" dirty="0"/>
          </a:p>
        </p:txBody>
      </p:sp>
      <p:sp>
        <p:nvSpPr>
          <p:cNvPr id="28" name="Shape 26"/>
          <p:cNvSpPr/>
          <p:nvPr/>
        </p:nvSpPr>
        <p:spPr>
          <a:xfrm>
            <a:off x="4434840" y="4846320"/>
            <a:ext cx="7269480" cy="1463040"/>
          </a:xfrm>
          <a:prstGeom prst="rect">
            <a:avLst/>
          </a:prstGeom>
          <a:solidFill>
            <a:srgbClr val="0E3A52"/>
          </a:solidFill>
          <a:ln/>
        </p:spPr>
        <p:txBody>
          <a:bodyPr/>
          <a:lstStyle/>
          <a:p>
            <a:endParaRPr lang="en-IE"/>
          </a:p>
        </p:txBody>
      </p:sp>
      <p:sp>
        <p:nvSpPr>
          <p:cNvPr id="29" name="Text 27"/>
          <p:cNvSpPr/>
          <p:nvPr/>
        </p:nvSpPr>
        <p:spPr>
          <a:xfrm>
            <a:off x="4617720" y="4937760"/>
            <a:ext cx="6903720" cy="1280160"/>
          </a:xfrm>
          <a:prstGeom prst="rect">
            <a:avLst/>
          </a:prstGeom>
          <a:noFill/>
          <a:ln/>
        </p:spPr>
        <p:txBody>
          <a:bodyPr wrap="square" lIns="0" tIns="0" rIns="0" bIns="0" rtlCol="0" anchor="t"/>
          <a:lstStyle/>
          <a:p>
            <a:pPr marL="0" indent="0">
              <a:buNone/>
            </a:pPr>
            <a:r>
              <a:rPr lang="en-US" sz="1600" b="1" dirty="0">
                <a:solidFill>
                  <a:srgbClr val="FFFFFF"/>
                </a:solidFill>
              </a:rPr>
              <a:t>Throughput on the Pi 5</a:t>
            </a:r>
            <a:endParaRPr lang="en-US" sz="1600" dirty="0"/>
          </a:p>
          <a:p>
            <a:pPr marL="0" indent="0">
              <a:buNone/>
            </a:pPr>
            <a:r>
              <a:rPr lang="en-US" sz="600" dirty="0">
                <a:solidFill>
                  <a:srgbClr val="000000"/>
                </a:solidFill>
              </a:rPr>
              <a:t> </a:t>
            </a:r>
            <a:endParaRPr lang="en-US" sz="1600" dirty="0"/>
          </a:p>
          <a:p>
            <a:pPr marL="0" indent="0">
              <a:buNone/>
            </a:pPr>
            <a:r>
              <a:rPr lang="en-US" sz="1300" dirty="0">
                <a:solidFill>
                  <a:srgbClr val="FFFFFF"/>
                </a:solidFill>
              </a:rPr>
              <a:t>~10 fps capture, classification on every other frame (~5 Hz inference) - best-effort alert posted to Express on a background thread so dangerous behaviours surface immediately.</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1417320"/>
          </a:xfrm>
          <a:prstGeom prst="rect">
            <a:avLst/>
          </a:prstGeom>
          <a:solidFill>
            <a:srgbClr val="0E3A52"/>
          </a:solidFill>
          <a:ln/>
        </p:spPr>
        <p:txBody>
          <a:bodyPr/>
          <a:lstStyle/>
          <a:p>
            <a:endParaRPr lang="en-IE"/>
          </a:p>
        </p:txBody>
      </p:sp>
      <p:sp>
        <p:nvSpPr>
          <p:cNvPr id="3" name="Shape 1"/>
          <p:cNvSpPr/>
          <p:nvPr/>
        </p:nvSpPr>
        <p:spPr>
          <a:xfrm>
            <a:off x="8046519" y="0"/>
            <a:ext cx="1584920" cy="1417320"/>
          </a:xfrm>
          <a:prstGeom prst="rect">
            <a:avLst/>
          </a:prstGeom>
          <a:solidFill>
            <a:srgbClr val="1A5A7A">
              <a:alpha val="40000"/>
            </a:srgbClr>
          </a:solidFill>
          <a:ln/>
        </p:spPr>
        <p:txBody>
          <a:bodyPr/>
          <a:lstStyle/>
          <a:p>
            <a:endParaRPr lang="en-IE"/>
          </a:p>
        </p:txBody>
      </p:sp>
      <p:sp>
        <p:nvSpPr>
          <p:cNvPr id="4" name="Text 2"/>
          <p:cNvSpPr/>
          <p:nvPr/>
        </p:nvSpPr>
        <p:spPr>
          <a:xfrm>
            <a:off x="502920" y="228600"/>
            <a:ext cx="11185855" cy="960120"/>
          </a:xfrm>
          <a:prstGeom prst="rect">
            <a:avLst/>
          </a:prstGeom>
          <a:noFill/>
          <a:ln/>
        </p:spPr>
        <p:txBody>
          <a:bodyPr wrap="square" lIns="0" tIns="0" rIns="0" bIns="0" rtlCol="0" anchor="ctr"/>
          <a:lstStyle/>
          <a:p>
            <a:pPr marL="0" indent="0">
              <a:buNone/>
            </a:pPr>
            <a:r>
              <a:rPr lang="en-US" sz="4000" dirty="0">
                <a:solidFill>
                  <a:srgbClr val="FFFFFF"/>
                </a:solidFill>
                <a:latin typeface="Calibri Light" pitchFamily="34" charset="0"/>
                <a:ea typeface="Calibri Light" pitchFamily="34" charset="-122"/>
                <a:cs typeface="Calibri Light" pitchFamily="34" charset="-120"/>
              </a:rPr>
              <a:t>Web Stack</a:t>
            </a:r>
            <a:endParaRPr lang="en-US" sz="4000" dirty="0"/>
          </a:p>
        </p:txBody>
      </p:sp>
      <p:sp>
        <p:nvSpPr>
          <p:cNvPr id="5" name="Shape 3"/>
          <p:cNvSpPr/>
          <p:nvPr/>
        </p:nvSpPr>
        <p:spPr>
          <a:xfrm>
            <a:off x="548640" y="1783080"/>
            <a:ext cx="5532120" cy="4434840"/>
          </a:xfrm>
          <a:prstGeom prst="rect">
            <a:avLst/>
          </a:prstGeom>
          <a:solidFill>
            <a:srgbClr val="F2F5F8"/>
          </a:solidFill>
          <a:ln w="12700">
            <a:solidFill>
              <a:srgbClr val="D4DCE3"/>
            </a:solidFill>
            <a:prstDash val="solid"/>
          </a:ln>
        </p:spPr>
        <p:txBody>
          <a:bodyPr/>
          <a:lstStyle/>
          <a:p>
            <a:endParaRPr lang="en-IE"/>
          </a:p>
        </p:txBody>
      </p:sp>
      <p:sp>
        <p:nvSpPr>
          <p:cNvPr id="6" name="Shape 4"/>
          <p:cNvSpPr/>
          <p:nvPr/>
        </p:nvSpPr>
        <p:spPr>
          <a:xfrm>
            <a:off x="548640" y="1783080"/>
            <a:ext cx="5532120" cy="502920"/>
          </a:xfrm>
          <a:prstGeom prst="rect">
            <a:avLst/>
          </a:prstGeom>
          <a:solidFill>
            <a:srgbClr val="0E3A52"/>
          </a:solidFill>
          <a:ln/>
        </p:spPr>
        <p:txBody>
          <a:bodyPr/>
          <a:lstStyle/>
          <a:p>
            <a:endParaRPr lang="en-IE"/>
          </a:p>
        </p:txBody>
      </p:sp>
      <p:sp>
        <p:nvSpPr>
          <p:cNvPr id="7" name="Text 5"/>
          <p:cNvSpPr/>
          <p:nvPr/>
        </p:nvSpPr>
        <p:spPr>
          <a:xfrm>
            <a:off x="685800" y="1783080"/>
            <a:ext cx="5349240" cy="5029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Express API  -  Node.js  -  Mongoose</a:t>
            </a:r>
            <a:endParaRPr lang="en-US" sz="1600" dirty="0"/>
          </a:p>
        </p:txBody>
      </p:sp>
      <p:sp>
        <p:nvSpPr>
          <p:cNvPr id="8" name="Text 6"/>
          <p:cNvSpPr/>
          <p:nvPr/>
        </p:nvSpPr>
        <p:spPr>
          <a:xfrm>
            <a:off x="777240" y="2377440"/>
            <a:ext cx="5074920" cy="3794760"/>
          </a:xfrm>
          <a:prstGeom prst="rect">
            <a:avLst/>
          </a:prstGeom>
          <a:noFill/>
          <a:ln/>
        </p:spPr>
        <p:txBody>
          <a:bodyPr wrap="square" lIns="0" tIns="0" rIns="0" bIns="0" rtlCol="0" anchor="t"/>
          <a:lstStyle/>
          <a:p>
            <a:pPr marL="0" indent="0">
              <a:spcAft>
                <a:spcPts val="100"/>
              </a:spcAft>
              <a:buNone/>
            </a:pPr>
            <a:r>
              <a:rPr lang="en-US" sz="1400" b="1" dirty="0">
                <a:solidFill>
                  <a:srgbClr val="0E3A52"/>
                </a:solidFill>
              </a:rPr>
              <a:t>POST /register</a:t>
            </a:r>
            <a:endParaRPr lang="en-US" sz="1400" dirty="0"/>
          </a:p>
          <a:p>
            <a:pPr marL="0" indent="0">
              <a:spcAft>
                <a:spcPts val="100"/>
              </a:spcAft>
              <a:buNone/>
            </a:pPr>
            <a:r>
              <a:rPr lang="en-US" sz="1200" dirty="0">
                <a:solidFill>
                  <a:srgbClr val="262626"/>
                </a:solidFill>
              </a:rPr>
              <a:t>bcrypt-hashed passwords, 10 salt rounds</a:t>
            </a:r>
            <a:endParaRPr lang="en-US" sz="1400" dirty="0"/>
          </a:p>
          <a:p>
            <a:pPr marL="0" indent="0">
              <a:spcAft>
                <a:spcPts val="100"/>
              </a:spcAft>
              <a:buNone/>
            </a:pPr>
            <a:r>
              <a:rPr lang="en-US" sz="600" dirty="0">
                <a:solidFill>
                  <a:srgbClr val="000000"/>
                </a:solidFill>
              </a:rPr>
              <a:t> </a:t>
            </a:r>
            <a:endParaRPr lang="en-US" sz="1400" dirty="0"/>
          </a:p>
          <a:p>
            <a:pPr marL="0" indent="0">
              <a:spcAft>
                <a:spcPts val="100"/>
              </a:spcAft>
              <a:buNone/>
            </a:pPr>
            <a:r>
              <a:rPr lang="en-US" sz="1400" b="1" dirty="0">
                <a:solidFill>
                  <a:srgbClr val="0E3A52"/>
                </a:solidFill>
              </a:rPr>
              <a:t>POST /facial-setup</a:t>
            </a:r>
            <a:endParaRPr lang="en-US" sz="1400" dirty="0"/>
          </a:p>
          <a:p>
            <a:pPr marL="0" indent="0">
              <a:spcAft>
                <a:spcPts val="100"/>
              </a:spcAft>
              <a:buNone/>
            </a:pPr>
            <a:r>
              <a:rPr lang="en-US" sz="1200" dirty="0">
                <a:solidFill>
                  <a:srgbClr val="262626"/>
                </a:solidFill>
              </a:rPr>
              <a:t>multer upload -&gt; ffmpeg fps=3, max 50 frames per user</a:t>
            </a:r>
            <a:endParaRPr lang="en-US" sz="1400" dirty="0"/>
          </a:p>
          <a:p>
            <a:pPr marL="0" indent="0">
              <a:spcAft>
                <a:spcPts val="100"/>
              </a:spcAft>
              <a:buNone/>
            </a:pPr>
            <a:r>
              <a:rPr lang="en-US" sz="600" dirty="0">
                <a:solidFill>
                  <a:srgbClr val="000000"/>
                </a:solidFill>
              </a:rPr>
              <a:t> </a:t>
            </a:r>
            <a:endParaRPr lang="en-US" sz="1400" dirty="0"/>
          </a:p>
          <a:p>
            <a:pPr marL="0" indent="0">
              <a:spcAft>
                <a:spcPts val="100"/>
              </a:spcAft>
              <a:buNone/>
            </a:pPr>
            <a:r>
              <a:rPr lang="en-US" sz="1400" b="1" dirty="0">
                <a:solidFill>
                  <a:srgbClr val="0E3A52"/>
                </a:solidFill>
              </a:rPr>
              <a:t>POST /login</a:t>
            </a:r>
            <a:endParaRPr lang="en-US" sz="1400" dirty="0"/>
          </a:p>
          <a:p>
            <a:pPr marL="0" indent="0">
              <a:spcAft>
                <a:spcPts val="100"/>
              </a:spcAft>
              <a:buNone/>
            </a:pPr>
            <a:r>
              <a:rPr lang="en-US" sz="1200" dirty="0">
                <a:solidFill>
                  <a:srgbClr val="262626"/>
                </a:solidFill>
              </a:rPr>
              <a:t>bcrypt.compare; on success the Pi is told via /set-user</a:t>
            </a:r>
            <a:endParaRPr lang="en-US" sz="1400" dirty="0"/>
          </a:p>
          <a:p>
            <a:pPr marL="0" indent="0">
              <a:spcAft>
                <a:spcPts val="100"/>
              </a:spcAft>
              <a:buNone/>
            </a:pPr>
            <a:r>
              <a:rPr lang="en-US" sz="600" dirty="0">
                <a:solidFill>
                  <a:srgbClr val="000000"/>
                </a:solidFill>
              </a:rPr>
              <a:t> </a:t>
            </a:r>
            <a:endParaRPr lang="en-US" sz="1400" dirty="0"/>
          </a:p>
          <a:p>
            <a:pPr marL="0" indent="0">
              <a:spcAft>
                <a:spcPts val="100"/>
              </a:spcAft>
              <a:buNone/>
            </a:pPr>
            <a:r>
              <a:rPr lang="en-US" sz="1400" b="1" dirty="0">
                <a:solidFill>
                  <a:srgbClr val="0E3A52"/>
                </a:solidFill>
              </a:rPr>
              <a:t>POST /api/alerts  -  GET/DELETE /api/alerts/:user</a:t>
            </a:r>
            <a:endParaRPr lang="en-US" sz="1400" dirty="0"/>
          </a:p>
          <a:p>
            <a:pPr marL="0" indent="0">
              <a:spcAft>
                <a:spcPts val="100"/>
              </a:spcAft>
              <a:buNone/>
            </a:pPr>
            <a:r>
              <a:rPr lang="en-US" sz="1200" dirty="0">
                <a:solidFill>
                  <a:srgbClr val="262626"/>
                </a:solidFill>
              </a:rPr>
              <a:t>real-time channel for dangerous-behaviour notifications</a:t>
            </a:r>
            <a:endParaRPr lang="en-US" sz="1400" dirty="0"/>
          </a:p>
          <a:p>
            <a:pPr marL="0" indent="0">
              <a:spcAft>
                <a:spcPts val="100"/>
              </a:spcAft>
              <a:buNone/>
            </a:pPr>
            <a:r>
              <a:rPr lang="en-US" sz="600" dirty="0">
                <a:solidFill>
                  <a:srgbClr val="000000"/>
                </a:solidFill>
              </a:rPr>
              <a:t> </a:t>
            </a:r>
            <a:endParaRPr lang="en-US" sz="1400" dirty="0"/>
          </a:p>
          <a:p>
            <a:pPr marL="0" indent="0">
              <a:spcAft>
                <a:spcPts val="100"/>
              </a:spcAft>
              <a:buNone/>
            </a:pPr>
            <a:r>
              <a:rPr lang="en-US" sz="1400" b="1" dirty="0">
                <a:solidFill>
                  <a:srgbClr val="0E3A52"/>
                </a:solidFill>
              </a:rPr>
              <a:t>GET /api/behavior-log  -  GET /api/leaderboard</a:t>
            </a:r>
            <a:endParaRPr lang="en-US" sz="1400" dirty="0"/>
          </a:p>
          <a:p>
            <a:pPr marL="0" indent="0">
              <a:spcAft>
                <a:spcPts val="100"/>
              </a:spcAft>
              <a:buNone/>
            </a:pPr>
            <a:r>
              <a:rPr lang="en-US" sz="1200" dirty="0">
                <a:solidFill>
                  <a:srgbClr val="262626"/>
                </a:solidFill>
              </a:rPr>
              <a:t>history + global ranking, both queried from the dashboard</a:t>
            </a:r>
            <a:endParaRPr lang="en-US" sz="1400" dirty="0"/>
          </a:p>
        </p:txBody>
      </p:sp>
      <p:sp>
        <p:nvSpPr>
          <p:cNvPr id="9" name="Shape 7"/>
          <p:cNvSpPr/>
          <p:nvPr/>
        </p:nvSpPr>
        <p:spPr>
          <a:xfrm>
            <a:off x="6263640" y="1783080"/>
            <a:ext cx="5349240" cy="4434840"/>
          </a:xfrm>
          <a:prstGeom prst="rect">
            <a:avLst/>
          </a:prstGeom>
          <a:solidFill>
            <a:srgbClr val="F2F5F8"/>
          </a:solidFill>
          <a:ln w="12700">
            <a:solidFill>
              <a:srgbClr val="D4DCE3"/>
            </a:solidFill>
            <a:prstDash val="solid"/>
          </a:ln>
        </p:spPr>
        <p:txBody>
          <a:bodyPr/>
          <a:lstStyle/>
          <a:p>
            <a:endParaRPr lang="en-IE"/>
          </a:p>
        </p:txBody>
      </p:sp>
      <p:sp>
        <p:nvSpPr>
          <p:cNvPr id="10" name="Shape 8"/>
          <p:cNvSpPr/>
          <p:nvPr/>
        </p:nvSpPr>
        <p:spPr>
          <a:xfrm>
            <a:off x="6263640" y="1783080"/>
            <a:ext cx="5349240" cy="502920"/>
          </a:xfrm>
          <a:prstGeom prst="rect">
            <a:avLst/>
          </a:prstGeom>
          <a:solidFill>
            <a:srgbClr val="0E3A52"/>
          </a:solidFill>
          <a:ln/>
        </p:spPr>
        <p:txBody>
          <a:bodyPr/>
          <a:lstStyle/>
          <a:p>
            <a:endParaRPr lang="en-IE"/>
          </a:p>
        </p:txBody>
      </p:sp>
      <p:sp>
        <p:nvSpPr>
          <p:cNvPr id="11" name="Text 9"/>
          <p:cNvSpPr/>
          <p:nvPr/>
        </p:nvSpPr>
        <p:spPr>
          <a:xfrm>
            <a:off x="6400800" y="1783080"/>
            <a:ext cx="5166360" cy="5029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Next.js 14  -  React  -  Pages</a:t>
            </a:r>
            <a:endParaRPr lang="en-US" sz="1600" dirty="0"/>
          </a:p>
        </p:txBody>
      </p:sp>
      <p:sp>
        <p:nvSpPr>
          <p:cNvPr id="12" name="Text 10"/>
          <p:cNvSpPr/>
          <p:nvPr/>
        </p:nvSpPr>
        <p:spPr>
          <a:xfrm>
            <a:off x="6492240" y="2377440"/>
            <a:ext cx="4937760" cy="3794760"/>
          </a:xfrm>
          <a:prstGeom prst="rect">
            <a:avLst/>
          </a:prstGeom>
          <a:noFill/>
          <a:ln/>
        </p:spPr>
        <p:txBody>
          <a:bodyPr wrap="square" lIns="0" tIns="0" rIns="0" bIns="0" rtlCol="0" anchor="t"/>
          <a:lstStyle/>
          <a:p>
            <a:pPr marL="0" indent="0">
              <a:spcAft>
                <a:spcPts val="100"/>
              </a:spcAft>
              <a:buNone/>
            </a:pPr>
            <a:r>
              <a:rPr lang="en-US" sz="1400" b="1" dirty="0">
                <a:solidFill>
                  <a:srgbClr val="0E3A52"/>
                </a:solidFill>
              </a:rPr>
              <a:t>Live Feed</a:t>
            </a:r>
            <a:endParaRPr lang="en-US" sz="1400" dirty="0"/>
          </a:p>
          <a:p>
            <a:pPr marL="0" indent="0">
              <a:spcAft>
                <a:spcPts val="100"/>
              </a:spcAft>
              <a:buNone/>
            </a:pPr>
            <a:r>
              <a:rPr lang="en-US" sz="1200" dirty="0">
                <a:solidFill>
                  <a:srgbClr val="262626"/>
                </a:solidFill>
              </a:rPr>
              <a:t>polls /frame at 10 Hz, /status every 3 s, behaviour pill colour-coded</a:t>
            </a:r>
            <a:endParaRPr lang="en-US" sz="1400" dirty="0"/>
          </a:p>
          <a:p>
            <a:pPr marL="0" indent="0">
              <a:spcAft>
                <a:spcPts val="100"/>
              </a:spcAft>
              <a:buNone/>
            </a:pPr>
            <a:r>
              <a:rPr lang="en-US" sz="600" dirty="0">
                <a:solidFill>
                  <a:srgbClr val="000000"/>
                </a:solidFill>
              </a:rPr>
              <a:t> </a:t>
            </a:r>
            <a:endParaRPr lang="en-US" sz="1400" dirty="0"/>
          </a:p>
          <a:p>
            <a:pPr marL="0" indent="0">
              <a:spcAft>
                <a:spcPts val="100"/>
              </a:spcAft>
              <a:buNone/>
            </a:pPr>
            <a:r>
              <a:rPr lang="en-US" sz="1400" b="1" dirty="0">
                <a:solidFill>
                  <a:srgbClr val="0E3A52"/>
                </a:solidFill>
              </a:rPr>
              <a:t>Behaviour Dashboard</a:t>
            </a:r>
            <a:endParaRPr lang="en-US" sz="1400" dirty="0"/>
          </a:p>
          <a:p>
            <a:pPr marL="0" indent="0">
              <a:spcAft>
                <a:spcPts val="100"/>
              </a:spcAft>
              <a:buNone/>
            </a:pPr>
            <a:r>
              <a:rPr lang="en-US" sz="1200" dirty="0">
                <a:solidFill>
                  <a:srgbClr val="262626"/>
                </a:solidFill>
              </a:rPr>
              <a:t>inline SVG score chart, summary cards, paginated event log</a:t>
            </a:r>
            <a:endParaRPr lang="en-US" sz="1400" dirty="0"/>
          </a:p>
          <a:p>
            <a:pPr marL="0" indent="0">
              <a:spcAft>
                <a:spcPts val="100"/>
              </a:spcAft>
              <a:buNone/>
            </a:pPr>
            <a:r>
              <a:rPr lang="en-US" sz="600" dirty="0">
                <a:solidFill>
                  <a:srgbClr val="000000"/>
                </a:solidFill>
              </a:rPr>
              <a:t> </a:t>
            </a:r>
            <a:endParaRPr lang="en-US" sz="1400" dirty="0"/>
          </a:p>
          <a:p>
            <a:pPr marL="0" indent="0">
              <a:spcAft>
                <a:spcPts val="100"/>
              </a:spcAft>
              <a:buNone/>
            </a:pPr>
            <a:r>
              <a:rPr lang="en-US" sz="1400" b="1" dirty="0">
                <a:solidFill>
                  <a:srgbClr val="0E3A52"/>
                </a:solidFill>
              </a:rPr>
              <a:t>Leaderboard</a:t>
            </a:r>
            <a:endParaRPr lang="en-US" sz="1400" dirty="0"/>
          </a:p>
          <a:p>
            <a:pPr marL="0" indent="0">
              <a:spcAft>
                <a:spcPts val="100"/>
              </a:spcAft>
              <a:buNone/>
            </a:pPr>
            <a:r>
              <a:rPr lang="en-US" sz="1200" dirty="0">
                <a:solidFill>
                  <a:srgbClr val="262626"/>
                </a:solidFill>
              </a:rPr>
              <a:t>medals for top 3, score-banded colours, current user highlighted</a:t>
            </a:r>
            <a:endParaRPr lang="en-US" sz="1400" dirty="0"/>
          </a:p>
          <a:p>
            <a:pPr marL="0" indent="0">
              <a:spcAft>
                <a:spcPts val="100"/>
              </a:spcAft>
              <a:buNone/>
            </a:pPr>
            <a:r>
              <a:rPr lang="en-US" sz="600" dirty="0">
                <a:solidFill>
                  <a:srgbClr val="000000"/>
                </a:solidFill>
              </a:rPr>
              <a:t> </a:t>
            </a:r>
            <a:endParaRPr lang="en-US" sz="1400" dirty="0"/>
          </a:p>
          <a:p>
            <a:pPr marL="0" indent="0">
              <a:spcAft>
                <a:spcPts val="100"/>
              </a:spcAft>
              <a:buNone/>
            </a:pPr>
            <a:r>
              <a:rPr lang="en-US" sz="1400" b="1" dirty="0">
                <a:solidFill>
                  <a:srgbClr val="0E3A52"/>
                </a:solidFill>
              </a:rPr>
              <a:t>Notifications</a:t>
            </a:r>
            <a:endParaRPr lang="en-US" sz="1400" dirty="0"/>
          </a:p>
          <a:p>
            <a:pPr marL="0" indent="0">
              <a:spcAft>
                <a:spcPts val="100"/>
              </a:spcAft>
              <a:buNone/>
            </a:pPr>
            <a:r>
              <a:rPr lang="en-US" sz="1200" dirty="0">
                <a:solidFill>
                  <a:srgbClr val="262626"/>
                </a:solidFill>
              </a:rPr>
              <a:t>5-second poll for fresh alerts, severity-coloured cards, clear-all</a:t>
            </a:r>
            <a:endParaRPr lang="en-US" sz="1400" dirty="0"/>
          </a:p>
          <a:p>
            <a:pPr marL="0" indent="0">
              <a:spcAft>
                <a:spcPts val="100"/>
              </a:spcAft>
              <a:buNone/>
            </a:pPr>
            <a:r>
              <a:rPr lang="en-US" sz="600" dirty="0">
                <a:solidFill>
                  <a:srgbClr val="000000"/>
                </a:solidFill>
              </a:rPr>
              <a:t> </a:t>
            </a:r>
            <a:endParaRPr lang="en-US" sz="1400" dirty="0"/>
          </a:p>
          <a:p>
            <a:pPr marL="0" indent="0">
              <a:spcAft>
                <a:spcPts val="100"/>
              </a:spcAft>
              <a:buNone/>
            </a:pPr>
            <a:r>
              <a:rPr lang="en-US" sz="1400" b="1" dirty="0">
                <a:solidFill>
                  <a:srgbClr val="0E3A52"/>
                </a:solidFill>
              </a:rPr>
              <a:t>Auth - Login / Register / Facial Setup</a:t>
            </a:r>
            <a:endParaRPr lang="en-US" sz="1400" dirty="0"/>
          </a:p>
          <a:p>
            <a:pPr marL="0" indent="0">
              <a:spcAft>
                <a:spcPts val="100"/>
              </a:spcAft>
              <a:buNone/>
            </a:pPr>
            <a:r>
              <a:rPr lang="en-US" sz="1200" dirty="0">
                <a:solidFill>
                  <a:srgbClr val="262626"/>
                </a:solidFill>
              </a:rPr>
              <a:t>dual login (password OR face), localStorage-persisted session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7">
            <a:extLst>
              <a:ext uri="{FF2B5EF4-FFF2-40B4-BE49-F238E27FC236}">
                <a16:creationId xmlns:a16="http://schemas.microsoft.com/office/drawing/2014/main" id="{8D8D0AC1-CBE6-FAAB-E2A9-5C1CB96AF408}"/>
              </a:ext>
            </a:extLst>
          </p:cNvPr>
          <p:cNvSpPr/>
          <p:nvPr/>
        </p:nvSpPr>
        <p:spPr>
          <a:xfrm>
            <a:off x="8990009" y="217154"/>
            <a:ext cx="3001966" cy="5887996"/>
          </a:xfrm>
          <a:prstGeom prst="rect">
            <a:avLst/>
          </a:prstGeom>
          <a:solidFill>
            <a:srgbClr val="F2F5F8"/>
          </a:solidFill>
          <a:ln w="12700">
            <a:solidFill>
              <a:srgbClr val="D4DCE3"/>
            </a:solidFill>
            <a:prstDash val="solid"/>
          </a:ln>
        </p:spPr>
        <p:txBody>
          <a:bodyPr/>
          <a:lstStyle/>
          <a:p>
            <a:endParaRPr lang="en-IE"/>
          </a:p>
        </p:txBody>
      </p:sp>
      <p:sp>
        <p:nvSpPr>
          <p:cNvPr id="2" name="Shape 0"/>
          <p:cNvSpPr/>
          <p:nvPr/>
        </p:nvSpPr>
        <p:spPr>
          <a:xfrm>
            <a:off x="0" y="0"/>
            <a:ext cx="4023360" cy="6858000"/>
          </a:xfrm>
          <a:prstGeom prst="rect">
            <a:avLst/>
          </a:prstGeom>
          <a:solidFill>
            <a:srgbClr val="0E3A52"/>
          </a:solidFill>
          <a:ln/>
        </p:spPr>
        <p:txBody>
          <a:bodyPr/>
          <a:lstStyle/>
          <a:p>
            <a:endParaRPr lang="en-IE"/>
          </a:p>
        </p:txBody>
      </p:sp>
      <p:sp>
        <p:nvSpPr>
          <p:cNvPr id="3" name="Shape 1"/>
          <p:cNvSpPr/>
          <p:nvPr/>
        </p:nvSpPr>
        <p:spPr>
          <a:xfrm>
            <a:off x="-1097280" y="914400"/>
            <a:ext cx="5120640" cy="5120640"/>
          </a:xfrm>
          <a:prstGeom prst="ellipse">
            <a:avLst/>
          </a:prstGeom>
          <a:solidFill>
            <a:srgbClr val="2C6E8E">
              <a:alpha val="12000"/>
            </a:srgbClr>
          </a:solidFill>
          <a:ln/>
        </p:spPr>
        <p:txBody>
          <a:bodyPr/>
          <a:lstStyle/>
          <a:p>
            <a:endParaRPr lang="en-IE"/>
          </a:p>
        </p:txBody>
      </p:sp>
      <p:sp>
        <p:nvSpPr>
          <p:cNvPr id="4" name="Text 2"/>
          <p:cNvSpPr/>
          <p:nvPr/>
        </p:nvSpPr>
        <p:spPr>
          <a:xfrm>
            <a:off x="411480" y="2194560"/>
            <a:ext cx="3383280" cy="2286000"/>
          </a:xfrm>
          <a:prstGeom prst="rect">
            <a:avLst/>
          </a:prstGeom>
          <a:noFill/>
          <a:ln/>
        </p:spPr>
        <p:txBody>
          <a:bodyPr wrap="square" lIns="0" tIns="0" rIns="0" bIns="0" rtlCol="0" anchor="t"/>
          <a:lstStyle/>
          <a:p>
            <a:pPr marL="0" indent="0" algn="l">
              <a:buNone/>
            </a:pPr>
            <a:r>
              <a:rPr lang="en-US" sz="4000" dirty="0">
                <a:solidFill>
                  <a:srgbClr val="FFFFFF"/>
                </a:solidFill>
                <a:latin typeface="Calibri Light" pitchFamily="34" charset="0"/>
                <a:ea typeface="Calibri Light" pitchFamily="34" charset="-122"/>
                <a:cs typeface="Calibri Light" pitchFamily="34" charset="-120"/>
              </a:rPr>
              <a:t>Score sync</a:t>
            </a:r>
            <a:endParaRPr lang="en-US" sz="4000" dirty="0"/>
          </a:p>
          <a:p>
            <a:pPr marL="0" indent="0" algn="l">
              <a:buNone/>
            </a:pPr>
            <a:r>
              <a:rPr lang="en-US" sz="4000" dirty="0">
                <a:solidFill>
                  <a:srgbClr val="FFFFFF"/>
                </a:solidFill>
                <a:latin typeface="Calibri Light" pitchFamily="34" charset="0"/>
                <a:ea typeface="Calibri Light" pitchFamily="34" charset="-122"/>
                <a:cs typeface="Calibri Light" pitchFamily="34" charset="-120"/>
              </a:rPr>
              <a:t>&amp; the</a:t>
            </a:r>
            <a:endParaRPr lang="en-US" sz="4000" dirty="0"/>
          </a:p>
          <a:p>
            <a:pPr marL="0" indent="0" algn="l">
              <a:buNone/>
            </a:pPr>
            <a:r>
              <a:rPr lang="en-US" sz="4000" dirty="0">
                <a:solidFill>
                  <a:srgbClr val="FFFFFF"/>
                </a:solidFill>
                <a:latin typeface="Calibri Light" pitchFamily="34" charset="0"/>
                <a:ea typeface="Calibri Light" pitchFamily="34" charset="-122"/>
                <a:cs typeface="Calibri Light" pitchFamily="34" charset="-120"/>
              </a:rPr>
              <a:t>leaderboard</a:t>
            </a:r>
            <a:endParaRPr lang="en-US" sz="4000" dirty="0"/>
          </a:p>
        </p:txBody>
      </p:sp>
      <p:pic>
        <p:nvPicPr>
          <p:cNvPr id="5" name="Picture 4">
            <a:extLst>
              <a:ext uri="{FF2B5EF4-FFF2-40B4-BE49-F238E27FC236}">
                <a16:creationId xmlns:a16="http://schemas.microsoft.com/office/drawing/2014/main" id="{D13AD672-7AAE-8B8B-004D-02CDD38A1BBC}"/>
              </a:ext>
            </a:extLst>
          </p:cNvPr>
          <p:cNvPicPr>
            <a:picLocks noChangeAspect="1"/>
          </p:cNvPicPr>
          <p:nvPr/>
        </p:nvPicPr>
        <p:blipFill>
          <a:blip r:embed="rId3"/>
          <a:stretch>
            <a:fillRect/>
          </a:stretch>
        </p:blipFill>
        <p:spPr>
          <a:xfrm>
            <a:off x="4283935" y="217153"/>
            <a:ext cx="4399992" cy="2416940"/>
          </a:xfrm>
          <a:prstGeom prst="roundRect">
            <a:avLst>
              <a:gd name="adj" fmla="val 4056"/>
            </a:avLst>
          </a:prstGeom>
        </p:spPr>
      </p:pic>
      <p:pic>
        <p:nvPicPr>
          <p:cNvPr id="6" name="Picture 5">
            <a:extLst>
              <a:ext uri="{FF2B5EF4-FFF2-40B4-BE49-F238E27FC236}">
                <a16:creationId xmlns:a16="http://schemas.microsoft.com/office/drawing/2014/main" id="{E1D9C5EC-467E-546C-E963-8D89E645971C}"/>
              </a:ext>
            </a:extLst>
          </p:cNvPr>
          <p:cNvPicPr>
            <a:picLocks noChangeAspect="1"/>
          </p:cNvPicPr>
          <p:nvPr/>
        </p:nvPicPr>
        <p:blipFill>
          <a:blip r:embed="rId4"/>
          <a:stretch>
            <a:fillRect/>
          </a:stretch>
        </p:blipFill>
        <p:spPr>
          <a:xfrm>
            <a:off x="4365854" y="3337560"/>
            <a:ext cx="4318073" cy="2767590"/>
          </a:xfrm>
          <a:prstGeom prst="roundRect">
            <a:avLst>
              <a:gd name="adj" fmla="val 3169"/>
            </a:avLst>
          </a:prstGeom>
        </p:spPr>
      </p:pic>
      <p:sp>
        <p:nvSpPr>
          <p:cNvPr id="9" name="Text 9">
            <a:extLst>
              <a:ext uri="{FF2B5EF4-FFF2-40B4-BE49-F238E27FC236}">
                <a16:creationId xmlns:a16="http://schemas.microsoft.com/office/drawing/2014/main" id="{ACA7AFFC-62A8-1D1F-20E3-276EDD54FAB9}"/>
              </a:ext>
            </a:extLst>
          </p:cNvPr>
          <p:cNvSpPr/>
          <p:nvPr/>
        </p:nvSpPr>
        <p:spPr>
          <a:xfrm>
            <a:off x="9127169" y="217153"/>
            <a:ext cx="2589209" cy="366789"/>
          </a:xfrm>
          <a:prstGeom prst="rect">
            <a:avLst/>
          </a:prstGeom>
          <a:noFill/>
          <a:ln/>
        </p:spPr>
        <p:txBody>
          <a:bodyPr wrap="square" lIns="0" tIns="0" rIns="0" bIns="0" rtlCol="0" anchor="ctr"/>
          <a:lstStyle/>
          <a:p>
            <a:pPr marL="0" indent="0">
              <a:buNone/>
            </a:pPr>
            <a:endParaRPr lang="en-US" sz="1600" dirty="0">
              <a:solidFill>
                <a:schemeClr val="bg1"/>
              </a:solidFill>
            </a:endParaRPr>
          </a:p>
        </p:txBody>
      </p:sp>
      <p:sp>
        <p:nvSpPr>
          <p:cNvPr id="10" name="Text 10">
            <a:extLst>
              <a:ext uri="{FF2B5EF4-FFF2-40B4-BE49-F238E27FC236}">
                <a16:creationId xmlns:a16="http://schemas.microsoft.com/office/drawing/2014/main" id="{F2E9BC44-9DD4-1DE8-D349-2E7D29C9B40F}"/>
              </a:ext>
            </a:extLst>
          </p:cNvPr>
          <p:cNvSpPr/>
          <p:nvPr/>
        </p:nvSpPr>
        <p:spPr>
          <a:xfrm>
            <a:off x="9253671" y="686810"/>
            <a:ext cx="2474642" cy="2526048"/>
          </a:xfrm>
          <a:prstGeom prst="rect">
            <a:avLst/>
          </a:prstGeom>
          <a:noFill/>
          <a:ln/>
        </p:spPr>
        <p:txBody>
          <a:bodyPr wrap="square" lIns="0" tIns="0" rIns="0" bIns="0" rtlCol="0" anchor="t"/>
          <a:lstStyle/>
          <a:p>
            <a:pPr>
              <a:spcAft>
                <a:spcPts val="200"/>
              </a:spcAft>
            </a:pPr>
            <a:r>
              <a:rPr lang="en-US" sz="1600" b="1" dirty="0">
                <a:solidFill>
                  <a:schemeClr val="tx2">
                    <a:lumMod val="90000"/>
                    <a:lumOff val="10000"/>
                  </a:schemeClr>
                </a:solidFill>
              </a:rPr>
              <a:t>Bulk Write</a:t>
            </a:r>
          </a:p>
          <a:p>
            <a:pPr marL="171450" indent="-171450">
              <a:spcAft>
                <a:spcPts val="200"/>
              </a:spcAft>
              <a:buFont typeface="Arial" panose="020B0604020202020204" pitchFamily="34" charset="0"/>
              <a:buChar char="•"/>
            </a:pPr>
            <a:r>
              <a:rPr lang="en-US" sz="1200" dirty="0"/>
              <a:t>Pi keeps a JSON log on disk, durable across crashes</a:t>
            </a:r>
          </a:p>
          <a:p>
            <a:pPr>
              <a:spcAft>
                <a:spcPts val="200"/>
              </a:spcAft>
            </a:pPr>
            <a:endParaRPr lang="en-US" sz="1200" dirty="0"/>
          </a:p>
          <a:p>
            <a:pPr marL="171450" indent="-171450">
              <a:spcAft>
                <a:spcPts val="100"/>
              </a:spcAft>
              <a:buFont typeface="Arial" panose="020B0604020202020204" pitchFamily="34" charset="0"/>
              <a:buChar char="•"/>
            </a:pPr>
            <a:r>
              <a:rPr lang="en-US" sz="1200" dirty="0"/>
              <a:t>sync_score.js mirrors entries into Mongo every 10 minutes</a:t>
            </a:r>
          </a:p>
          <a:p>
            <a:pPr>
              <a:spcAft>
                <a:spcPts val="100"/>
              </a:spcAft>
            </a:pPr>
            <a:endParaRPr lang="en-US" sz="1200" dirty="0"/>
          </a:p>
          <a:p>
            <a:pPr marL="171450" indent="-171450">
              <a:spcAft>
                <a:spcPts val="100"/>
              </a:spcAft>
              <a:buFont typeface="Arial" panose="020B0604020202020204" pitchFamily="34" charset="0"/>
              <a:buChar char="•"/>
            </a:pPr>
            <a:r>
              <a:rPr lang="en-US" sz="1200" dirty="0"/>
              <a:t>Leaderboard ranks recomputed in a single bulkWrite</a:t>
            </a:r>
          </a:p>
          <a:p>
            <a:pPr>
              <a:spcAft>
                <a:spcPts val="100"/>
              </a:spcAft>
            </a:pPr>
            <a:endParaRPr lang="en-US" sz="1200" dirty="0"/>
          </a:p>
          <a:p>
            <a:pPr marL="171450" indent="-171450">
              <a:spcAft>
                <a:spcPts val="100"/>
              </a:spcAft>
              <a:buFont typeface="Arial" panose="020B0604020202020204" pitchFamily="34" charset="0"/>
              <a:buChar char="•"/>
            </a:pPr>
            <a:r>
              <a:rPr lang="en-US" sz="1200" dirty="0"/>
              <a:t>Real-time alerts channel still fires immediately for the user-facing case</a:t>
            </a:r>
          </a:p>
          <a:p>
            <a:pPr>
              <a:spcAft>
                <a:spcPts val="100"/>
              </a:spcAft>
            </a:pPr>
            <a:endParaRPr lang="en-US" sz="1200" dirty="0"/>
          </a:p>
          <a:p>
            <a:pPr>
              <a:spcAft>
                <a:spcPts val="100"/>
              </a:spcAft>
            </a:pPr>
            <a:endParaRPr lang="en-US" sz="1200" dirty="0"/>
          </a:p>
          <a:p>
            <a:pPr marL="171450" indent="-171450">
              <a:spcAft>
                <a:spcPts val="100"/>
              </a:spcAft>
              <a:buFont typeface="Arial" panose="020B0604020202020204" pitchFamily="34" charset="0"/>
              <a:buChar char="•"/>
            </a:pPr>
            <a:endParaRPr lang="en-US" sz="1200" dirty="0"/>
          </a:p>
          <a:p>
            <a:pPr>
              <a:spcAft>
                <a:spcPts val="100"/>
              </a:spcAft>
            </a:pPr>
            <a:endParaRPr lang="en-US" sz="1200" dirty="0"/>
          </a:p>
          <a:p>
            <a:pPr>
              <a:spcAft>
                <a:spcPts val="100"/>
              </a:spcAft>
            </a:pPr>
            <a:endParaRPr lang="en-US" sz="1200" dirty="0"/>
          </a:p>
          <a:p>
            <a:pPr>
              <a:spcAft>
                <a:spcPts val="100"/>
              </a:spcAft>
            </a:pPr>
            <a:endParaRPr lang="en-US" sz="1200" dirty="0"/>
          </a:p>
          <a:p>
            <a:pPr>
              <a:spcAft>
                <a:spcPts val="100"/>
              </a:spcAft>
            </a:pPr>
            <a:endParaRPr lang="en-US" sz="1200" dirty="0"/>
          </a:p>
          <a:p>
            <a:pPr marL="0" indent="0">
              <a:spcAft>
                <a:spcPts val="100"/>
              </a:spcAft>
              <a:buNone/>
            </a:pPr>
            <a:endParaRPr lang="en-US" sz="1200" dirty="0"/>
          </a:p>
        </p:txBody>
      </p:sp>
      <p:sp>
        <p:nvSpPr>
          <p:cNvPr id="13" name="Text 10">
            <a:extLst>
              <a:ext uri="{FF2B5EF4-FFF2-40B4-BE49-F238E27FC236}">
                <a16:creationId xmlns:a16="http://schemas.microsoft.com/office/drawing/2014/main" id="{02CA2E90-43C6-8F06-57B3-0B1569F96421}"/>
              </a:ext>
            </a:extLst>
          </p:cNvPr>
          <p:cNvSpPr/>
          <p:nvPr/>
        </p:nvSpPr>
        <p:spPr>
          <a:xfrm>
            <a:off x="9253671" y="3645143"/>
            <a:ext cx="2589209" cy="1432578"/>
          </a:xfrm>
          <a:prstGeom prst="rect">
            <a:avLst/>
          </a:prstGeom>
          <a:noFill/>
          <a:ln/>
        </p:spPr>
        <p:txBody>
          <a:bodyPr wrap="square" lIns="0" tIns="0" rIns="0" bIns="0" rtlCol="0" anchor="t"/>
          <a:lstStyle/>
          <a:p>
            <a:pPr>
              <a:spcAft>
                <a:spcPts val="100"/>
              </a:spcAft>
            </a:pPr>
            <a:r>
              <a:rPr lang="en-US" sz="1600" b="1" dirty="0">
                <a:solidFill>
                  <a:schemeClr val="tx2">
                    <a:lumMod val="90000"/>
                    <a:lumOff val="10000"/>
                  </a:schemeClr>
                </a:solidFill>
              </a:rPr>
              <a:t>Per-Event syncing</a:t>
            </a:r>
          </a:p>
          <a:p>
            <a:pPr marL="171450" indent="-171450">
              <a:spcAft>
                <a:spcPts val="100"/>
              </a:spcAft>
              <a:buFont typeface="Arial" panose="020B0604020202020204" pitchFamily="34" charset="0"/>
              <a:buChar char="•"/>
            </a:pPr>
            <a:r>
              <a:rPr lang="en-US" sz="1200" dirty="0"/>
              <a:t>Single point of failure, any Atlas hiccup drops driving data</a:t>
            </a:r>
          </a:p>
          <a:p>
            <a:pPr marL="171450" indent="-171450">
              <a:spcAft>
                <a:spcPts val="100"/>
              </a:spcAft>
              <a:buFont typeface="Arial" panose="020B0604020202020204" pitchFamily="34" charset="0"/>
              <a:buChar char="•"/>
            </a:pPr>
            <a:endParaRPr lang="en-US" sz="1200" dirty="0"/>
          </a:p>
          <a:p>
            <a:pPr marL="171450" indent="-171450">
              <a:spcAft>
                <a:spcPts val="100"/>
              </a:spcAft>
              <a:buFont typeface="Arial" panose="020B0604020202020204" pitchFamily="34" charset="0"/>
              <a:buChar char="•"/>
            </a:pPr>
            <a:r>
              <a:rPr lang="en-US" sz="1200" dirty="0"/>
              <a:t>Constant chatter from the Pi over an unreliable home network</a:t>
            </a:r>
          </a:p>
          <a:p>
            <a:pPr marL="171450" indent="-171450">
              <a:spcAft>
                <a:spcPts val="100"/>
              </a:spcAft>
              <a:buFont typeface="Arial" panose="020B0604020202020204" pitchFamily="34" charset="0"/>
              <a:buChar char="•"/>
            </a:pPr>
            <a:endParaRPr lang="en-US" sz="1200" dirty="0"/>
          </a:p>
          <a:p>
            <a:pPr marL="171450" indent="-171450">
              <a:spcAft>
                <a:spcPts val="100"/>
              </a:spcAft>
              <a:buFont typeface="Arial" panose="020B0604020202020204" pitchFamily="34" charset="0"/>
              <a:buChar char="•"/>
            </a:pP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1417320"/>
          </a:xfrm>
          <a:prstGeom prst="rect">
            <a:avLst/>
          </a:prstGeom>
          <a:solidFill>
            <a:srgbClr val="0E3A52"/>
          </a:solidFill>
          <a:ln/>
        </p:spPr>
        <p:txBody>
          <a:bodyPr/>
          <a:lstStyle/>
          <a:p>
            <a:endParaRPr lang="en-IE"/>
          </a:p>
        </p:txBody>
      </p:sp>
      <p:sp>
        <p:nvSpPr>
          <p:cNvPr id="3" name="Shape 1"/>
          <p:cNvSpPr/>
          <p:nvPr/>
        </p:nvSpPr>
        <p:spPr>
          <a:xfrm>
            <a:off x="8046519" y="0"/>
            <a:ext cx="1584920" cy="1417320"/>
          </a:xfrm>
          <a:prstGeom prst="rect">
            <a:avLst/>
          </a:prstGeom>
          <a:solidFill>
            <a:srgbClr val="1A5A7A">
              <a:alpha val="40000"/>
            </a:srgbClr>
          </a:solidFill>
          <a:ln/>
        </p:spPr>
        <p:txBody>
          <a:bodyPr/>
          <a:lstStyle/>
          <a:p>
            <a:endParaRPr lang="en-IE"/>
          </a:p>
        </p:txBody>
      </p:sp>
      <p:sp>
        <p:nvSpPr>
          <p:cNvPr id="4" name="Text 2"/>
          <p:cNvSpPr/>
          <p:nvPr/>
        </p:nvSpPr>
        <p:spPr>
          <a:xfrm>
            <a:off x="502920" y="228600"/>
            <a:ext cx="11185855" cy="960120"/>
          </a:xfrm>
          <a:prstGeom prst="rect">
            <a:avLst/>
          </a:prstGeom>
          <a:noFill/>
          <a:ln/>
        </p:spPr>
        <p:txBody>
          <a:bodyPr wrap="square" lIns="0" tIns="0" rIns="0" bIns="0" rtlCol="0" anchor="ctr"/>
          <a:lstStyle/>
          <a:p>
            <a:pPr marL="0" indent="0">
              <a:buNone/>
            </a:pPr>
            <a:r>
              <a:rPr lang="en-US" sz="4000" dirty="0">
                <a:solidFill>
                  <a:srgbClr val="FFFFFF"/>
                </a:solidFill>
                <a:latin typeface="Calibri Light" pitchFamily="34" charset="0"/>
                <a:ea typeface="Calibri Light" pitchFamily="34" charset="-122"/>
                <a:cs typeface="Calibri Light" pitchFamily="34" charset="-120"/>
              </a:rPr>
              <a:t>Results &amp; Evaluation</a:t>
            </a:r>
            <a:endParaRPr lang="en-US" sz="4000" dirty="0"/>
          </a:p>
        </p:txBody>
      </p:sp>
      <p:sp>
        <p:nvSpPr>
          <p:cNvPr id="5" name="Text 3"/>
          <p:cNvSpPr/>
          <p:nvPr/>
        </p:nvSpPr>
        <p:spPr>
          <a:xfrm>
            <a:off x="457200" y="1600200"/>
            <a:ext cx="5760720" cy="320040"/>
          </a:xfrm>
          <a:prstGeom prst="rect">
            <a:avLst/>
          </a:prstGeom>
          <a:noFill/>
          <a:ln/>
        </p:spPr>
        <p:txBody>
          <a:bodyPr wrap="square" lIns="0" tIns="0" rIns="0" bIns="0" rtlCol="0" anchor="ctr"/>
          <a:lstStyle/>
          <a:p>
            <a:pPr marL="0" indent="0">
              <a:buNone/>
            </a:pPr>
            <a:r>
              <a:rPr lang="en-US" sz="1400" b="1" dirty="0">
                <a:solidFill>
                  <a:srgbClr val="0E3A52"/>
                </a:solidFill>
                <a:latin typeface="Calibri" pitchFamily="34" charset="0"/>
                <a:ea typeface="Calibri" pitchFamily="34" charset="-122"/>
                <a:cs typeface="Calibri" pitchFamily="34" charset="-120"/>
              </a:rPr>
              <a:t>Behaviour classifier  -  held-out test accuracy</a:t>
            </a:r>
            <a:endParaRPr lang="en-US" sz="1400" dirty="0"/>
          </a:p>
        </p:txBody>
      </p:sp>
      <p:graphicFrame>
        <p:nvGraphicFramePr>
          <p:cNvPr id="6" name="Chart 0"/>
          <p:cNvGraphicFramePr/>
          <p:nvPr/>
        </p:nvGraphicFramePr>
        <p:xfrm>
          <a:off x="457200" y="1920240"/>
          <a:ext cx="5760720" cy="210312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6400800" y="1600200"/>
            <a:ext cx="5330952" cy="320040"/>
          </a:xfrm>
          <a:prstGeom prst="rect">
            <a:avLst/>
          </a:prstGeom>
          <a:noFill/>
          <a:ln/>
        </p:spPr>
        <p:txBody>
          <a:bodyPr wrap="square" lIns="0" tIns="0" rIns="0" bIns="0" rtlCol="0" anchor="ctr"/>
          <a:lstStyle/>
          <a:p>
            <a:pPr marL="0" indent="0">
              <a:buNone/>
            </a:pPr>
            <a:r>
              <a:rPr lang="en-US" sz="1400" b="1" dirty="0">
                <a:solidFill>
                  <a:srgbClr val="0E3A52"/>
                </a:solidFill>
                <a:latin typeface="Calibri" pitchFamily="34" charset="0"/>
                <a:ea typeface="Calibri" pitchFamily="34" charset="-122"/>
                <a:cs typeface="Calibri" pitchFamily="34" charset="-120"/>
              </a:rPr>
              <a:t>Facial verification  -  Siamese network</a:t>
            </a:r>
            <a:endParaRPr lang="en-US" sz="1400" dirty="0"/>
          </a:p>
        </p:txBody>
      </p:sp>
      <p:sp>
        <p:nvSpPr>
          <p:cNvPr id="8" name="Shape 5"/>
          <p:cNvSpPr/>
          <p:nvPr/>
        </p:nvSpPr>
        <p:spPr>
          <a:xfrm>
            <a:off x="6400800" y="1920240"/>
            <a:ext cx="5330952" cy="2103120"/>
          </a:xfrm>
          <a:prstGeom prst="rect">
            <a:avLst/>
          </a:prstGeom>
          <a:solidFill>
            <a:srgbClr val="F2F5F8"/>
          </a:solidFill>
          <a:ln w="12700">
            <a:solidFill>
              <a:srgbClr val="D4DCE3"/>
            </a:solidFill>
            <a:prstDash val="solid"/>
          </a:ln>
        </p:spPr>
        <p:txBody>
          <a:bodyPr/>
          <a:lstStyle/>
          <a:p>
            <a:endParaRPr lang="en-IE"/>
          </a:p>
        </p:txBody>
      </p:sp>
      <p:sp>
        <p:nvSpPr>
          <p:cNvPr id="9" name="Text 6"/>
          <p:cNvSpPr/>
          <p:nvPr/>
        </p:nvSpPr>
        <p:spPr>
          <a:xfrm>
            <a:off x="6537960" y="2103120"/>
            <a:ext cx="2459736" cy="594360"/>
          </a:xfrm>
          <a:prstGeom prst="rect">
            <a:avLst/>
          </a:prstGeom>
          <a:noFill/>
          <a:ln/>
        </p:spPr>
        <p:txBody>
          <a:bodyPr wrap="square" lIns="0" tIns="0" rIns="0" bIns="0" rtlCol="0" anchor="ctr"/>
          <a:lstStyle/>
          <a:p>
            <a:pPr marL="0" indent="0" algn="ctr">
              <a:buNone/>
            </a:pPr>
            <a:r>
              <a:rPr lang="en-US" sz="3600" b="1" dirty="0">
                <a:solidFill>
                  <a:srgbClr val="2E7D32"/>
                </a:solidFill>
                <a:latin typeface="Calibri Light" pitchFamily="34" charset="0"/>
                <a:ea typeface="Calibri Light" pitchFamily="34" charset="-122"/>
                <a:cs typeface="Calibri Light" pitchFamily="34" charset="-120"/>
              </a:rPr>
              <a:t>&gt; 0.9</a:t>
            </a:r>
            <a:endParaRPr lang="en-US" sz="3600" dirty="0"/>
          </a:p>
        </p:txBody>
      </p:sp>
      <p:sp>
        <p:nvSpPr>
          <p:cNvPr id="10" name="Text 7"/>
          <p:cNvSpPr/>
          <p:nvPr/>
        </p:nvSpPr>
        <p:spPr>
          <a:xfrm>
            <a:off x="6537960" y="2697480"/>
            <a:ext cx="2459736" cy="320040"/>
          </a:xfrm>
          <a:prstGeom prst="rect">
            <a:avLst/>
          </a:prstGeom>
          <a:noFill/>
          <a:ln/>
        </p:spPr>
        <p:txBody>
          <a:bodyPr wrap="square" lIns="0" tIns="0" rIns="0" bIns="0" rtlCol="0" anchor="ctr"/>
          <a:lstStyle/>
          <a:p>
            <a:pPr marL="0" indent="0" algn="ctr">
              <a:buNone/>
            </a:pPr>
            <a:r>
              <a:rPr lang="en-US" sz="1100" dirty="0">
                <a:solidFill>
                  <a:srgbClr val="5A6B7A"/>
                </a:solidFill>
                <a:latin typeface="Calibri" pitchFamily="34" charset="0"/>
                <a:ea typeface="Calibri" pitchFamily="34" charset="-122"/>
                <a:cs typeface="Calibri" pitchFamily="34" charset="-120"/>
              </a:rPr>
              <a:t>precision @ 0.5 threshold</a:t>
            </a:r>
            <a:endParaRPr lang="en-US" sz="1100" dirty="0"/>
          </a:p>
        </p:txBody>
      </p:sp>
      <p:sp>
        <p:nvSpPr>
          <p:cNvPr id="11" name="Text 8"/>
          <p:cNvSpPr/>
          <p:nvPr/>
        </p:nvSpPr>
        <p:spPr>
          <a:xfrm>
            <a:off x="9134856" y="2103120"/>
            <a:ext cx="2459736" cy="594360"/>
          </a:xfrm>
          <a:prstGeom prst="rect">
            <a:avLst/>
          </a:prstGeom>
          <a:noFill/>
          <a:ln/>
        </p:spPr>
        <p:txBody>
          <a:bodyPr wrap="square" lIns="0" tIns="0" rIns="0" bIns="0" rtlCol="0" anchor="ctr"/>
          <a:lstStyle/>
          <a:p>
            <a:pPr marL="0" indent="0" algn="ctr">
              <a:buNone/>
            </a:pPr>
            <a:r>
              <a:rPr lang="en-US" sz="3600" b="1" dirty="0">
                <a:solidFill>
                  <a:srgbClr val="2E7D32"/>
                </a:solidFill>
                <a:latin typeface="Calibri Light" pitchFamily="34" charset="0"/>
                <a:ea typeface="Calibri Light" pitchFamily="34" charset="-122"/>
                <a:cs typeface="Calibri Light" pitchFamily="34" charset="-120"/>
              </a:rPr>
              <a:t>&gt; 0.9</a:t>
            </a:r>
            <a:endParaRPr lang="en-US" sz="3600" dirty="0"/>
          </a:p>
        </p:txBody>
      </p:sp>
      <p:sp>
        <p:nvSpPr>
          <p:cNvPr id="12" name="Text 9"/>
          <p:cNvSpPr/>
          <p:nvPr/>
        </p:nvSpPr>
        <p:spPr>
          <a:xfrm>
            <a:off x="9134856" y="2697480"/>
            <a:ext cx="2459736" cy="320040"/>
          </a:xfrm>
          <a:prstGeom prst="rect">
            <a:avLst/>
          </a:prstGeom>
          <a:noFill/>
          <a:ln/>
        </p:spPr>
        <p:txBody>
          <a:bodyPr wrap="square" lIns="0" tIns="0" rIns="0" bIns="0" rtlCol="0" anchor="ctr"/>
          <a:lstStyle/>
          <a:p>
            <a:pPr marL="0" indent="0" algn="ctr">
              <a:buNone/>
            </a:pPr>
            <a:r>
              <a:rPr lang="en-US" sz="1100" dirty="0">
                <a:solidFill>
                  <a:srgbClr val="5A6B7A"/>
                </a:solidFill>
                <a:latin typeface="Calibri" pitchFamily="34" charset="0"/>
                <a:ea typeface="Calibri" pitchFamily="34" charset="-122"/>
                <a:cs typeface="Calibri" pitchFamily="34" charset="-120"/>
              </a:rPr>
              <a:t>recall @ 0.5 threshold</a:t>
            </a:r>
            <a:endParaRPr lang="en-US" sz="1100" dirty="0"/>
          </a:p>
        </p:txBody>
      </p:sp>
      <p:sp>
        <p:nvSpPr>
          <p:cNvPr id="13" name="Text 10"/>
          <p:cNvSpPr/>
          <p:nvPr/>
        </p:nvSpPr>
        <p:spPr>
          <a:xfrm>
            <a:off x="6583680" y="3200400"/>
            <a:ext cx="4965192" cy="274320"/>
          </a:xfrm>
          <a:prstGeom prst="rect">
            <a:avLst/>
          </a:prstGeom>
          <a:noFill/>
          <a:ln/>
        </p:spPr>
        <p:txBody>
          <a:bodyPr wrap="square" lIns="0" tIns="0" rIns="0" bIns="0" rtlCol="0" anchor="ctr"/>
          <a:lstStyle/>
          <a:p>
            <a:pPr marL="0" indent="0">
              <a:buNone/>
            </a:pPr>
            <a:r>
              <a:rPr lang="en-US" sz="1100" dirty="0">
                <a:solidFill>
                  <a:srgbClr val="262626"/>
                </a:solidFill>
                <a:latin typeface="Calibri" pitchFamily="34" charset="0"/>
                <a:ea typeface="Calibri" pitchFamily="34" charset="-122"/>
                <a:cs typeface="Calibri" pitchFamily="34" charset="-120"/>
              </a:rPr>
              <a:t>- 70/30 train/test split, 50 epochs, batch size 16</a:t>
            </a:r>
            <a:endParaRPr lang="en-US" sz="1100" dirty="0"/>
          </a:p>
        </p:txBody>
      </p:sp>
      <p:sp>
        <p:nvSpPr>
          <p:cNvPr id="14" name="Text 11"/>
          <p:cNvSpPr/>
          <p:nvPr/>
        </p:nvSpPr>
        <p:spPr>
          <a:xfrm>
            <a:off x="6583680" y="3493008"/>
            <a:ext cx="4965192" cy="274320"/>
          </a:xfrm>
          <a:prstGeom prst="rect">
            <a:avLst/>
          </a:prstGeom>
          <a:noFill/>
          <a:ln/>
        </p:spPr>
        <p:txBody>
          <a:bodyPr wrap="square" lIns="0" tIns="0" rIns="0" bIns="0" rtlCol="0" anchor="ctr"/>
          <a:lstStyle/>
          <a:p>
            <a:pPr marL="0" indent="0">
              <a:buNone/>
            </a:pPr>
            <a:r>
              <a:rPr lang="en-US" sz="1100" dirty="0">
                <a:solidFill>
                  <a:srgbClr val="262626"/>
                </a:solidFill>
                <a:latin typeface="Calibri" pitchFamily="34" charset="0"/>
                <a:ea typeface="Calibri" pitchFamily="34" charset="-122"/>
                <a:cs typeface="Calibri" pitchFamily="34" charset="-120"/>
              </a:rPr>
              <a:t>- Real-time verify() on the Pi 5 via picamera2 — verified / not verified overlay</a:t>
            </a:r>
            <a:endParaRPr lang="en-US" sz="1100" dirty="0"/>
          </a:p>
        </p:txBody>
      </p:sp>
      <p:sp>
        <p:nvSpPr>
          <p:cNvPr id="15" name="Shape 12"/>
          <p:cNvSpPr/>
          <p:nvPr/>
        </p:nvSpPr>
        <p:spPr>
          <a:xfrm>
            <a:off x="457200" y="4206240"/>
            <a:ext cx="3639312" cy="2240280"/>
          </a:xfrm>
          <a:prstGeom prst="rect">
            <a:avLst/>
          </a:prstGeom>
          <a:solidFill>
            <a:srgbClr val="F8F9FB"/>
          </a:solidFill>
          <a:ln w="12700">
            <a:solidFill>
              <a:srgbClr val="D4DCE3"/>
            </a:solidFill>
            <a:prstDash val="solid"/>
          </a:ln>
        </p:spPr>
        <p:txBody>
          <a:bodyPr/>
          <a:lstStyle/>
          <a:p>
            <a:endParaRPr lang="en-IE"/>
          </a:p>
        </p:txBody>
      </p:sp>
      <p:sp>
        <p:nvSpPr>
          <p:cNvPr id="16" name="Shape 13"/>
          <p:cNvSpPr/>
          <p:nvPr/>
        </p:nvSpPr>
        <p:spPr>
          <a:xfrm>
            <a:off x="457200" y="4206240"/>
            <a:ext cx="3639312" cy="91440"/>
          </a:xfrm>
          <a:prstGeom prst="rect">
            <a:avLst/>
          </a:prstGeom>
          <a:solidFill>
            <a:srgbClr val="1565C0"/>
          </a:solidFill>
          <a:ln/>
        </p:spPr>
        <p:txBody>
          <a:bodyPr/>
          <a:lstStyle/>
          <a:p>
            <a:endParaRPr lang="en-IE"/>
          </a:p>
        </p:txBody>
      </p:sp>
      <p:sp>
        <p:nvSpPr>
          <p:cNvPr id="17" name="Text 14"/>
          <p:cNvSpPr/>
          <p:nvPr/>
        </p:nvSpPr>
        <p:spPr>
          <a:xfrm>
            <a:off x="640080" y="4389120"/>
            <a:ext cx="3273552" cy="365760"/>
          </a:xfrm>
          <a:prstGeom prst="rect">
            <a:avLst/>
          </a:prstGeom>
          <a:noFill/>
          <a:ln/>
        </p:spPr>
        <p:txBody>
          <a:bodyPr wrap="square" lIns="0" tIns="0" rIns="0" bIns="0" rtlCol="0" anchor="ctr"/>
          <a:lstStyle/>
          <a:p>
            <a:pPr marL="0" indent="0">
              <a:buNone/>
            </a:pPr>
            <a:r>
              <a:rPr lang="en-US" sz="1600" b="1" dirty="0">
                <a:solidFill>
                  <a:srgbClr val="0E3A52"/>
                </a:solidFill>
                <a:latin typeface="Calibri" pitchFamily="34" charset="0"/>
                <a:ea typeface="Calibri" pitchFamily="34" charset="-122"/>
                <a:cs typeface="Calibri" pitchFamily="34" charset="-120"/>
              </a:rPr>
              <a:t>User Testing</a:t>
            </a:r>
            <a:endParaRPr lang="en-US" sz="1600" dirty="0"/>
          </a:p>
        </p:txBody>
      </p:sp>
      <p:sp>
        <p:nvSpPr>
          <p:cNvPr id="18" name="Text 15"/>
          <p:cNvSpPr/>
          <p:nvPr/>
        </p:nvSpPr>
        <p:spPr>
          <a:xfrm>
            <a:off x="640080" y="4846320"/>
            <a:ext cx="3273552" cy="384048"/>
          </a:xfrm>
          <a:prstGeom prst="rect">
            <a:avLst/>
          </a:prstGeom>
          <a:noFill/>
          <a:ln/>
        </p:spPr>
        <p:txBody>
          <a:bodyPr wrap="square" lIns="0" tIns="0" rIns="0" bIns="0" rtlCol="0" anchor="ctr"/>
          <a:lstStyle/>
          <a:p>
            <a:pPr marL="0" indent="0">
              <a:buNone/>
            </a:pPr>
            <a:r>
              <a:rPr lang="en-US" sz="1100" dirty="0">
                <a:solidFill>
                  <a:srgbClr val="262626"/>
                </a:solidFill>
                <a:latin typeface="Calibri" pitchFamily="34" charset="0"/>
                <a:ea typeface="Calibri" pitchFamily="34" charset="-122"/>
                <a:cs typeface="Calibri" pitchFamily="34" charset="-120"/>
              </a:rPr>
              <a:t>- User registered a fresh account on the web app.</a:t>
            </a:r>
            <a:endParaRPr lang="en-US" sz="1100" dirty="0"/>
          </a:p>
        </p:txBody>
      </p:sp>
      <p:sp>
        <p:nvSpPr>
          <p:cNvPr id="19" name="Text 16"/>
          <p:cNvSpPr/>
          <p:nvPr/>
        </p:nvSpPr>
        <p:spPr>
          <a:xfrm>
            <a:off x="640080" y="5230368"/>
            <a:ext cx="3273552" cy="384048"/>
          </a:xfrm>
          <a:prstGeom prst="rect">
            <a:avLst/>
          </a:prstGeom>
          <a:noFill/>
          <a:ln/>
        </p:spPr>
        <p:txBody>
          <a:bodyPr wrap="square" lIns="0" tIns="0" rIns="0" bIns="0" rtlCol="0" anchor="ctr"/>
          <a:lstStyle/>
          <a:p>
            <a:pPr marL="0" indent="0">
              <a:buNone/>
            </a:pPr>
            <a:r>
              <a:rPr lang="en-US" sz="1100" dirty="0">
                <a:solidFill>
                  <a:srgbClr val="262626"/>
                </a:solidFill>
                <a:latin typeface="Calibri" pitchFamily="34" charset="0"/>
                <a:ea typeface="Calibri" pitchFamily="34" charset="-122"/>
                <a:cs typeface="Calibri" pitchFamily="34" charset="-120"/>
              </a:rPr>
              <a:t>- Drove a 10-minute session - observed the final score.</a:t>
            </a:r>
            <a:endParaRPr lang="en-US" sz="1100" dirty="0"/>
          </a:p>
        </p:txBody>
      </p:sp>
      <p:sp>
        <p:nvSpPr>
          <p:cNvPr id="20" name="Text 17"/>
          <p:cNvSpPr/>
          <p:nvPr/>
        </p:nvSpPr>
        <p:spPr>
          <a:xfrm>
            <a:off x="640080" y="5614416"/>
            <a:ext cx="3273552" cy="384048"/>
          </a:xfrm>
          <a:prstGeom prst="rect">
            <a:avLst/>
          </a:prstGeom>
          <a:noFill/>
          <a:ln/>
        </p:spPr>
        <p:txBody>
          <a:bodyPr wrap="square" lIns="0" tIns="0" rIns="0" bIns="0" rtlCol="0" anchor="ctr"/>
          <a:lstStyle/>
          <a:p>
            <a:pPr marL="0" indent="0">
              <a:buNone/>
            </a:pPr>
            <a:r>
              <a:rPr lang="en-US" sz="1100" dirty="0">
                <a:solidFill>
                  <a:srgbClr val="262626"/>
                </a:solidFill>
                <a:latin typeface="Calibri" pitchFamily="34" charset="0"/>
                <a:ea typeface="Calibri" pitchFamily="34" charset="-122"/>
                <a:cs typeface="Calibri" pitchFamily="34" charset="-120"/>
              </a:rPr>
              <a:t>- Surfaced UX improvements to the dashboard flow.</a:t>
            </a:r>
            <a:endParaRPr lang="en-US" sz="1100" dirty="0"/>
          </a:p>
        </p:txBody>
      </p:sp>
      <p:sp>
        <p:nvSpPr>
          <p:cNvPr id="21" name="Shape 18"/>
          <p:cNvSpPr/>
          <p:nvPr/>
        </p:nvSpPr>
        <p:spPr>
          <a:xfrm>
            <a:off x="4279392" y="4206240"/>
            <a:ext cx="3639312" cy="2240280"/>
          </a:xfrm>
          <a:prstGeom prst="rect">
            <a:avLst/>
          </a:prstGeom>
          <a:solidFill>
            <a:srgbClr val="F8F9FB"/>
          </a:solidFill>
          <a:ln w="12700">
            <a:solidFill>
              <a:srgbClr val="D4DCE3"/>
            </a:solidFill>
            <a:prstDash val="solid"/>
          </a:ln>
        </p:spPr>
        <p:txBody>
          <a:bodyPr/>
          <a:lstStyle/>
          <a:p>
            <a:endParaRPr lang="en-IE"/>
          </a:p>
        </p:txBody>
      </p:sp>
      <p:sp>
        <p:nvSpPr>
          <p:cNvPr id="22" name="Shape 19"/>
          <p:cNvSpPr/>
          <p:nvPr/>
        </p:nvSpPr>
        <p:spPr>
          <a:xfrm>
            <a:off x="4279392" y="4206240"/>
            <a:ext cx="3639312" cy="91440"/>
          </a:xfrm>
          <a:prstGeom prst="rect">
            <a:avLst/>
          </a:prstGeom>
          <a:solidFill>
            <a:srgbClr val="E65100"/>
          </a:solidFill>
          <a:ln/>
        </p:spPr>
        <p:txBody>
          <a:bodyPr/>
          <a:lstStyle/>
          <a:p>
            <a:endParaRPr lang="en-IE"/>
          </a:p>
        </p:txBody>
      </p:sp>
      <p:sp>
        <p:nvSpPr>
          <p:cNvPr id="23" name="Text 20"/>
          <p:cNvSpPr/>
          <p:nvPr/>
        </p:nvSpPr>
        <p:spPr>
          <a:xfrm>
            <a:off x="4462272" y="4389120"/>
            <a:ext cx="3273552" cy="365760"/>
          </a:xfrm>
          <a:prstGeom prst="rect">
            <a:avLst/>
          </a:prstGeom>
          <a:noFill/>
          <a:ln/>
        </p:spPr>
        <p:txBody>
          <a:bodyPr wrap="square" lIns="0" tIns="0" rIns="0" bIns="0" rtlCol="0" anchor="ctr"/>
          <a:lstStyle/>
          <a:p>
            <a:pPr marL="0" indent="0">
              <a:buNone/>
            </a:pPr>
            <a:r>
              <a:rPr lang="en-US" sz="1600" b="1" dirty="0">
                <a:solidFill>
                  <a:srgbClr val="0E3A52"/>
                </a:solidFill>
                <a:latin typeface="Calibri" pitchFamily="34" charset="0"/>
                <a:ea typeface="Calibri" pitchFamily="34" charset="-122"/>
                <a:cs typeface="Calibri" pitchFamily="34" charset="-120"/>
              </a:rPr>
              <a:t>Performance Testing</a:t>
            </a:r>
            <a:endParaRPr lang="en-US" sz="1600" dirty="0"/>
          </a:p>
        </p:txBody>
      </p:sp>
      <p:sp>
        <p:nvSpPr>
          <p:cNvPr id="24" name="Text 21"/>
          <p:cNvSpPr/>
          <p:nvPr/>
        </p:nvSpPr>
        <p:spPr>
          <a:xfrm>
            <a:off x="4462272" y="4846320"/>
            <a:ext cx="3273552" cy="384048"/>
          </a:xfrm>
          <a:prstGeom prst="rect">
            <a:avLst/>
          </a:prstGeom>
          <a:noFill/>
          <a:ln/>
        </p:spPr>
        <p:txBody>
          <a:bodyPr wrap="square" lIns="0" tIns="0" rIns="0" bIns="0" rtlCol="0" anchor="ctr"/>
          <a:lstStyle/>
          <a:p>
            <a:pPr marL="0" indent="0">
              <a:buNone/>
            </a:pPr>
            <a:r>
              <a:rPr lang="en-US" sz="1100" dirty="0">
                <a:solidFill>
                  <a:srgbClr val="262626"/>
                </a:solidFill>
                <a:latin typeface="Calibri" pitchFamily="34" charset="0"/>
                <a:ea typeface="Calibri" pitchFamily="34" charset="-122"/>
                <a:cs typeface="Calibri" pitchFamily="34" charset="-120"/>
              </a:rPr>
              <a:t>- Prometheus + NetData monitoring the Pi 5.</a:t>
            </a:r>
            <a:endParaRPr lang="en-US" sz="1100" dirty="0"/>
          </a:p>
        </p:txBody>
      </p:sp>
      <p:sp>
        <p:nvSpPr>
          <p:cNvPr id="25" name="Text 22"/>
          <p:cNvSpPr/>
          <p:nvPr/>
        </p:nvSpPr>
        <p:spPr>
          <a:xfrm>
            <a:off x="4462272" y="5230368"/>
            <a:ext cx="3273552" cy="384048"/>
          </a:xfrm>
          <a:prstGeom prst="rect">
            <a:avLst/>
          </a:prstGeom>
          <a:noFill/>
          <a:ln/>
        </p:spPr>
        <p:txBody>
          <a:bodyPr wrap="square" lIns="0" tIns="0" rIns="0" bIns="0" rtlCol="0" anchor="ctr"/>
          <a:lstStyle/>
          <a:p>
            <a:pPr marL="0" indent="0">
              <a:buNone/>
            </a:pPr>
            <a:r>
              <a:rPr lang="en-US" sz="1100" dirty="0">
                <a:solidFill>
                  <a:srgbClr val="262626"/>
                </a:solidFill>
                <a:latin typeface="Calibri" pitchFamily="34" charset="0"/>
                <a:ea typeface="Calibri" pitchFamily="34" charset="-122"/>
                <a:cs typeface="Calibri" pitchFamily="34" charset="-120"/>
              </a:rPr>
              <a:t>- 30-minute run: camera server + sync_score.</a:t>
            </a:r>
            <a:endParaRPr lang="en-US" sz="1100" dirty="0"/>
          </a:p>
        </p:txBody>
      </p:sp>
      <p:sp>
        <p:nvSpPr>
          <p:cNvPr id="26" name="Text 23"/>
          <p:cNvSpPr/>
          <p:nvPr/>
        </p:nvSpPr>
        <p:spPr>
          <a:xfrm>
            <a:off x="4462272" y="5614416"/>
            <a:ext cx="3273552" cy="384048"/>
          </a:xfrm>
          <a:prstGeom prst="rect">
            <a:avLst/>
          </a:prstGeom>
          <a:noFill/>
          <a:ln/>
        </p:spPr>
        <p:txBody>
          <a:bodyPr wrap="square" lIns="0" tIns="0" rIns="0" bIns="0" rtlCol="0" anchor="ctr"/>
          <a:lstStyle/>
          <a:p>
            <a:pPr marL="0" indent="0">
              <a:buNone/>
            </a:pPr>
            <a:r>
              <a:rPr lang="en-US" sz="1100" dirty="0">
                <a:solidFill>
                  <a:srgbClr val="262626"/>
                </a:solidFill>
                <a:latin typeface="Calibri" pitchFamily="34" charset="0"/>
                <a:ea typeface="Calibri" pitchFamily="34" charset="-122"/>
                <a:cs typeface="Calibri" pitchFamily="34" charset="-120"/>
              </a:rPr>
              <a:t>- Max CPU temperature reached 85 degC - throttling threshold.</a:t>
            </a:r>
            <a:endParaRPr lang="en-US" sz="1100" dirty="0"/>
          </a:p>
        </p:txBody>
      </p:sp>
      <p:sp>
        <p:nvSpPr>
          <p:cNvPr id="27" name="Text 24"/>
          <p:cNvSpPr/>
          <p:nvPr/>
        </p:nvSpPr>
        <p:spPr>
          <a:xfrm>
            <a:off x="4462272" y="5998464"/>
            <a:ext cx="3273552" cy="384048"/>
          </a:xfrm>
          <a:prstGeom prst="rect">
            <a:avLst/>
          </a:prstGeom>
          <a:noFill/>
          <a:ln/>
        </p:spPr>
        <p:txBody>
          <a:bodyPr wrap="square" lIns="0" tIns="0" rIns="0" bIns="0" rtlCol="0" anchor="ctr"/>
          <a:lstStyle/>
          <a:p>
            <a:pPr marL="0" indent="0">
              <a:buNone/>
            </a:pPr>
            <a:r>
              <a:rPr lang="en-US" sz="1100" dirty="0">
                <a:solidFill>
                  <a:srgbClr val="262626"/>
                </a:solidFill>
                <a:latin typeface="Calibri" pitchFamily="34" charset="0"/>
                <a:ea typeface="Calibri" pitchFamily="34" charset="-122"/>
                <a:cs typeface="Calibri" pitchFamily="34" charset="-120"/>
              </a:rPr>
              <a:t>- Risk: thermal throttling and possible crash under load.</a:t>
            </a:r>
            <a:endParaRPr lang="en-US" sz="1100" dirty="0"/>
          </a:p>
        </p:txBody>
      </p:sp>
      <p:sp>
        <p:nvSpPr>
          <p:cNvPr id="28" name="Shape 25"/>
          <p:cNvSpPr/>
          <p:nvPr/>
        </p:nvSpPr>
        <p:spPr>
          <a:xfrm>
            <a:off x="8101584" y="4206240"/>
            <a:ext cx="3639312" cy="2240280"/>
          </a:xfrm>
          <a:prstGeom prst="rect">
            <a:avLst/>
          </a:prstGeom>
          <a:solidFill>
            <a:srgbClr val="F8F9FB"/>
          </a:solidFill>
          <a:ln w="12700">
            <a:solidFill>
              <a:srgbClr val="D4DCE3"/>
            </a:solidFill>
            <a:prstDash val="solid"/>
          </a:ln>
        </p:spPr>
        <p:txBody>
          <a:bodyPr/>
          <a:lstStyle/>
          <a:p>
            <a:endParaRPr lang="en-IE"/>
          </a:p>
        </p:txBody>
      </p:sp>
      <p:sp>
        <p:nvSpPr>
          <p:cNvPr id="29" name="Shape 26"/>
          <p:cNvSpPr/>
          <p:nvPr/>
        </p:nvSpPr>
        <p:spPr>
          <a:xfrm>
            <a:off x="8101584" y="4206240"/>
            <a:ext cx="3639312" cy="91440"/>
          </a:xfrm>
          <a:prstGeom prst="rect">
            <a:avLst/>
          </a:prstGeom>
          <a:solidFill>
            <a:srgbClr val="2E7D32"/>
          </a:solidFill>
          <a:ln/>
        </p:spPr>
        <p:txBody>
          <a:bodyPr/>
          <a:lstStyle/>
          <a:p>
            <a:endParaRPr lang="en-IE"/>
          </a:p>
        </p:txBody>
      </p:sp>
      <p:sp>
        <p:nvSpPr>
          <p:cNvPr id="30" name="Text 27"/>
          <p:cNvSpPr/>
          <p:nvPr/>
        </p:nvSpPr>
        <p:spPr>
          <a:xfrm>
            <a:off x="8284464" y="4389120"/>
            <a:ext cx="3273552" cy="365760"/>
          </a:xfrm>
          <a:prstGeom prst="rect">
            <a:avLst/>
          </a:prstGeom>
          <a:noFill/>
          <a:ln/>
        </p:spPr>
        <p:txBody>
          <a:bodyPr wrap="square" lIns="0" tIns="0" rIns="0" bIns="0" rtlCol="0" anchor="ctr"/>
          <a:lstStyle/>
          <a:p>
            <a:pPr marL="0" indent="0">
              <a:buNone/>
            </a:pPr>
            <a:r>
              <a:rPr lang="en-US" sz="1600" b="1" dirty="0">
                <a:solidFill>
                  <a:srgbClr val="0E3A52"/>
                </a:solidFill>
                <a:latin typeface="Calibri" pitchFamily="34" charset="0"/>
                <a:ea typeface="Calibri" pitchFamily="34" charset="-122"/>
                <a:cs typeface="Calibri" pitchFamily="34" charset="-120"/>
              </a:rPr>
              <a:t>Unit Tests  (Playwright E2E)</a:t>
            </a:r>
            <a:endParaRPr lang="en-US" sz="1600" dirty="0"/>
          </a:p>
        </p:txBody>
      </p:sp>
      <p:sp>
        <p:nvSpPr>
          <p:cNvPr id="31" name="Text 28"/>
          <p:cNvSpPr/>
          <p:nvPr/>
        </p:nvSpPr>
        <p:spPr>
          <a:xfrm>
            <a:off x="8284464" y="4846320"/>
            <a:ext cx="3273552" cy="384048"/>
          </a:xfrm>
          <a:prstGeom prst="rect">
            <a:avLst/>
          </a:prstGeom>
          <a:noFill/>
          <a:ln/>
        </p:spPr>
        <p:txBody>
          <a:bodyPr wrap="square" lIns="0" tIns="0" rIns="0" bIns="0" rtlCol="0" anchor="ctr"/>
          <a:lstStyle/>
          <a:p>
            <a:pPr marL="0" indent="0">
              <a:buNone/>
            </a:pPr>
            <a:r>
              <a:rPr lang="en-US" sz="1100" dirty="0">
                <a:solidFill>
                  <a:srgbClr val="262626"/>
                </a:solidFill>
                <a:latin typeface="Calibri" pitchFamily="34" charset="0"/>
                <a:ea typeface="Calibri" pitchFamily="34" charset="-122"/>
                <a:cs typeface="Calibri" pitchFamily="34" charset="-120"/>
              </a:rPr>
              <a:t>- Playwright drives a real headless Chromium against the app.</a:t>
            </a:r>
            <a:endParaRPr lang="en-US" sz="1100" dirty="0"/>
          </a:p>
        </p:txBody>
      </p:sp>
      <p:sp>
        <p:nvSpPr>
          <p:cNvPr id="32" name="Text 29"/>
          <p:cNvSpPr/>
          <p:nvPr/>
        </p:nvSpPr>
        <p:spPr>
          <a:xfrm>
            <a:off x="8284464" y="5230368"/>
            <a:ext cx="3273552" cy="384048"/>
          </a:xfrm>
          <a:prstGeom prst="rect">
            <a:avLst/>
          </a:prstGeom>
          <a:noFill/>
          <a:ln/>
        </p:spPr>
        <p:txBody>
          <a:bodyPr wrap="square" lIns="0" tIns="0" rIns="0" bIns="0" rtlCol="0" anchor="ctr"/>
          <a:lstStyle/>
          <a:p>
            <a:pPr marL="0" indent="0">
              <a:buNone/>
            </a:pPr>
            <a:r>
              <a:rPr lang="en-US" sz="1100" dirty="0">
                <a:solidFill>
                  <a:srgbClr val="262626"/>
                </a:solidFill>
                <a:latin typeface="Calibri" pitchFamily="34" charset="0"/>
                <a:ea typeface="Calibri" pitchFamily="34" charset="-122"/>
                <a:cs typeface="Calibri" pitchFamily="34" charset="-120"/>
              </a:rPr>
              <a:t>- 33 tests across home.spec.js, auth.spec.js, leaderboard.spec.js.</a:t>
            </a:r>
            <a:endParaRPr lang="en-US" sz="1100" dirty="0"/>
          </a:p>
        </p:txBody>
      </p:sp>
      <p:sp>
        <p:nvSpPr>
          <p:cNvPr id="33" name="Text 30"/>
          <p:cNvSpPr/>
          <p:nvPr/>
        </p:nvSpPr>
        <p:spPr>
          <a:xfrm>
            <a:off x="8284464" y="5614416"/>
            <a:ext cx="3273552" cy="384048"/>
          </a:xfrm>
          <a:prstGeom prst="rect">
            <a:avLst/>
          </a:prstGeom>
          <a:noFill/>
          <a:ln/>
        </p:spPr>
        <p:txBody>
          <a:bodyPr wrap="square" lIns="0" tIns="0" rIns="0" bIns="0" rtlCol="0" anchor="ctr"/>
          <a:lstStyle/>
          <a:p>
            <a:pPr marL="0" indent="0">
              <a:buNone/>
            </a:pPr>
            <a:r>
              <a:rPr lang="en-US" sz="1100" dirty="0">
                <a:solidFill>
                  <a:srgbClr val="262626"/>
                </a:solidFill>
                <a:latin typeface="Calibri" pitchFamily="34" charset="0"/>
                <a:ea typeface="Calibri" pitchFamily="34" charset="-122"/>
                <a:cs typeface="Calibri" pitchFamily="34" charset="-120"/>
              </a:rPr>
              <a:t>- 33 / 33 pass - full suite runs in parallel in under 2 minutes.</a:t>
            </a:r>
            <a:endParaRPr lang="en-US" sz="1100" dirty="0"/>
          </a:p>
        </p:txBody>
      </p:sp>
      <p:sp>
        <p:nvSpPr>
          <p:cNvPr id="34" name="Text 31"/>
          <p:cNvSpPr/>
          <p:nvPr/>
        </p:nvSpPr>
        <p:spPr>
          <a:xfrm>
            <a:off x="8284464" y="5998464"/>
            <a:ext cx="3273552" cy="384048"/>
          </a:xfrm>
          <a:prstGeom prst="rect">
            <a:avLst/>
          </a:prstGeom>
          <a:noFill/>
          <a:ln/>
        </p:spPr>
        <p:txBody>
          <a:bodyPr wrap="square" lIns="0" tIns="0" rIns="0" bIns="0" rtlCol="0" anchor="ctr"/>
          <a:lstStyle/>
          <a:p>
            <a:pPr marL="0" indent="0">
              <a:buNone/>
            </a:pPr>
            <a:r>
              <a:rPr lang="en-US" sz="1100" dirty="0">
                <a:solidFill>
                  <a:srgbClr val="262626"/>
                </a:solidFill>
                <a:latin typeface="Calibri" pitchFamily="34" charset="0"/>
                <a:ea typeface="Calibri" pitchFamily="34" charset="-122"/>
                <a:cs typeface="Calibri" pitchFamily="34" charset="-120"/>
              </a:rPr>
              <a:t>- Auto-starts the Next.js dev server; HTML report via show-report.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1417320"/>
          </a:xfrm>
          <a:prstGeom prst="rect">
            <a:avLst/>
          </a:prstGeom>
          <a:solidFill>
            <a:srgbClr val="0E3A52"/>
          </a:solidFill>
          <a:ln/>
        </p:spPr>
        <p:txBody>
          <a:bodyPr/>
          <a:lstStyle/>
          <a:p>
            <a:endParaRPr lang="en-IE"/>
          </a:p>
        </p:txBody>
      </p:sp>
      <p:sp>
        <p:nvSpPr>
          <p:cNvPr id="3" name="Shape 1"/>
          <p:cNvSpPr/>
          <p:nvPr/>
        </p:nvSpPr>
        <p:spPr>
          <a:xfrm>
            <a:off x="8046519" y="0"/>
            <a:ext cx="1584920" cy="1417320"/>
          </a:xfrm>
          <a:prstGeom prst="rect">
            <a:avLst/>
          </a:prstGeom>
          <a:solidFill>
            <a:srgbClr val="1A5A7A">
              <a:alpha val="40000"/>
            </a:srgbClr>
          </a:solidFill>
          <a:ln/>
        </p:spPr>
        <p:txBody>
          <a:bodyPr/>
          <a:lstStyle/>
          <a:p>
            <a:endParaRPr lang="en-IE"/>
          </a:p>
        </p:txBody>
      </p:sp>
      <p:sp>
        <p:nvSpPr>
          <p:cNvPr id="4" name="Text 2"/>
          <p:cNvSpPr/>
          <p:nvPr/>
        </p:nvSpPr>
        <p:spPr>
          <a:xfrm>
            <a:off x="502920" y="228600"/>
            <a:ext cx="11185855" cy="960120"/>
          </a:xfrm>
          <a:prstGeom prst="rect">
            <a:avLst/>
          </a:prstGeom>
          <a:noFill/>
          <a:ln/>
        </p:spPr>
        <p:txBody>
          <a:bodyPr wrap="square" lIns="0" tIns="0" rIns="0" bIns="0" rtlCol="0" anchor="ctr"/>
          <a:lstStyle/>
          <a:p>
            <a:pPr marL="0" indent="0">
              <a:buNone/>
            </a:pPr>
            <a:r>
              <a:rPr lang="en-US" sz="4000" dirty="0">
                <a:solidFill>
                  <a:srgbClr val="FFFFFF"/>
                </a:solidFill>
                <a:latin typeface="Calibri Light" pitchFamily="34" charset="0"/>
                <a:ea typeface="Calibri Light" pitchFamily="34" charset="-122"/>
                <a:cs typeface="Calibri Light" pitchFamily="34" charset="-120"/>
              </a:rPr>
              <a:t>Challenges</a:t>
            </a:r>
            <a:endParaRPr lang="en-US" sz="4000" dirty="0"/>
          </a:p>
        </p:txBody>
      </p:sp>
      <p:sp>
        <p:nvSpPr>
          <p:cNvPr id="9" name="Shape 7"/>
          <p:cNvSpPr/>
          <p:nvPr/>
        </p:nvSpPr>
        <p:spPr>
          <a:xfrm>
            <a:off x="502920" y="2331720"/>
            <a:ext cx="11094415" cy="1097280"/>
          </a:xfrm>
          <a:prstGeom prst="rect">
            <a:avLst/>
          </a:prstGeom>
          <a:solidFill>
            <a:srgbClr val="F2F5F8"/>
          </a:solidFill>
          <a:ln w="12700">
            <a:solidFill>
              <a:srgbClr val="D4DCE3"/>
            </a:solidFill>
            <a:prstDash val="solid"/>
          </a:ln>
        </p:spPr>
        <p:txBody>
          <a:bodyPr/>
          <a:lstStyle/>
          <a:p>
            <a:endParaRPr lang="en-IE"/>
          </a:p>
        </p:txBody>
      </p:sp>
      <p:sp>
        <p:nvSpPr>
          <p:cNvPr id="10" name="Shape 8"/>
          <p:cNvSpPr/>
          <p:nvPr/>
        </p:nvSpPr>
        <p:spPr>
          <a:xfrm>
            <a:off x="502920" y="2331720"/>
            <a:ext cx="109728" cy="1097280"/>
          </a:xfrm>
          <a:prstGeom prst="rect">
            <a:avLst/>
          </a:prstGeom>
          <a:solidFill>
            <a:srgbClr val="E65100"/>
          </a:solidFill>
          <a:ln/>
        </p:spPr>
        <p:txBody>
          <a:bodyPr/>
          <a:lstStyle/>
          <a:p>
            <a:endParaRPr lang="en-IE"/>
          </a:p>
        </p:txBody>
      </p:sp>
      <p:sp>
        <p:nvSpPr>
          <p:cNvPr id="11" name="Text 9"/>
          <p:cNvSpPr/>
          <p:nvPr/>
        </p:nvSpPr>
        <p:spPr>
          <a:xfrm>
            <a:off x="731520" y="2423160"/>
            <a:ext cx="10820095" cy="365760"/>
          </a:xfrm>
          <a:prstGeom prst="rect">
            <a:avLst/>
          </a:prstGeom>
          <a:noFill/>
          <a:ln/>
        </p:spPr>
        <p:txBody>
          <a:bodyPr wrap="square" lIns="0" tIns="0" rIns="0" bIns="0" rtlCol="0" anchor="ctr"/>
          <a:lstStyle/>
          <a:p>
            <a:pPr marL="0" indent="0">
              <a:buNone/>
            </a:pPr>
            <a:r>
              <a:rPr lang="en-US" sz="1600" b="1" dirty="0">
                <a:solidFill>
                  <a:srgbClr val="0E3A52"/>
                </a:solidFill>
                <a:latin typeface="Calibri" pitchFamily="34" charset="0"/>
                <a:ea typeface="Calibri" pitchFamily="34" charset="-122"/>
                <a:cs typeface="Calibri" pitchFamily="34" charset="-120"/>
              </a:rPr>
              <a:t>Real-time inference on a Pi</a:t>
            </a:r>
            <a:endParaRPr lang="en-US" sz="1600" dirty="0"/>
          </a:p>
        </p:txBody>
      </p:sp>
      <p:sp>
        <p:nvSpPr>
          <p:cNvPr id="12" name="Text 10"/>
          <p:cNvSpPr/>
          <p:nvPr/>
        </p:nvSpPr>
        <p:spPr>
          <a:xfrm>
            <a:off x="731520" y="2788920"/>
            <a:ext cx="10820095" cy="594360"/>
          </a:xfrm>
          <a:prstGeom prst="rect">
            <a:avLst/>
          </a:prstGeom>
          <a:noFill/>
          <a:ln/>
        </p:spPr>
        <p:txBody>
          <a:bodyPr wrap="square" lIns="0" tIns="0" rIns="0" bIns="0" rtlCol="0" anchor="t"/>
          <a:lstStyle/>
          <a:p>
            <a:pPr marL="0" indent="0">
              <a:buNone/>
            </a:pPr>
            <a:r>
              <a:rPr lang="en-US" sz="1250" dirty="0">
                <a:solidFill>
                  <a:srgbClr val="262626"/>
                </a:solidFill>
                <a:latin typeface="Calibri" pitchFamily="34" charset="0"/>
                <a:ea typeface="Calibri" pitchFamily="34" charset="-122"/>
                <a:cs typeface="Calibri" pitchFamily="34" charset="-120"/>
              </a:rPr>
              <a:t>Naively spawning a thread per captured frame led to thread accumulation and growing latency. Fixed with a single worker, a one-slot pending-frame buffer, and an event-driven handoff, stale frames are dropped, the Pi stays under thermal limits.</a:t>
            </a:r>
            <a:endParaRPr lang="en-US" sz="1250" dirty="0"/>
          </a:p>
        </p:txBody>
      </p:sp>
      <p:sp>
        <p:nvSpPr>
          <p:cNvPr id="13" name="Shape 11"/>
          <p:cNvSpPr/>
          <p:nvPr/>
        </p:nvSpPr>
        <p:spPr>
          <a:xfrm>
            <a:off x="502920" y="3520440"/>
            <a:ext cx="11094415" cy="1097280"/>
          </a:xfrm>
          <a:prstGeom prst="rect">
            <a:avLst/>
          </a:prstGeom>
          <a:solidFill>
            <a:srgbClr val="F2F5F8"/>
          </a:solidFill>
          <a:ln w="12700">
            <a:solidFill>
              <a:srgbClr val="D4DCE3"/>
            </a:solidFill>
            <a:prstDash val="solid"/>
          </a:ln>
        </p:spPr>
        <p:txBody>
          <a:bodyPr/>
          <a:lstStyle/>
          <a:p>
            <a:endParaRPr lang="en-IE"/>
          </a:p>
        </p:txBody>
      </p:sp>
      <p:sp>
        <p:nvSpPr>
          <p:cNvPr id="14" name="Shape 12"/>
          <p:cNvSpPr/>
          <p:nvPr/>
        </p:nvSpPr>
        <p:spPr>
          <a:xfrm>
            <a:off x="502920" y="3520440"/>
            <a:ext cx="109728" cy="1097280"/>
          </a:xfrm>
          <a:prstGeom prst="rect">
            <a:avLst/>
          </a:prstGeom>
          <a:solidFill>
            <a:srgbClr val="F57F17"/>
          </a:solidFill>
          <a:ln/>
        </p:spPr>
        <p:txBody>
          <a:bodyPr/>
          <a:lstStyle/>
          <a:p>
            <a:endParaRPr lang="en-IE"/>
          </a:p>
        </p:txBody>
      </p:sp>
      <p:sp>
        <p:nvSpPr>
          <p:cNvPr id="15" name="Text 13"/>
          <p:cNvSpPr/>
          <p:nvPr/>
        </p:nvSpPr>
        <p:spPr>
          <a:xfrm>
            <a:off x="731520" y="3611880"/>
            <a:ext cx="10820095" cy="365760"/>
          </a:xfrm>
          <a:prstGeom prst="rect">
            <a:avLst/>
          </a:prstGeom>
          <a:noFill/>
          <a:ln/>
        </p:spPr>
        <p:txBody>
          <a:bodyPr wrap="square" lIns="0" tIns="0" rIns="0" bIns="0" rtlCol="0" anchor="ctr"/>
          <a:lstStyle/>
          <a:p>
            <a:pPr marL="0" indent="0">
              <a:buNone/>
            </a:pPr>
            <a:r>
              <a:rPr lang="en-US" sz="1600" b="1" dirty="0">
                <a:solidFill>
                  <a:srgbClr val="0E3A52"/>
                </a:solidFill>
                <a:latin typeface="Calibri" pitchFamily="34" charset="0"/>
                <a:ea typeface="Calibri" pitchFamily="34" charset="-122"/>
                <a:cs typeface="Calibri" pitchFamily="34" charset="-120"/>
              </a:rPr>
              <a:t>Noisy frame-by-frame predictions</a:t>
            </a:r>
            <a:endParaRPr lang="en-US" sz="1600" dirty="0"/>
          </a:p>
        </p:txBody>
      </p:sp>
      <p:sp>
        <p:nvSpPr>
          <p:cNvPr id="16" name="Text 14"/>
          <p:cNvSpPr/>
          <p:nvPr/>
        </p:nvSpPr>
        <p:spPr>
          <a:xfrm>
            <a:off x="731520" y="3977640"/>
            <a:ext cx="10820095" cy="594360"/>
          </a:xfrm>
          <a:prstGeom prst="rect">
            <a:avLst/>
          </a:prstGeom>
          <a:noFill/>
          <a:ln/>
        </p:spPr>
        <p:txBody>
          <a:bodyPr wrap="square" lIns="0" tIns="0" rIns="0" bIns="0" rtlCol="0" anchor="t"/>
          <a:lstStyle/>
          <a:p>
            <a:pPr marL="0" indent="0">
              <a:buNone/>
            </a:pPr>
            <a:r>
              <a:rPr lang="en-US" sz="1250" dirty="0">
                <a:solidFill>
                  <a:srgbClr val="262626"/>
                </a:solidFill>
                <a:latin typeface="Calibri" pitchFamily="34" charset="0"/>
                <a:ea typeface="Calibri" pitchFamily="34" charset="-122"/>
                <a:cs typeface="Calibri" pitchFamily="34" charset="-120"/>
              </a:rPr>
              <a:t>The classifier flipped between adjacent classes across consecutive frames, producing useless logs. Solved by requiring 5 consecutive predictions to agree before committing an event, gave a clean human-readable behaviour timeline.</a:t>
            </a:r>
            <a:endParaRPr lang="en-US" sz="1250" dirty="0"/>
          </a:p>
        </p:txBody>
      </p:sp>
      <p:sp>
        <p:nvSpPr>
          <p:cNvPr id="17" name="Shape 15"/>
          <p:cNvSpPr/>
          <p:nvPr/>
        </p:nvSpPr>
        <p:spPr>
          <a:xfrm>
            <a:off x="502920" y="4709160"/>
            <a:ext cx="11094415" cy="1097280"/>
          </a:xfrm>
          <a:prstGeom prst="rect">
            <a:avLst/>
          </a:prstGeom>
          <a:solidFill>
            <a:srgbClr val="F2F5F8"/>
          </a:solidFill>
          <a:ln w="12700">
            <a:solidFill>
              <a:srgbClr val="D4DCE3"/>
            </a:solidFill>
            <a:prstDash val="solid"/>
          </a:ln>
        </p:spPr>
        <p:txBody>
          <a:bodyPr/>
          <a:lstStyle/>
          <a:p>
            <a:endParaRPr lang="en-IE"/>
          </a:p>
        </p:txBody>
      </p:sp>
      <p:sp>
        <p:nvSpPr>
          <p:cNvPr id="18" name="Shape 16"/>
          <p:cNvSpPr/>
          <p:nvPr/>
        </p:nvSpPr>
        <p:spPr>
          <a:xfrm>
            <a:off x="502920" y="4709160"/>
            <a:ext cx="109728" cy="1097280"/>
          </a:xfrm>
          <a:prstGeom prst="rect">
            <a:avLst/>
          </a:prstGeom>
          <a:solidFill>
            <a:srgbClr val="1565C0"/>
          </a:solidFill>
          <a:ln/>
        </p:spPr>
        <p:txBody>
          <a:bodyPr/>
          <a:lstStyle/>
          <a:p>
            <a:endParaRPr lang="en-IE"/>
          </a:p>
        </p:txBody>
      </p:sp>
      <p:sp>
        <p:nvSpPr>
          <p:cNvPr id="19" name="Text 17"/>
          <p:cNvSpPr/>
          <p:nvPr/>
        </p:nvSpPr>
        <p:spPr>
          <a:xfrm>
            <a:off x="731520" y="4800600"/>
            <a:ext cx="10820095" cy="365760"/>
          </a:xfrm>
          <a:prstGeom prst="rect">
            <a:avLst/>
          </a:prstGeom>
          <a:noFill/>
          <a:ln/>
        </p:spPr>
        <p:txBody>
          <a:bodyPr wrap="square" lIns="0" tIns="0" rIns="0" bIns="0" rtlCol="0" anchor="ctr"/>
          <a:lstStyle/>
          <a:p>
            <a:pPr marL="0" indent="0">
              <a:buNone/>
            </a:pPr>
            <a:r>
              <a:rPr lang="en-US" sz="1600" b="1" dirty="0">
                <a:solidFill>
                  <a:srgbClr val="0E3A52"/>
                </a:solidFill>
                <a:latin typeface="Calibri" pitchFamily="34" charset="0"/>
                <a:ea typeface="Calibri" pitchFamily="34" charset="-122"/>
                <a:cs typeface="Calibri" pitchFamily="34" charset="-120"/>
              </a:rPr>
              <a:t>Pi - dashboard recovery</a:t>
            </a:r>
            <a:endParaRPr lang="en-US" sz="1600" dirty="0"/>
          </a:p>
        </p:txBody>
      </p:sp>
      <p:sp>
        <p:nvSpPr>
          <p:cNvPr id="20" name="Text 18"/>
          <p:cNvSpPr/>
          <p:nvPr/>
        </p:nvSpPr>
        <p:spPr>
          <a:xfrm>
            <a:off x="731520" y="5166360"/>
            <a:ext cx="10820095" cy="594360"/>
          </a:xfrm>
          <a:prstGeom prst="rect">
            <a:avLst/>
          </a:prstGeom>
          <a:noFill/>
          <a:ln/>
        </p:spPr>
        <p:txBody>
          <a:bodyPr wrap="square" lIns="0" tIns="0" rIns="0" bIns="0" rtlCol="0" anchor="t"/>
          <a:lstStyle/>
          <a:p>
            <a:pPr marL="0" indent="0">
              <a:buNone/>
            </a:pPr>
            <a:r>
              <a:rPr lang="en-US" sz="1250" dirty="0">
                <a:solidFill>
                  <a:srgbClr val="262626"/>
                </a:solidFill>
                <a:latin typeface="Calibri" pitchFamily="34" charset="0"/>
                <a:ea typeface="Calibri" pitchFamily="34" charset="-122"/>
                <a:cs typeface="Calibri" pitchFamily="34" charset="-120"/>
              </a:rPr>
              <a:t>Either side could go down independently. The dashboard now shows an offline card with the exact restart command, and the Pi state machine resets cleanly on /reset the system tolerates either component being restarted mid-session.</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0E3A52"/>
          </a:solidFill>
          <a:ln/>
        </p:spPr>
        <p:txBody>
          <a:bodyPr/>
          <a:lstStyle/>
          <a:p>
            <a:endParaRPr lang="en-IE"/>
          </a:p>
        </p:txBody>
      </p:sp>
      <p:sp>
        <p:nvSpPr>
          <p:cNvPr id="3" name="Shape 1"/>
          <p:cNvSpPr/>
          <p:nvPr/>
        </p:nvSpPr>
        <p:spPr>
          <a:xfrm>
            <a:off x="-1097280" y="914400"/>
            <a:ext cx="5120640" cy="5120640"/>
          </a:xfrm>
          <a:prstGeom prst="ellipse">
            <a:avLst/>
          </a:prstGeom>
          <a:solidFill>
            <a:srgbClr val="2C6E8E">
              <a:alpha val="12000"/>
            </a:srgbClr>
          </a:solidFill>
          <a:ln/>
        </p:spPr>
        <p:txBody>
          <a:bodyPr/>
          <a:lstStyle/>
          <a:p>
            <a:endParaRPr lang="en-IE"/>
          </a:p>
        </p:txBody>
      </p:sp>
      <p:sp>
        <p:nvSpPr>
          <p:cNvPr id="4" name="Text 2"/>
          <p:cNvSpPr/>
          <p:nvPr/>
        </p:nvSpPr>
        <p:spPr>
          <a:xfrm>
            <a:off x="411480" y="2194560"/>
            <a:ext cx="3383280" cy="2286000"/>
          </a:xfrm>
          <a:prstGeom prst="rect">
            <a:avLst/>
          </a:prstGeom>
          <a:noFill/>
          <a:ln/>
        </p:spPr>
        <p:txBody>
          <a:bodyPr wrap="square" lIns="0" tIns="0" rIns="0" bIns="0" rtlCol="0" anchor="t"/>
          <a:lstStyle/>
          <a:p>
            <a:pPr marL="0" indent="0" algn="l">
              <a:buNone/>
            </a:pPr>
            <a:r>
              <a:rPr lang="en-US" sz="4000" dirty="0">
                <a:solidFill>
                  <a:srgbClr val="FFFFFF"/>
                </a:solidFill>
                <a:latin typeface="Calibri Light" pitchFamily="34" charset="0"/>
                <a:ea typeface="Calibri Light" pitchFamily="34" charset="-122"/>
                <a:cs typeface="Calibri Light" pitchFamily="34" charset="-120"/>
              </a:rPr>
              <a:t>Conclusion</a:t>
            </a:r>
            <a:endParaRPr lang="en-US" sz="4000" dirty="0"/>
          </a:p>
        </p:txBody>
      </p:sp>
      <p:sp>
        <p:nvSpPr>
          <p:cNvPr id="5" name="Shape 3"/>
          <p:cNvSpPr/>
          <p:nvPr/>
        </p:nvSpPr>
        <p:spPr>
          <a:xfrm>
            <a:off x="4434840" y="1280160"/>
            <a:ext cx="7269480" cy="1600200"/>
          </a:xfrm>
          <a:prstGeom prst="rect">
            <a:avLst/>
          </a:prstGeom>
          <a:solidFill>
            <a:srgbClr val="F2F5F8"/>
          </a:solidFill>
          <a:ln w="12700">
            <a:solidFill>
              <a:srgbClr val="D4DCE3"/>
            </a:solidFill>
            <a:prstDash val="solid"/>
          </a:ln>
        </p:spPr>
        <p:txBody>
          <a:bodyPr/>
          <a:lstStyle/>
          <a:p>
            <a:endParaRPr lang="en-IE"/>
          </a:p>
        </p:txBody>
      </p:sp>
      <p:sp>
        <p:nvSpPr>
          <p:cNvPr id="6" name="Shape 4"/>
          <p:cNvSpPr/>
          <p:nvPr/>
        </p:nvSpPr>
        <p:spPr>
          <a:xfrm>
            <a:off x="4434840" y="1280160"/>
            <a:ext cx="109728" cy="1600200"/>
          </a:xfrm>
          <a:prstGeom prst="rect">
            <a:avLst/>
          </a:prstGeom>
          <a:solidFill>
            <a:srgbClr val="0E3A52"/>
          </a:solidFill>
          <a:ln/>
        </p:spPr>
        <p:txBody>
          <a:bodyPr/>
          <a:lstStyle/>
          <a:p>
            <a:endParaRPr lang="en-IE"/>
          </a:p>
        </p:txBody>
      </p:sp>
      <p:sp>
        <p:nvSpPr>
          <p:cNvPr id="7" name="Text 5"/>
          <p:cNvSpPr/>
          <p:nvPr/>
        </p:nvSpPr>
        <p:spPr>
          <a:xfrm>
            <a:off x="4709160" y="1463040"/>
            <a:ext cx="6812280" cy="411480"/>
          </a:xfrm>
          <a:prstGeom prst="rect">
            <a:avLst/>
          </a:prstGeom>
          <a:noFill/>
          <a:ln/>
        </p:spPr>
        <p:txBody>
          <a:bodyPr wrap="square" lIns="0" tIns="0" rIns="0" bIns="0" rtlCol="0" anchor="ctr"/>
          <a:lstStyle/>
          <a:p>
            <a:pPr marL="0" indent="0">
              <a:buNone/>
            </a:pPr>
            <a:r>
              <a:rPr lang="en-US" sz="1800" b="1" dirty="0">
                <a:solidFill>
                  <a:srgbClr val="0E3A52"/>
                </a:solidFill>
                <a:latin typeface="Calibri" pitchFamily="34" charset="0"/>
                <a:ea typeface="Calibri" pitchFamily="34" charset="-122"/>
                <a:cs typeface="Calibri" pitchFamily="34" charset="-120"/>
              </a:rPr>
              <a:t>Set out to</a:t>
            </a:r>
            <a:endParaRPr lang="en-US" sz="1800" dirty="0"/>
          </a:p>
        </p:txBody>
      </p:sp>
      <p:sp>
        <p:nvSpPr>
          <p:cNvPr id="8" name="Text 6"/>
          <p:cNvSpPr/>
          <p:nvPr/>
        </p:nvSpPr>
        <p:spPr>
          <a:xfrm>
            <a:off x="4709160" y="1920240"/>
            <a:ext cx="6812280" cy="822960"/>
          </a:xfrm>
          <a:prstGeom prst="rect">
            <a:avLst/>
          </a:prstGeom>
          <a:noFill/>
          <a:ln/>
        </p:spPr>
        <p:txBody>
          <a:bodyPr wrap="square" lIns="0" tIns="0" rIns="0" bIns="0" rtlCol="0" anchor="t"/>
          <a:lstStyle/>
          <a:p>
            <a:pPr marL="0" indent="0">
              <a:buNone/>
            </a:pPr>
            <a:r>
              <a:rPr lang="en-US" sz="1400" dirty="0">
                <a:solidFill>
                  <a:srgbClr val="262626"/>
                </a:solidFill>
                <a:latin typeface="Calibri" pitchFamily="34" charset="0"/>
                <a:ea typeface="Calibri" pitchFamily="34" charset="-122"/>
                <a:cs typeface="Calibri" pitchFamily="34" charset="-120"/>
              </a:rPr>
              <a:t>Build a real-time driver monitoring system that uses computer vision to recognise the driver and classify driving behavior and makes safer driving rewarding through a leaderboard.</a:t>
            </a:r>
            <a:endParaRPr lang="en-US" sz="1400" dirty="0"/>
          </a:p>
        </p:txBody>
      </p:sp>
      <p:sp>
        <p:nvSpPr>
          <p:cNvPr id="9" name="Shape 7"/>
          <p:cNvSpPr/>
          <p:nvPr/>
        </p:nvSpPr>
        <p:spPr>
          <a:xfrm>
            <a:off x="4434840" y="3044952"/>
            <a:ext cx="7269480" cy="1600200"/>
          </a:xfrm>
          <a:prstGeom prst="rect">
            <a:avLst/>
          </a:prstGeom>
          <a:solidFill>
            <a:srgbClr val="F2F5F8"/>
          </a:solidFill>
          <a:ln w="12700">
            <a:solidFill>
              <a:srgbClr val="D4DCE3"/>
            </a:solidFill>
            <a:prstDash val="solid"/>
          </a:ln>
        </p:spPr>
        <p:txBody>
          <a:bodyPr/>
          <a:lstStyle/>
          <a:p>
            <a:endParaRPr lang="en-IE"/>
          </a:p>
        </p:txBody>
      </p:sp>
      <p:sp>
        <p:nvSpPr>
          <p:cNvPr id="10" name="Shape 8"/>
          <p:cNvSpPr/>
          <p:nvPr/>
        </p:nvSpPr>
        <p:spPr>
          <a:xfrm>
            <a:off x="4434840" y="3044952"/>
            <a:ext cx="109728" cy="1600200"/>
          </a:xfrm>
          <a:prstGeom prst="rect">
            <a:avLst/>
          </a:prstGeom>
          <a:solidFill>
            <a:srgbClr val="0E3A52"/>
          </a:solidFill>
          <a:ln/>
        </p:spPr>
        <p:txBody>
          <a:bodyPr/>
          <a:lstStyle/>
          <a:p>
            <a:endParaRPr lang="en-IE"/>
          </a:p>
        </p:txBody>
      </p:sp>
      <p:sp>
        <p:nvSpPr>
          <p:cNvPr id="11" name="Text 9"/>
          <p:cNvSpPr/>
          <p:nvPr/>
        </p:nvSpPr>
        <p:spPr>
          <a:xfrm>
            <a:off x="4709160" y="3227832"/>
            <a:ext cx="6812280" cy="411480"/>
          </a:xfrm>
          <a:prstGeom prst="rect">
            <a:avLst/>
          </a:prstGeom>
          <a:noFill/>
          <a:ln/>
        </p:spPr>
        <p:txBody>
          <a:bodyPr wrap="square" lIns="0" tIns="0" rIns="0" bIns="0" rtlCol="0" anchor="ctr"/>
          <a:lstStyle/>
          <a:p>
            <a:pPr marL="0" indent="0">
              <a:buNone/>
            </a:pPr>
            <a:r>
              <a:rPr lang="en-US" sz="1800" b="1" dirty="0">
                <a:solidFill>
                  <a:srgbClr val="0E3A52"/>
                </a:solidFill>
                <a:latin typeface="Calibri" pitchFamily="34" charset="0"/>
                <a:ea typeface="Calibri" pitchFamily="34" charset="-122"/>
                <a:cs typeface="Calibri" pitchFamily="34" charset="-120"/>
              </a:rPr>
              <a:t>Delivered</a:t>
            </a:r>
            <a:endParaRPr lang="en-US" sz="1800" dirty="0"/>
          </a:p>
        </p:txBody>
      </p:sp>
      <p:sp>
        <p:nvSpPr>
          <p:cNvPr id="12" name="Text 10"/>
          <p:cNvSpPr/>
          <p:nvPr/>
        </p:nvSpPr>
        <p:spPr>
          <a:xfrm>
            <a:off x="4709160" y="3685032"/>
            <a:ext cx="6812280" cy="822960"/>
          </a:xfrm>
          <a:prstGeom prst="rect">
            <a:avLst/>
          </a:prstGeom>
          <a:noFill/>
          <a:ln/>
        </p:spPr>
        <p:txBody>
          <a:bodyPr wrap="square" lIns="0" tIns="0" rIns="0" bIns="0" rtlCol="0" anchor="t"/>
          <a:lstStyle/>
          <a:p>
            <a:pPr marL="0" indent="0">
              <a:buNone/>
            </a:pPr>
            <a:r>
              <a:rPr lang="en-US" sz="1400" dirty="0">
                <a:solidFill>
                  <a:srgbClr val="262626"/>
                </a:solidFill>
                <a:latin typeface="Calibri" pitchFamily="34" charset="0"/>
                <a:ea typeface="Calibri" pitchFamily="34" charset="-122"/>
                <a:cs typeface="Calibri" pitchFamily="34" charset="-120"/>
              </a:rPr>
              <a:t>An end-to-end working product: Pi-based camera server with a state machine, Express API, MongoDB-backed dashboard, dual-mode authentication, real-time alerts, persistent leaderboard.</a:t>
            </a:r>
            <a:endParaRPr lang="en-US" sz="1400" dirty="0"/>
          </a:p>
        </p:txBody>
      </p:sp>
      <p:sp>
        <p:nvSpPr>
          <p:cNvPr id="13" name="Shape 11"/>
          <p:cNvSpPr/>
          <p:nvPr/>
        </p:nvSpPr>
        <p:spPr>
          <a:xfrm>
            <a:off x="4434840" y="4809744"/>
            <a:ext cx="7269480" cy="1600200"/>
          </a:xfrm>
          <a:prstGeom prst="rect">
            <a:avLst/>
          </a:prstGeom>
          <a:solidFill>
            <a:srgbClr val="F2F5F8"/>
          </a:solidFill>
          <a:ln w="12700">
            <a:solidFill>
              <a:srgbClr val="D4DCE3"/>
            </a:solidFill>
            <a:prstDash val="solid"/>
          </a:ln>
        </p:spPr>
        <p:txBody>
          <a:bodyPr/>
          <a:lstStyle/>
          <a:p>
            <a:endParaRPr lang="en-IE"/>
          </a:p>
        </p:txBody>
      </p:sp>
      <p:sp>
        <p:nvSpPr>
          <p:cNvPr id="14" name="Shape 12"/>
          <p:cNvSpPr/>
          <p:nvPr/>
        </p:nvSpPr>
        <p:spPr>
          <a:xfrm>
            <a:off x="4434840" y="4809744"/>
            <a:ext cx="109728" cy="1600200"/>
          </a:xfrm>
          <a:prstGeom prst="rect">
            <a:avLst/>
          </a:prstGeom>
          <a:solidFill>
            <a:srgbClr val="0E3A52"/>
          </a:solidFill>
          <a:ln/>
        </p:spPr>
        <p:txBody>
          <a:bodyPr/>
          <a:lstStyle/>
          <a:p>
            <a:endParaRPr lang="en-IE"/>
          </a:p>
        </p:txBody>
      </p:sp>
      <p:sp>
        <p:nvSpPr>
          <p:cNvPr id="15" name="Text 13"/>
          <p:cNvSpPr/>
          <p:nvPr/>
        </p:nvSpPr>
        <p:spPr>
          <a:xfrm>
            <a:off x="4709160" y="4992624"/>
            <a:ext cx="6812280" cy="411480"/>
          </a:xfrm>
          <a:prstGeom prst="rect">
            <a:avLst/>
          </a:prstGeom>
          <a:noFill/>
          <a:ln/>
        </p:spPr>
        <p:txBody>
          <a:bodyPr wrap="square" lIns="0" tIns="0" rIns="0" bIns="0" rtlCol="0" anchor="ctr"/>
          <a:lstStyle/>
          <a:p>
            <a:pPr marL="0" indent="0">
              <a:buNone/>
            </a:pPr>
            <a:r>
              <a:rPr lang="en-US" sz="1800" b="1" dirty="0">
                <a:solidFill>
                  <a:srgbClr val="0E3A52"/>
                </a:solidFill>
                <a:latin typeface="Calibri" pitchFamily="34" charset="0"/>
                <a:ea typeface="Calibri" pitchFamily="34" charset="-122"/>
                <a:cs typeface="Calibri" pitchFamily="34" charset="-120"/>
              </a:rPr>
              <a:t>Learned</a:t>
            </a:r>
            <a:endParaRPr lang="en-US" sz="1800" dirty="0"/>
          </a:p>
        </p:txBody>
      </p:sp>
      <p:sp>
        <p:nvSpPr>
          <p:cNvPr id="16" name="Text 14"/>
          <p:cNvSpPr/>
          <p:nvPr/>
        </p:nvSpPr>
        <p:spPr>
          <a:xfrm>
            <a:off x="4709160" y="5449824"/>
            <a:ext cx="6812280" cy="822960"/>
          </a:xfrm>
          <a:prstGeom prst="rect">
            <a:avLst/>
          </a:prstGeom>
          <a:noFill/>
          <a:ln/>
        </p:spPr>
        <p:txBody>
          <a:bodyPr wrap="square" lIns="0" tIns="0" rIns="0" bIns="0" rtlCol="0" anchor="t"/>
          <a:lstStyle/>
          <a:p>
            <a:r>
              <a:rPr lang="en-US" sz="1400" dirty="0"/>
              <a:t>How model choices show up in production: debouncing, throttling, scoped verification. What it takes to make an embedded device and a full web stack work together reliably over a flaky network.</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12191695" cy="6858000"/>
          </a:xfrm>
          <a:prstGeom prst="rect">
            <a:avLst/>
          </a:prstGeom>
          <a:solidFill>
            <a:srgbClr val="0E3A52"/>
          </a:solidFill>
          <a:ln/>
        </p:spPr>
        <p:txBody>
          <a:bodyPr/>
          <a:lstStyle/>
          <a:p>
            <a:endParaRPr lang="en-IE"/>
          </a:p>
        </p:txBody>
      </p:sp>
      <p:sp>
        <p:nvSpPr>
          <p:cNvPr id="3" name="Shape 1"/>
          <p:cNvSpPr/>
          <p:nvPr/>
        </p:nvSpPr>
        <p:spPr>
          <a:xfrm>
            <a:off x="6705432" y="0"/>
            <a:ext cx="2194505" cy="6858000"/>
          </a:xfrm>
          <a:prstGeom prst="rect">
            <a:avLst/>
          </a:prstGeom>
          <a:solidFill>
            <a:srgbClr val="1A5A7A">
              <a:alpha val="25000"/>
            </a:srgbClr>
          </a:solidFill>
          <a:ln/>
        </p:spPr>
        <p:txBody>
          <a:bodyPr/>
          <a:lstStyle/>
          <a:p>
            <a:endParaRPr lang="en-IE"/>
          </a:p>
        </p:txBody>
      </p:sp>
      <p:sp>
        <p:nvSpPr>
          <p:cNvPr id="4" name="Shape 2"/>
          <p:cNvSpPr/>
          <p:nvPr/>
        </p:nvSpPr>
        <p:spPr>
          <a:xfrm>
            <a:off x="6095848" y="-1714500"/>
            <a:ext cx="6705432" cy="9601200"/>
          </a:xfrm>
          <a:prstGeom prst="ellipse">
            <a:avLst/>
          </a:prstGeom>
          <a:solidFill>
            <a:srgbClr val="2C6E8E">
              <a:alpha val="12000"/>
            </a:srgbClr>
          </a:solidFill>
          <a:ln/>
        </p:spPr>
        <p:txBody>
          <a:bodyPr/>
          <a:lstStyle/>
          <a:p>
            <a:endParaRPr lang="en-IE"/>
          </a:p>
        </p:txBody>
      </p:sp>
      <p:sp>
        <p:nvSpPr>
          <p:cNvPr id="5" name="Text 3"/>
          <p:cNvSpPr/>
          <p:nvPr/>
        </p:nvSpPr>
        <p:spPr>
          <a:xfrm>
            <a:off x="548640" y="1920240"/>
            <a:ext cx="11094415" cy="914400"/>
          </a:xfrm>
          <a:prstGeom prst="rect">
            <a:avLst/>
          </a:prstGeom>
          <a:noFill/>
          <a:ln/>
        </p:spPr>
        <p:txBody>
          <a:bodyPr wrap="square" lIns="0" tIns="0" rIns="0" bIns="0" rtlCol="0" anchor="ctr"/>
          <a:lstStyle/>
          <a:p>
            <a:pPr marL="0" indent="0" algn="ctr">
              <a:buNone/>
            </a:pPr>
            <a:r>
              <a:rPr lang="en-US" sz="5600" dirty="0">
                <a:solidFill>
                  <a:srgbClr val="FFFFFF"/>
                </a:solidFill>
                <a:latin typeface="Calibri Light" pitchFamily="34" charset="0"/>
                <a:ea typeface="Calibri Light" pitchFamily="34" charset="-122"/>
                <a:cs typeface="Calibri Light" pitchFamily="34" charset="-120"/>
              </a:rPr>
              <a:t>Thank you for listening!</a:t>
            </a:r>
            <a:endParaRPr lang="en-US" sz="5600" dirty="0"/>
          </a:p>
        </p:txBody>
      </p:sp>
      <p:sp>
        <p:nvSpPr>
          <p:cNvPr id="6" name="Text 4"/>
          <p:cNvSpPr/>
          <p:nvPr/>
        </p:nvSpPr>
        <p:spPr>
          <a:xfrm>
            <a:off x="548640" y="2926079"/>
            <a:ext cx="11094415" cy="2551267"/>
          </a:xfrm>
          <a:prstGeom prst="rect">
            <a:avLst/>
          </a:prstGeom>
          <a:noFill/>
          <a:ln/>
        </p:spPr>
        <p:txBody>
          <a:bodyPr wrap="square" lIns="0" tIns="0" rIns="0" bIns="0" rtlCol="0" anchor="ctr"/>
          <a:lstStyle/>
          <a:p>
            <a:pPr algn="ctr"/>
            <a:r>
              <a:rPr lang="en-US" sz="1600" dirty="0">
                <a:solidFill>
                  <a:srgbClr val="FFFFFF"/>
                </a:solidFill>
              </a:rPr>
              <a:t>Video Demo:</a:t>
            </a:r>
          </a:p>
          <a:p>
            <a:pPr algn="ctr"/>
            <a:r>
              <a:rPr lang="en-US" sz="1600" dirty="0">
                <a:solidFill>
                  <a:srgbClr val="FFFFFF"/>
                </a:solidFill>
                <a:hlinkClick r:id="rId3"/>
              </a:rPr>
              <a:t>https://youtu.be/GTDBRtyNb0g</a:t>
            </a:r>
            <a:endParaRPr lang="en-US" sz="1600" dirty="0">
              <a:solidFill>
                <a:srgbClr val="FFFFFF"/>
              </a:solidFill>
            </a:endParaRPr>
          </a:p>
          <a:p>
            <a:pPr algn="ctr"/>
            <a:r>
              <a:rPr lang="en-US" sz="1600" dirty="0">
                <a:solidFill>
                  <a:schemeClr val="bg1"/>
                </a:solidFill>
              </a:rPr>
              <a:t>GitHub:</a:t>
            </a:r>
          </a:p>
          <a:p>
            <a:pPr algn="ctr"/>
            <a:r>
              <a:rPr lang="en-US" sz="1600" dirty="0">
                <a:solidFill>
                  <a:srgbClr val="000000"/>
                </a:solidFill>
                <a:hlinkClick r:id="rId4"/>
              </a:rPr>
              <a:t>https://github.com/Nasir-AhmadZ/Dashboard</a:t>
            </a:r>
            <a:endParaRPr lang="en-US" sz="1600" dirty="0">
              <a:solidFill>
                <a:srgbClr val="000000"/>
              </a:solidFill>
            </a:endParaRPr>
          </a:p>
          <a:p>
            <a:pPr algn="ctr"/>
            <a:r>
              <a:rPr lang="en-US" sz="1600" dirty="0">
                <a:solidFill>
                  <a:srgbClr val="000000"/>
                </a:solidFill>
                <a:hlinkClick r:id="rId5"/>
              </a:rPr>
              <a:t>https://github.com/Nasir-AhmadZ/FacialVerificationML</a:t>
            </a:r>
            <a:endParaRPr lang="en-US" sz="1600" dirty="0">
              <a:solidFill>
                <a:srgbClr val="000000"/>
              </a:solidFill>
            </a:endParaRPr>
          </a:p>
          <a:p>
            <a:pPr algn="ctr"/>
            <a:r>
              <a:rPr lang="en-US" sz="1600" dirty="0">
                <a:solidFill>
                  <a:srgbClr val="000000"/>
                </a:solidFill>
                <a:hlinkClick r:id="rId6"/>
              </a:rPr>
              <a:t>https://github.com/Nasir-AhmadZ/Driver-Analysis-ML-Model</a:t>
            </a:r>
            <a:endParaRPr lang="en-US" sz="1600" dirty="0">
              <a:solidFill>
                <a:srgbClr val="000000"/>
              </a:solidFill>
            </a:endParaRPr>
          </a:p>
          <a:p>
            <a:pPr algn="ctr"/>
            <a:endParaRPr lang="en-US" sz="1600" dirty="0">
              <a:solidFill>
                <a:srgbClr val="000000"/>
              </a:solidFill>
            </a:endParaRPr>
          </a:p>
          <a:p>
            <a:pPr algn="ctr"/>
            <a:endParaRPr lang="en-US" sz="1600" dirty="0">
              <a:solidFill>
                <a:srgbClr val="000000"/>
              </a:solidFill>
            </a:endParaRPr>
          </a:p>
          <a:p>
            <a:pPr algn="ctr"/>
            <a:r>
              <a:rPr lang="en-US" sz="1600" dirty="0">
                <a:solidFill>
                  <a:srgbClr val="000000"/>
                </a:solidFill>
              </a:rPr>
              <a:t> </a:t>
            </a:r>
            <a:endParaRPr lang="en-US" sz="1600" i="1" dirty="0">
              <a:solidFill>
                <a:srgbClr val="FFFFFF"/>
              </a:solidFill>
              <a:latin typeface="Calibri Light" pitchFamily="34" charset="0"/>
              <a:ea typeface="Calibri Light" pitchFamily="34" charset="-122"/>
              <a:cs typeface="Calibri Light" pitchFamily="34" charset="-120"/>
            </a:endParaRPr>
          </a:p>
          <a:p>
            <a:pPr marL="0" indent="0" algn="ctr">
              <a:buNone/>
            </a:pPr>
            <a:r>
              <a:rPr lang="en-US" sz="2800" i="1" dirty="0">
                <a:solidFill>
                  <a:srgbClr val="FFFFFF"/>
                </a:solidFill>
                <a:latin typeface="Calibri Light" pitchFamily="34" charset="0"/>
                <a:ea typeface="Calibri Light" pitchFamily="34" charset="-122"/>
                <a:cs typeface="Calibri Light" pitchFamily="34" charset="-120"/>
              </a:rPr>
              <a:t>Questions?</a:t>
            </a:r>
            <a:endParaRPr lang="en-US" sz="2800" dirty="0"/>
          </a:p>
        </p:txBody>
      </p:sp>
      <p:sp>
        <p:nvSpPr>
          <p:cNvPr id="7" name="Text 5"/>
          <p:cNvSpPr/>
          <p:nvPr/>
        </p:nvSpPr>
        <p:spPr>
          <a:xfrm>
            <a:off x="1371600" y="5477346"/>
            <a:ext cx="9448495" cy="1014893"/>
          </a:xfrm>
          <a:prstGeom prst="rect">
            <a:avLst/>
          </a:prstGeom>
          <a:noFill/>
          <a:ln/>
        </p:spPr>
        <p:txBody>
          <a:bodyPr wrap="square" lIns="0" tIns="0" rIns="0" bIns="0" rtlCol="0" anchor="t"/>
          <a:lstStyle/>
          <a:p>
            <a:pPr marL="0" indent="0" algn="ctr">
              <a:spcAft>
                <a:spcPts val="200"/>
              </a:spcAft>
              <a:buNone/>
            </a:pPr>
            <a:r>
              <a:rPr lang="en-US" sz="800" dirty="0">
                <a:solidFill>
                  <a:srgbClr val="000000"/>
                </a:solidFill>
              </a:rPr>
              <a:t> </a:t>
            </a:r>
            <a:endParaRPr lang="en-US" sz="1600" dirty="0"/>
          </a:p>
          <a:p>
            <a:pPr marL="0" indent="0" algn="ctr">
              <a:spcAft>
                <a:spcPts val="200"/>
              </a:spcAft>
              <a:buNone/>
            </a:pPr>
            <a:r>
              <a:rPr lang="en-US" sz="1400" i="1" dirty="0">
                <a:solidFill>
                  <a:srgbClr val="FFFFFF"/>
                </a:solidFill>
              </a:rPr>
              <a:t>Supervisor: Ben Kinsella  </a:t>
            </a:r>
          </a:p>
          <a:p>
            <a:pPr marL="0" indent="0" algn="ctr">
              <a:spcAft>
                <a:spcPts val="200"/>
              </a:spcAft>
              <a:buNone/>
            </a:pPr>
            <a:r>
              <a:rPr lang="en-US" sz="1400" i="1" dirty="0">
                <a:solidFill>
                  <a:srgbClr val="FFFFFF"/>
                </a:solidFill>
              </a:rPr>
              <a:t>  Atlantic Technological University</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267</TotalTime>
  <Words>2235</Words>
  <Application>Microsoft Office PowerPoint</Application>
  <PresentationFormat>Widescreen</PresentationFormat>
  <Paragraphs>196</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Aptos Display</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NASIR AHMAD - STUDENT</dc:creator>
  <cp:lastModifiedBy>NASIR AHMAD - STUDENT</cp:lastModifiedBy>
  <cp:revision>1</cp:revision>
  <dcterms:created xsi:type="dcterms:W3CDTF">2026-04-27T20:00:48Z</dcterms:created>
  <dcterms:modified xsi:type="dcterms:W3CDTF">2026-04-28T18:43:10Z</dcterms:modified>
</cp:coreProperties>
</file>