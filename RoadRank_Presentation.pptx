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70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FCBE0C-A9AE-4B75-B2BF-DFB6E4275479}" v="14" dt="2026-04-28T14:20:11.2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6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55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SIR AHMAD - STUDENT" userId="761ba862-1bdf-47bb-84a3-c586c7b2403c" providerId="ADAL" clId="{36D9C585-445C-4B16-BBD9-CBFE813DAE1A}"/>
    <pc:docChg chg="undo redo custSel modSld sldOrd">
      <pc:chgData name="NASIR AHMAD - STUDENT" userId="761ba862-1bdf-47bb-84a3-c586c7b2403c" providerId="ADAL" clId="{36D9C585-445C-4B16-BBD9-CBFE813DAE1A}" dt="2026-04-28T22:23:11.254" v="143" actId="20577"/>
      <pc:docMkLst>
        <pc:docMk/>
      </pc:docMkLst>
      <pc:sldChg chg="addSp delSp modSp mod modNotesTx">
        <pc:chgData name="NASIR AHMAD - STUDENT" userId="761ba862-1bdf-47bb-84a3-c586c7b2403c" providerId="ADAL" clId="{36D9C585-445C-4B16-BBD9-CBFE813DAE1A}" dt="2026-04-28T22:22:39.284" v="132" actId="20577"/>
        <pc:sldMkLst>
          <pc:docMk/>
          <pc:sldMk cId="0" sldId="257"/>
        </pc:sldMkLst>
        <pc:spChg chg="mod">
          <ac:chgData name="NASIR AHMAD - STUDENT" userId="761ba862-1bdf-47bb-84a3-c586c7b2403c" providerId="ADAL" clId="{36D9C585-445C-4B16-BBD9-CBFE813DAE1A}" dt="2026-04-28T16:29:12.211" v="15" actId="1036"/>
          <ac:spMkLst>
            <pc:docMk/>
            <pc:sldMk cId="0" sldId="257"/>
            <ac:spMk id="2" creationId="{00000000-0000-0000-0000-000000000000}"/>
          </ac:spMkLst>
        </pc:spChg>
        <pc:spChg chg="add del">
          <ac:chgData name="NASIR AHMAD - STUDENT" userId="761ba862-1bdf-47bb-84a3-c586c7b2403c" providerId="ADAL" clId="{36D9C585-445C-4B16-BBD9-CBFE813DAE1A}" dt="2026-04-28T16:29:08.830" v="10" actId="478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NASIR AHMAD - STUDENT" userId="761ba862-1bdf-47bb-84a3-c586c7b2403c" providerId="ADAL" clId="{36D9C585-445C-4B16-BBD9-CBFE813DAE1A}" dt="2026-04-28T16:29:09.092" v="11" actId="478"/>
          <ac:spMkLst>
            <pc:docMk/>
            <pc:sldMk cId="0" sldId="257"/>
            <ac:spMk id="4" creationId="{00000000-0000-0000-0000-000000000000}"/>
          </ac:spMkLst>
        </pc:spChg>
        <pc:spChg chg="mod">
          <ac:chgData name="NASIR AHMAD - STUDENT" userId="761ba862-1bdf-47bb-84a3-c586c7b2403c" providerId="ADAL" clId="{36D9C585-445C-4B16-BBD9-CBFE813DAE1A}" dt="2026-04-28T13:19:51.025" v="6" actId="20577"/>
          <ac:spMkLst>
            <pc:docMk/>
            <pc:sldMk cId="0" sldId="257"/>
            <ac:spMk id="6" creationId="{00000000-0000-0000-0000-000000000000}"/>
          </ac:spMkLst>
        </pc:spChg>
      </pc:sldChg>
      <pc:sldChg chg="modNotesTx">
        <pc:chgData name="NASIR AHMAD - STUDENT" userId="761ba862-1bdf-47bb-84a3-c586c7b2403c" providerId="ADAL" clId="{36D9C585-445C-4B16-BBD9-CBFE813DAE1A}" dt="2026-04-28T22:22:44.363" v="133" actId="20577"/>
        <pc:sldMkLst>
          <pc:docMk/>
          <pc:sldMk cId="0" sldId="258"/>
        </pc:sldMkLst>
      </pc:sldChg>
      <pc:sldChg chg="modSp mod ord modNotesTx">
        <pc:chgData name="NASIR AHMAD - STUDENT" userId="761ba862-1bdf-47bb-84a3-c586c7b2403c" providerId="ADAL" clId="{36D9C585-445C-4B16-BBD9-CBFE813DAE1A}" dt="2026-04-28T22:22:48.858" v="134" actId="20577"/>
        <pc:sldMkLst>
          <pc:docMk/>
          <pc:sldMk cId="0" sldId="259"/>
        </pc:sldMkLst>
        <pc:picChg chg="mod">
          <ac:chgData name="NASIR AHMAD - STUDENT" userId="761ba862-1bdf-47bb-84a3-c586c7b2403c" providerId="ADAL" clId="{36D9C585-445C-4B16-BBD9-CBFE813DAE1A}" dt="2026-04-28T16:42:03.921" v="22" actId="1076"/>
          <ac:picMkLst>
            <pc:docMk/>
            <pc:sldMk cId="0" sldId="259"/>
            <ac:picMk id="26" creationId="{6CCBA66E-B64E-D8D9-A00B-5FD3C43F4B1D}"/>
          </ac:picMkLst>
        </pc:picChg>
      </pc:sldChg>
      <pc:sldChg chg="modSp mod modNotesTx">
        <pc:chgData name="NASIR AHMAD - STUDENT" userId="761ba862-1bdf-47bb-84a3-c586c7b2403c" providerId="ADAL" clId="{36D9C585-445C-4B16-BBD9-CBFE813DAE1A}" dt="2026-04-28T22:22:53.929" v="136" actId="20577"/>
        <pc:sldMkLst>
          <pc:docMk/>
          <pc:sldMk cId="0" sldId="260"/>
        </pc:sldMkLst>
        <pc:spChg chg="mod">
          <ac:chgData name="NASIR AHMAD - STUDENT" userId="761ba862-1bdf-47bb-84a3-c586c7b2403c" providerId="ADAL" clId="{36D9C585-445C-4B16-BBD9-CBFE813DAE1A}" dt="2026-04-28T18:38:20.706" v="59" actId="20577"/>
          <ac:spMkLst>
            <pc:docMk/>
            <pc:sldMk cId="0" sldId="260"/>
            <ac:spMk id="4" creationId="{00000000-0000-0000-0000-000000000000}"/>
          </ac:spMkLst>
        </pc:spChg>
      </pc:sldChg>
      <pc:sldChg chg="modNotesTx">
        <pc:chgData name="NASIR AHMAD - STUDENT" userId="761ba862-1bdf-47bb-84a3-c586c7b2403c" providerId="ADAL" clId="{36D9C585-445C-4B16-BBD9-CBFE813DAE1A}" dt="2026-04-28T22:22:56.007" v="137" actId="20577"/>
        <pc:sldMkLst>
          <pc:docMk/>
          <pc:sldMk cId="0" sldId="261"/>
        </pc:sldMkLst>
      </pc:sldChg>
      <pc:sldChg chg="modSp mod modNotesTx">
        <pc:chgData name="NASIR AHMAD - STUDENT" userId="761ba862-1bdf-47bb-84a3-c586c7b2403c" providerId="ADAL" clId="{36D9C585-445C-4B16-BBD9-CBFE813DAE1A}" dt="2026-04-28T22:22:59.379" v="138" actId="20577"/>
        <pc:sldMkLst>
          <pc:docMk/>
          <pc:sldMk cId="0" sldId="262"/>
        </pc:sldMkLst>
        <pc:spChg chg="mod">
          <ac:chgData name="NASIR AHMAD - STUDENT" userId="761ba862-1bdf-47bb-84a3-c586c7b2403c" providerId="ADAL" clId="{36D9C585-445C-4B16-BBD9-CBFE813DAE1A}" dt="2026-04-28T18:42:13.973" v="125" actId="207"/>
          <ac:spMkLst>
            <pc:docMk/>
            <pc:sldMk cId="0" sldId="262"/>
            <ac:spMk id="27" creationId="{00000000-0000-0000-0000-000000000000}"/>
          </ac:spMkLst>
        </pc:spChg>
      </pc:sldChg>
      <pc:sldChg chg="modSp mod modNotesTx">
        <pc:chgData name="NASIR AHMAD - STUDENT" userId="761ba862-1bdf-47bb-84a3-c586c7b2403c" providerId="ADAL" clId="{36D9C585-445C-4B16-BBD9-CBFE813DAE1A}" dt="2026-04-28T22:23:02.038" v="139" actId="20577"/>
        <pc:sldMkLst>
          <pc:docMk/>
          <pc:sldMk cId="0" sldId="263"/>
        </pc:sldMkLst>
        <pc:spChg chg="mod">
          <ac:chgData name="NASIR AHMAD - STUDENT" userId="761ba862-1bdf-47bb-84a3-c586c7b2403c" providerId="ADAL" clId="{36D9C585-445C-4B16-BBD9-CBFE813DAE1A}" dt="2026-04-28T18:38:39.367" v="63" actId="20577"/>
          <ac:spMkLst>
            <pc:docMk/>
            <pc:sldMk cId="0" sldId="263"/>
            <ac:spMk id="8" creationId="{00000000-0000-0000-0000-000000000000}"/>
          </ac:spMkLst>
        </pc:spChg>
        <pc:spChg chg="mod">
          <ac:chgData name="NASIR AHMAD - STUDENT" userId="761ba862-1bdf-47bb-84a3-c586c7b2403c" providerId="ADAL" clId="{36D9C585-445C-4B16-BBD9-CBFE813DAE1A}" dt="2026-04-28T18:39:18.062" v="69" actId="20577"/>
          <ac:spMkLst>
            <pc:docMk/>
            <pc:sldMk cId="0" sldId="263"/>
            <ac:spMk id="12" creationId="{00000000-0000-0000-0000-000000000000}"/>
          </ac:spMkLst>
        </pc:spChg>
      </pc:sldChg>
      <pc:sldChg chg="delSp modSp mod modNotesTx">
        <pc:chgData name="NASIR AHMAD - STUDENT" userId="761ba862-1bdf-47bb-84a3-c586c7b2403c" providerId="ADAL" clId="{36D9C585-445C-4B16-BBD9-CBFE813DAE1A}" dt="2026-04-28T22:23:04.180" v="140" actId="20577"/>
        <pc:sldMkLst>
          <pc:docMk/>
          <pc:sldMk cId="0" sldId="264"/>
        </pc:sldMkLst>
        <pc:spChg chg="del">
          <ac:chgData name="NASIR AHMAD - STUDENT" userId="761ba862-1bdf-47bb-84a3-c586c7b2403c" providerId="ADAL" clId="{36D9C585-445C-4B16-BBD9-CBFE813DAE1A}" dt="2026-04-28T18:35:31.267" v="30" actId="478"/>
          <ac:spMkLst>
            <pc:docMk/>
            <pc:sldMk cId="0" sldId="264"/>
            <ac:spMk id="8" creationId="{929671B4-DC4E-FA00-0808-01501713428F}"/>
          </ac:spMkLst>
        </pc:spChg>
        <pc:spChg chg="mod">
          <ac:chgData name="NASIR AHMAD - STUDENT" userId="761ba862-1bdf-47bb-84a3-c586c7b2403c" providerId="ADAL" clId="{36D9C585-445C-4B16-BBD9-CBFE813DAE1A}" dt="2026-04-28T18:35:27.450" v="29" actId="20577"/>
          <ac:spMkLst>
            <pc:docMk/>
            <pc:sldMk cId="0" sldId="264"/>
            <ac:spMk id="9" creationId="{ACA7AFFC-62A8-1D1F-20E3-276EDD54FAB9}"/>
          </ac:spMkLst>
        </pc:spChg>
        <pc:spChg chg="mod">
          <ac:chgData name="NASIR AHMAD - STUDENT" userId="761ba862-1bdf-47bb-84a3-c586c7b2403c" providerId="ADAL" clId="{36D9C585-445C-4B16-BBD9-CBFE813DAE1A}" dt="2026-04-28T18:43:02.510" v="131" actId="20577"/>
          <ac:spMkLst>
            <pc:docMk/>
            <pc:sldMk cId="0" sldId="264"/>
            <ac:spMk id="10" creationId="{F2E9BC44-9DD4-1DE8-D349-2E7D29C9B40F}"/>
          </ac:spMkLst>
        </pc:spChg>
        <pc:spChg chg="del">
          <ac:chgData name="NASIR AHMAD - STUDENT" userId="761ba862-1bdf-47bb-84a3-c586c7b2403c" providerId="ADAL" clId="{36D9C585-445C-4B16-BBD9-CBFE813DAE1A}" dt="2026-04-28T18:35:11.948" v="23" actId="478"/>
          <ac:spMkLst>
            <pc:docMk/>
            <pc:sldMk cId="0" sldId="264"/>
            <ac:spMk id="11" creationId="{FEE1A01B-4057-EAF9-A368-7811019BE7D7}"/>
          </ac:spMkLst>
        </pc:spChg>
        <pc:spChg chg="del mod">
          <ac:chgData name="NASIR AHMAD - STUDENT" userId="761ba862-1bdf-47bb-84a3-c586c7b2403c" providerId="ADAL" clId="{36D9C585-445C-4B16-BBD9-CBFE813DAE1A}" dt="2026-04-28T18:35:17.086" v="25" actId="478"/>
          <ac:spMkLst>
            <pc:docMk/>
            <pc:sldMk cId="0" sldId="264"/>
            <ac:spMk id="12" creationId="{170B12DA-F5EE-F175-956C-EDD292EF6E42}"/>
          </ac:spMkLst>
        </pc:spChg>
        <pc:spChg chg="mod">
          <ac:chgData name="NASIR AHMAD - STUDENT" userId="761ba862-1bdf-47bb-84a3-c586c7b2403c" providerId="ADAL" clId="{36D9C585-445C-4B16-BBD9-CBFE813DAE1A}" dt="2026-04-28T18:42:35.232" v="128" actId="113"/>
          <ac:spMkLst>
            <pc:docMk/>
            <pc:sldMk cId="0" sldId="264"/>
            <ac:spMk id="13" creationId="{02CA2E90-43C6-8F06-57B3-0B1569F96421}"/>
          </ac:spMkLst>
        </pc:spChg>
      </pc:sldChg>
      <pc:sldChg chg="modNotesTx">
        <pc:chgData name="NASIR AHMAD - STUDENT" userId="761ba862-1bdf-47bb-84a3-c586c7b2403c" providerId="ADAL" clId="{36D9C585-445C-4B16-BBD9-CBFE813DAE1A}" dt="2026-04-28T22:23:06.976" v="141" actId="20577"/>
        <pc:sldMkLst>
          <pc:docMk/>
          <pc:sldMk cId="0" sldId="265"/>
        </pc:sldMkLst>
      </pc:sldChg>
      <pc:sldChg chg="modNotesTx">
        <pc:chgData name="NASIR AHMAD - STUDENT" userId="761ba862-1bdf-47bb-84a3-c586c7b2403c" providerId="ADAL" clId="{36D9C585-445C-4B16-BBD9-CBFE813DAE1A}" dt="2026-04-28T22:23:09.093" v="142" actId="20577"/>
        <pc:sldMkLst>
          <pc:docMk/>
          <pc:sldMk cId="0" sldId="266"/>
        </pc:sldMkLst>
      </pc:sldChg>
      <pc:sldChg chg="modNotesTx">
        <pc:chgData name="NASIR AHMAD - STUDENT" userId="761ba862-1bdf-47bb-84a3-c586c7b2403c" providerId="ADAL" clId="{36D9C585-445C-4B16-BBD9-CBFE813DAE1A}" dt="2026-04-28T22:23:11.254" v="143" actId="20577"/>
        <pc:sldMkLst>
          <pc:docMk/>
          <pc:sldMk cId="0" sldId="268"/>
        </pc:sldMkLst>
      </pc:sldChg>
      <pc:sldChg chg="ord modNotesTx">
        <pc:chgData name="NASIR AHMAD - STUDENT" userId="761ba862-1bdf-47bb-84a3-c586c7b2403c" providerId="ADAL" clId="{36D9C585-445C-4B16-BBD9-CBFE813DAE1A}" dt="2026-04-28T22:22:51.452" v="135" actId="20577"/>
        <pc:sldMkLst>
          <pc:docMk/>
          <pc:sldMk cId="1509594116" sldId="270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%</c:v>
                </c:pt>
              </c:strCache>
            </c:strRef>
          </c:tx>
          <c:spPr>
            <a:solidFill>
              <a:srgbClr val="2E7D3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E3A5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VGGNet</c:v>
                </c:pt>
                <c:pt idx="1">
                  <c:v>AlexNet</c:v>
                </c:pt>
                <c:pt idx="2">
                  <c:v>ResNet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95.44</c:v>
                </c:pt>
                <c:pt idx="1">
                  <c:v>94.32</c:v>
                </c:pt>
                <c:pt idx="2">
                  <c:v>33.159999999999997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60A-4023-8435-A5DD69FAE20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BEEF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283AC6-F0A0-435A-88F4-C25A8325251D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4BA90B-1209-4382-9450-1F05412C89FC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2776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4BA90B-1209-4382-9450-1F05412C89FC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03683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247A34-70ED-7C0B-18A7-12A0A044C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07D903-1C1A-1841-5694-35A1660747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34403-847D-38B3-AD55-7AE678A8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AC9F3-366C-411C-BB35-A17A13CCCCDA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1C2FAC-DE8D-1B61-AFE8-0B57E7404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C5D4C-65E9-8C41-229D-7958FEEF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252D-FBB9-4FA3-832F-FA83A228957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74989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30541-80BC-EB70-E099-7AD7B91B4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71316-9892-85FA-CF9D-8D6080378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A2FC57-6390-F69B-4EE1-2F146195E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AC9F3-366C-411C-BB35-A17A13CCCCDA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42DBC4-B4C6-47AC-8701-0D4ABD839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87B46-4F2D-D3AD-3656-8976E324A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252D-FBB9-4FA3-832F-FA83A228957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0089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37344-634B-9C63-D4D6-395F9A054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AF5886-F2CD-0B95-137C-CC9FCCEAB8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934D0-96FF-BB92-1C1F-1C37D0D8F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AC9F3-366C-411C-BB35-A17A13CCCCDA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23DB2-D1C4-DDCA-E369-24C54DB47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B85EC-23F5-CFD9-D74D-55A654BBE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252D-FBB9-4FA3-832F-FA83A228957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934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6C3FC-0606-5F1F-CFBA-4156BDB2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DFF5AD-77D9-6187-6550-A79A815F45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74DE58-F15B-14EE-F5BF-AC3DE71F57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781A6F-0E7C-96A7-EF1C-03164F538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AC9F3-366C-411C-BB35-A17A13CCCCDA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9D005-4055-7899-0A9A-0AC53B9DB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EE22F3-B243-60A1-312F-EED5BBCEF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252D-FBB9-4FA3-832F-FA83A228957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42897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6CBA9-AEDC-5A96-3496-92270073D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38C758-C800-BD56-A535-10259DB09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DA2D77-79D3-DBBA-B539-CB3D56D60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161D60-5012-1F61-C9B3-2876FA77B3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F57AC4-7CEB-F0BE-121A-E6E8569CDD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BFD8B6-C114-D751-166C-DFB2264AD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AC9F3-366C-411C-BB35-A17A13CCCCDA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95C952-0A9D-9F70-7ED1-1A80B5449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CC0233-F671-A984-9561-3943CDCE4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252D-FBB9-4FA3-832F-FA83A228957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71385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D0DF1-BF84-EEDF-C07D-A43CCA550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C8E35-4D5E-4FB8-5EF3-B2A2225B0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AC9F3-366C-411C-BB35-A17A13CCCCDA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184473-FA8A-38CB-54A0-AE9401134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DE630B-9081-D514-0012-45EECFC95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252D-FBB9-4FA3-832F-FA83A228957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81766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AA98E7-2ED7-4AA0-9517-EC354F3D7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AC9F3-366C-411C-BB35-A17A13CCCCDA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D31868-8EB9-8EB7-8A26-86FFA1D98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BC31A-0705-0FC7-09F0-5CC76550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252D-FBB9-4FA3-832F-FA83A228957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109745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9F928-4FBF-A21A-71B8-E30107A46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5A19C-186C-9A41-2494-32A10D488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9F759C-8294-249C-3077-A500D9F2D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3F7DE-74E8-9160-81AF-D3B46FAF3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AC9F3-366C-411C-BB35-A17A13CCCCDA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75166-0F2C-CAA3-F298-EA97C1877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22B615-42F3-4FB1-46DB-11FD3B9E7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252D-FBB9-4FA3-832F-FA83A228957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4798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D990F-3396-0817-5C2B-CFDBE1B0D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24C38B-E286-CE0B-9414-600C5D31E9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F27759-2472-C3CA-2782-C1981372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337A1E-6F94-FA0D-3FE9-AEE5F7625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AC9F3-366C-411C-BB35-A17A13CCCCDA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3A813C-5BE8-5CA7-2FEE-8C149AD04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C5D71-7E67-E109-DAC8-C1A374493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252D-FBB9-4FA3-832F-FA83A228957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08322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0EF35-0FD5-F312-5A49-39704E1A8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CC9206-48E3-B295-7FCD-9AFB982714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26860F-B1BB-CD1B-E0EB-2313682C9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AC9F3-366C-411C-BB35-A17A13CCCCDA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5041B5-55D9-B4B4-2120-6658FA83C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FC5B8B-C264-8C1C-E042-3CDA4DAB7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252D-FBB9-4FA3-832F-FA83A228957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608072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B0CE24-DD5A-FE42-4CE3-0C6CE06F9B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33CAD7-ECDC-4848-8387-4A33B798AA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26E3D-BE32-B956-6D32-39164D024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AC9F3-366C-411C-BB35-A17A13CCCCDA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CDBC08-F5CF-ED17-286B-8B27043FF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7B127-71A5-2177-4979-D2C060D1A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C252D-FBB9-4FA3-832F-FA83A228957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84020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1768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71C097-4870-869A-0283-5D7E93AA3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494A44-0401-7167-2836-94E5346448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13C8D0-781E-E0B6-F37C-F03E50712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AAC9F3-366C-411C-BB35-A17A13CCCCDA}" type="datetimeFigureOut">
              <a:rPr lang="en-IE" smtClean="0"/>
              <a:t>28/04/2026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57B155-5CF3-EB3F-1038-A340B8F107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669371-0D53-C075-1AC6-0BAC66D1A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8C252D-FBB9-4FA3-832F-FA83A228957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22282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GTDBRtyNb0g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Nasir-AhmadZ/Driver-Analysis-ML-Model" TargetMode="External"/><Relationship Id="rId5" Type="http://schemas.openxmlformats.org/officeDocument/2006/relationships/hyperlink" Target="https://github.com/Nasir-AhmadZ/FacialVerificationML" TargetMode="External"/><Relationship Id="rId4" Type="http://schemas.openxmlformats.org/officeDocument/2006/relationships/hyperlink" Target="https://github.com/Nasir-AhmadZ/Dashboar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088" y="13622"/>
            <a:ext cx="12191695" cy="514350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6705432" y="0"/>
            <a:ext cx="2194505" cy="5143500"/>
          </a:xfrm>
          <a:prstGeom prst="rect">
            <a:avLst/>
          </a:prstGeom>
          <a:solidFill>
            <a:srgbClr val="1A5A7A">
              <a:alpha val="25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Shape 2"/>
          <p:cNvSpPr/>
          <p:nvPr/>
        </p:nvSpPr>
        <p:spPr>
          <a:xfrm>
            <a:off x="5486263" y="-1371600"/>
            <a:ext cx="6705432" cy="7543800"/>
          </a:xfrm>
          <a:prstGeom prst="ellipse">
            <a:avLst/>
          </a:prstGeom>
          <a:solidFill>
            <a:srgbClr val="2C6E8E">
              <a:alpha val="12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RoadRank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10058400" cy="1608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Final Demo</a:t>
            </a:r>
          </a:p>
          <a:p>
            <a:pPr marL="0" indent="0">
              <a:buNone/>
            </a:pPr>
            <a:r>
              <a:rPr lang="en-US" sz="3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Driver Behavior FYP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22960" y="55778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Nasir Ahmad — G00419630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6035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 of Engineering (Honours) in Software and Electronic Engineering · Atlantic Technological University · 2025/2026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8046519" y="0"/>
            <a:ext cx="1584920" cy="1417320"/>
          </a:xfrm>
          <a:prstGeom prst="rect">
            <a:avLst/>
          </a:prstGeom>
          <a:solidFill>
            <a:srgbClr val="1A5A7A">
              <a:alpha val="40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/>
          <p:nvPr/>
        </p:nvSpPr>
        <p:spPr>
          <a:xfrm>
            <a:off x="502920" y="228600"/>
            <a:ext cx="11185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Recap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1153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E3A52"/>
                </a:solidFill>
              </a:rPr>
              <a:t>What RoadRank is</a:t>
            </a:r>
            <a:endParaRPr lang="en-US" sz="2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62626"/>
                </a:solidFill>
              </a:rPr>
              <a:t>An edge-based driver monitoring system that detects unsafe driving in real time and gamifies safer driving through a leaderboard.</a:t>
            </a:r>
            <a:endParaRPr lang="en-US" sz="2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0E3A52"/>
                </a:solidFill>
              </a:rPr>
              <a:t>Semester 1 - Research and models</a:t>
            </a:r>
            <a:endParaRPr lang="en-US" sz="2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62626"/>
                </a:solidFill>
              </a:rPr>
              <a:t>Trained the behaviour classifier (VGGNet, AlexNet, ResNet) and the Siamese facial verification model in Google Colab and Jupyter.</a:t>
            </a:r>
            <a:endParaRPr lang="en-US" sz="2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4C9A4F-2287-D625-DEB3-B21A058B9D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" y="4039125"/>
            <a:ext cx="1509975" cy="268171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8046519" y="0"/>
            <a:ext cx="1584920" cy="1417320"/>
          </a:xfrm>
          <a:prstGeom prst="rect">
            <a:avLst/>
          </a:prstGeom>
          <a:solidFill>
            <a:srgbClr val="1A5A7A">
              <a:alpha val="40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/>
          <p:nvPr/>
        </p:nvSpPr>
        <p:spPr>
          <a:xfrm>
            <a:off x="502920" y="228600"/>
            <a:ext cx="11185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Architecture Diagram</a:t>
            </a:r>
            <a:endParaRPr lang="en-US" sz="40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CCBA66E-B64E-D8D9-A00B-5FD3C43F4B1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61" r="961" b="1616"/>
          <a:stretch>
            <a:fillRect/>
          </a:stretch>
        </p:blipFill>
        <p:spPr bwMode="auto">
          <a:xfrm>
            <a:off x="1270200" y="1417320"/>
            <a:ext cx="9651294" cy="544068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A8F6BB3-F8D0-C274-24C8-AEC4F02926EB}"/>
              </a:ext>
            </a:extLst>
          </p:cNvPr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AB37E0B1-8404-6500-AF66-E7B6CAD377FA}"/>
              </a:ext>
            </a:extLst>
          </p:cNvPr>
          <p:cNvSpPr/>
          <p:nvPr/>
        </p:nvSpPr>
        <p:spPr>
          <a:xfrm>
            <a:off x="502920" y="228600"/>
            <a:ext cx="11185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Timeline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E9D2FE-FEDC-2523-670A-8DB0146AB9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33" b="2117"/>
          <a:stretch>
            <a:fillRect/>
          </a:stretch>
        </p:blipFill>
        <p:spPr>
          <a:xfrm>
            <a:off x="1224643" y="1417321"/>
            <a:ext cx="9742562" cy="5440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594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-1097280" y="914400"/>
            <a:ext cx="5120640" cy="5120640"/>
          </a:xfrm>
          <a:prstGeom prst="ellipse">
            <a:avLst/>
          </a:prstGeom>
          <a:solidFill>
            <a:srgbClr val="2C6E8E">
              <a:alpha val="12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/>
          <p:nvPr/>
        </p:nvSpPr>
        <p:spPr>
          <a:xfrm>
            <a:off x="411480" y="21945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Camera Server</a:t>
            </a:r>
            <a:endParaRPr lang="en-US" sz="4000" dirty="0"/>
          </a:p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State machine</a:t>
            </a:r>
            <a:endParaRPr lang="en-US" sz="4000" dirty="0"/>
          </a:p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&amp; Threading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434840" y="1463040"/>
            <a:ext cx="640080" cy="640080"/>
          </a:xfrm>
          <a:prstGeom prst="ellipse">
            <a:avLst/>
          </a:prstGeom>
          <a:solidFill>
            <a:srgbClr val="5A6B7A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303520" y="141732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E3A52"/>
                </a:solidFill>
              </a:rPr>
              <a:t>unverified</a:t>
            </a:r>
            <a:endParaRPr lang="en-US" sz="2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62626"/>
                </a:solidFill>
              </a:rPr>
              <a:t>Initial state. The first captured frame triggers start_verify, and the machine moves to verifying.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434840" y="2468880"/>
            <a:ext cx="640080" cy="640080"/>
          </a:xfrm>
          <a:prstGeom prst="ellipse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9" name="Text 7"/>
          <p:cNvSpPr/>
          <p:nvPr/>
        </p:nvSpPr>
        <p:spPr>
          <a:xfrm>
            <a:off x="44348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303520" y="242316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E3A52"/>
                </a:solidFill>
              </a:rPr>
              <a:t>verifying</a:t>
            </a:r>
            <a:endParaRPr lang="en-US" sz="2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62626"/>
                </a:solidFill>
              </a:rPr>
              <a:t>Each frame is preprocessed and compared against the user's stored faces using the Siamese L1 model. On match -&gt; verify_success.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434840" y="3474720"/>
            <a:ext cx="640080" cy="640080"/>
          </a:xfrm>
          <a:prstGeom prst="ellipse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2" name="Text 10"/>
          <p:cNvSpPr/>
          <p:nvPr/>
        </p:nvSpPr>
        <p:spPr>
          <a:xfrm>
            <a:off x="443484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03520" y="342900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0E3A52"/>
                </a:solidFill>
              </a:rPr>
              <a:t>verified</a:t>
            </a:r>
            <a:endParaRPr lang="en-US" sz="2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400" dirty="0">
                <a:solidFill>
                  <a:srgbClr val="262626"/>
                </a:solidFill>
              </a:rPr>
              <a:t>Behaviour classification runs on every other frame. A 5-frame agreement buffer debounces noisy predictions before logging.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434840" y="4983480"/>
            <a:ext cx="7223760" cy="132588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5" name="Text 13"/>
          <p:cNvSpPr/>
          <p:nvPr/>
        </p:nvSpPr>
        <p:spPr>
          <a:xfrm>
            <a:off x="4599432" y="5074920"/>
            <a:ext cx="6903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</a:rPr>
              <a:t>Why a single-worker, slot-based handoff?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262626"/>
                </a:solidFill>
              </a:rPr>
              <a:t>Capture loop overwrites a single pending frame and signals an event. The worker drains it, runs the model, repeats. Stale frames are dropped, threads never accumulate, the Pi stays responsive.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8046519" y="0"/>
            <a:ext cx="1584920" cy="1417320"/>
          </a:xfrm>
          <a:prstGeom prst="rect">
            <a:avLst/>
          </a:prstGeom>
          <a:solidFill>
            <a:srgbClr val="1A5A7A">
              <a:alpha val="40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/>
          <p:nvPr/>
        </p:nvSpPr>
        <p:spPr>
          <a:xfrm>
            <a:off x="502920" y="228600"/>
            <a:ext cx="11185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Facial Verification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057400" cy="73152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Camera Module 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24328" y="2651760"/>
            <a:ext cx="164592" cy="0"/>
          </a:xfrm>
          <a:prstGeom prst="line">
            <a:avLst/>
          </a:prstGeom>
          <a:noFill/>
          <a:ln w="19050">
            <a:solidFill>
              <a:srgbClr val="5A6B7A"/>
            </a:solidFill>
            <a:prstDash val="solid"/>
            <a:tailEnd type="triangle"/>
          </a:ln>
        </p:spPr>
        <p:txBody>
          <a:bodyPr/>
          <a:lstStyle/>
          <a:p>
            <a:endParaRPr lang="en-IE"/>
          </a:p>
        </p:txBody>
      </p:sp>
      <p:sp>
        <p:nvSpPr>
          <p:cNvPr id="10" name="Shape 8"/>
          <p:cNvSpPr/>
          <p:nvPr/>
        </p:nvSpPr>
        <p:spPr>
          <a:xfrm>
            <a:off x="2807208" y="201168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1" name="Shape 9"/>
          <p:cNvSpPr/>
          <p:nvPr/>
        </p:nvSpPr>
        <p:spPr>
          <a:xfrm>
            <a:off x="2807208" y="2011680"/>
            <a:ext cx="2057400" cy="73152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2" name="Text 10"/>
          <p:cNvSpPr/>
          <p:nvPr/>
        </p:nvSpPr>
        <p:spPr>
          <a:xfrm>
            <a:off x="2898648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898648" y="257860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100x100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0–1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82896" y="2651760"/>
            <a:ext cx="164592" cy="0"/>
          </a:xfrm>
          <a:prstGeom prst="line">
            <a:avLst/>
          </a:prstGeom>
          <a:noFill/>
          <a:ln w="19050">
            <a:solidFill>
              <a:srgbClr val="5A6B7A"/>
            </a:solidFill>
            <a:prstDash val="solid"/>
            <a:tailEnd type="triangle"/>
          </a:ln>
        </p:spPr>
        <p:txBody>
          <a:bodyPr/>
          <a:lstStyle/>
          <a:p>
            <a:endParaRPr lang="en-IE"/>
          </a:p>
        </p:txBody>
      </p:sp>
      <p:sp>
        <p:nvSpPr>
          <p:cNvPr id="15" name="Shape 13"/>
          <p:cNvSpPr/>
          <p:nvPr/>
        </p:nvSpPr>
        <p:spPr>
          <a:xfrm>
            <a:off x="5065776" y="201168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6" name="Shape 14"/>
          <p:cNvSpPr/>
          <p:nvPr/>
        </p:nvSpPr>
        <p:spPr>
          <a:xfrm>
            <a:off x="5065776" y="2011680"/>
            <a:ext cx="2057400" cy="73152"/>
          </a:xfrm>
          <a:prstGeom prst="rect">
            <a:avLst/>
          </a:prstGeom>
          <a:solidFill>
            <a:srgbClr val="F57F17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7" name="Text 15"/>
          <p:cNvSpPr/>
          <p:nvPr/>
        </p:nvSpPr>
        <p:spPr>
          <a:xfrm>
            <a:off x="5157216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57216" y="257860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tower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4096-d vector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41464" y="2651760"/>
            <a:ext cx="164592" cy="0"/>
          </a:xfrm>
          <a:prstGeom prst="line">
            <a:avLst/>
          </a:prstGeom>
          <a:noFill/>
          <a:ln w="19050">
            <a:solidFill>
              <a:srgbClr val="5A6B7A"/>
            </a:solidFill>
            <a:prstDash val="solid"/>
            <a:tailEnd type="triangle"/>
          </a:ln>
        </p:spPr>
        <p:txBody>
          <a:bodyPr/>
          <a:lstStyle/>
          <a:p>
            <a:endParaRPr lang="en-IE"/>
          </a:p>
        </p:txBody>
      </p:sp>
      <p:sp>
        <p:nvSpPr>
          <p:cNvPr id="20" name="Shape 18"/>
          <p:cNvSpPr/>
          <p:nvPr/>
        </p:nvSpPr>
        <p:spPr>
          <a:xfrm>
            <a:off x="7324344" y="201168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1" name="Shape 19"/>
          <p:cNvSpPr/>
          <p:nvPr/>
        </p:nvSpPr>
        <p:spPr>
          <a:xfrm>
            <a:off x="7324344" y="2011680"/>
            <a:ext cx="2057400" cy="73152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2" name="Text 20"/>
          <p:cNvSpPr/>
          <p:nvPr/>
        </p:nvSpPr>
        <p:spPr>
          <a:xfrm>
            <a:off x="7415784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distance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15784" y="257860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faces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00032" y="2651760"/>
            <a:ext cx="164592" cy="0"/>
          </a:xfrm>
          <a:prstGeom prst="line">
            <a:avLst/>
          </a:prstGeom>
          <a:noFill/>
          <a:ln w="19050">
            <a:solidFill>
              <a:srgbClr val="5A6B7A"/>
            </a:solidFill>
            <a:prstDash val="solid"/>
            <a:tailEnd type="triangle"/>
          </a:ln>
        </p:spPr>
        <p:txBody>
          <a:bodyPr/>
          <a:lstStyle/>
          <a:p>
            <a:endParaRPr lang="en-IE"/>
          </a:p>
        </p:txBody>
      </p:sp>
      <p:sp>
        <p:nvSpPr>
          <p:cNvPr id="25" name="Shape 23"/>
          <p:cNvSpPr/>
          <p:nvPr/>
        </p:nvSpPr>
        <p:spPr>
          <a:xfrm>
            <a:off x="9582912" y="2011680"/>
            <a:ext cx="2057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6" name="Shape 24"/>
          <p:cNvSpPr/>
          <p:nvPr/>
        </p:nvSpPr>
        <p:spPr>
          <a:xfrm>
            <a:off x="9582912" y="2011680"/>
            <a:ext cx="2057400" cy="73152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7" name="Text 25"/>
          <p:cNvSpPr/>
          <p:nvPr/>
        </p:nvSpPr>
        <p:spPr>
          <a:xfrm>
            <a:off x="9674352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Match?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674352" y="2578608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&gt;50% agreement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verified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3931920"/>
            <a:ext cx="3657600" cy="210312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0" name="Shape 28"/>
          <p:cNvSpPr/>
          <p:nvPr/>
        </p:nvSpPr>
        <p:spPr>
          <a:xfrm>
            <a:off x="502920" y="3931920"/>
            <a:ext cx="91440" cy="210312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1" name="Text 29"/>
          <p:cNvSpPr/>
          <p:nvPr/>
        </p:nvSpPr>
        <p:spPr>
          <a:xfrm>
            <a:off x="731520" y="4069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 reference frames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31520" y="4434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ffmpeg pulls 1 frame every 0.33s from the user's setup video, capped at 50, into application_data/verification_images/&lt;user&gt;/.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4389120" y="3931920"/>
            <a:ext cx="3657600" cy="210312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4" name="Shape 32"/>
          <p:cNvSpPr/>
          <p:nvPr/>
        </p:nvSpPr>
        <p:spPr>
          <a:xfrm>
            <a:off x="4389120" y="3931920"/>
            <a:ext cx="91440" cy="2103120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5" name="Text 33"/>
          <p:cNvSpPr/>
          <p:nvPr/>
        </p:nvSpPr>
        <p:spPr>
          <a:xfrm>
            <a:off x="4617720" y="4069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by expected user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617720" y="4434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username is supplied, the Pi only compares against that user's folder verification falls from seconds to a fraction of a second.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8275320" y="3931920"/>
            <a:ext cx="3657600" cy="210312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38" name="Shape 36"/>
          <p:cNvSpPr/>
          <p:nvPr/>
        </p:nvSpPr>
        <p:spPr>
          <a:xfrm>
            <a:off x="8275320" y="3931920"/>
            <a:ext cx="91440" cy="2103120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9" name="Text 37"/>
          <p:cNvSpPr/>
          <p:nvPr/>
        </p:nvSpPr>
        <p:spPr>
          <a:xfrm>
            <a:off x="8503920" y="4069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503920" y="44348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per-frame and 0.5 aggregate match thresholds tuned for real-world lighting on the Pi camera, not lab conditions.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-1097280" y="914400"/>
            <a:ext cx="5120640" cy="5120640"/>
          </a:xfrm>
          <a:prstGeom prst="ellipse">
            <a:avLst/>
          </a:prstGeom>
          <a:solidFill>
            <a:srgbClr val="2C6E8E">
              <a:alpha val="12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/>
          <p:nvPr/>
        </p:nvSpPr>
        <p:spPr>
          <a:xfrm>
            <a:off x="411480" y="21945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Behaviour</a:t>
            </a:r>
            <a:endParaRPr lang="en-US" sz="4000" dirty="0"/>
          </a:p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classification</a:t>
            </a:r>
            <a:endParaRPr lang="en-US" sz="4000" dirty="0"/>
          </a:p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&amp; debouncing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434840" y="822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Per-event scoring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434840" y="1280160"/>
            <a:ext cx="3657600" cy="457200"/>
          </a:xfrm>
          <a:prstGeom prst="rect">
            <a:avLst/>
          </a:prstGeom>
          <a:solidFill>
            <a:srgbClr val="F2F5F8"/>
          </a:solidFill>
          <a:ln w="635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7" name="Shape 5"/>
          <p:cNvSpPr/>
          <p:nvPr/>
        </p:nvSpPr>
        <p:spPr>
          <a:xfrm>
            <a:off x="4434840" y="1280160"/>
            <a:ext cx="109728" cy="457200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8" name="Text 6"/>
          <p:cNvSpPr/>
          <p:nvPr/>
        </p:nvSpPr>
        <p:spPr>
          <a:xfrm>
            <a:off x="461772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0" y="1280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434840" y="1783080"/>
            <a:ext cx="3657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1" name="Shape 9"/>
          <p:cNvSpPr/>
          <p:nvPr/>
        </p:nvSpPr>
        <p:spPr>
          <a:xfrm>
            <a:off x="4434840" y="1783080"/>
            <a:ext cx="109728" cy="4572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2" name="Text 10"/>
          <p:cNvSpPr/>
          <p:nvPr/>
        </p:nvSpPr>
        <p:spPr>
          <a:xfrm>
            <a:off x="4617720" y="1783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0" y="17830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434840" y="2286000"/>
            <a:ext cx="3657600" cy="457200"/>
          </a:xfrm>
          <a:prstGeom prst="rect">
            <a:avLst/>
          </a:prstGeom>
          <a:solidFill>
            <a:srgbClr val="F2F5F8"/>
          </a:solidFill>
          <a:ln w="635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5" name="Shape 13"/>
          <p:cNvSpPr/>
          <p:nvPr/>
        </p:nvSpPr>
        <p:spPr>
          <a:xfrm>
            <a:off x="4434840" y="2286000"/>
            <a:ext cx="109728" cy="457200"/>
          </a:xfrm>
          <a:prstGeom prst="rect">
            <a:avLst/>
          </a:prstGeom>
          <a:solidFill>
            <a:srgbClr val="F57F17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6" name="Text 14"/>
          <p:cNvSpPr/>
          <p:nvPr/>
        </p:nvSpPr>
        <p:spPr>
          <a:xfrm>
            <a:off x="4617720" y="22860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0" y="22860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F57F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434840" y="2788920"/>
            <a:ext cx="3657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9" name="Shape 17"/>
          <p:cNvSpPr/>
          <p:nvPr/>
        </p:nvSpPr>
        <p:spPr>
          <a:xfrm>
            <a:off x="4434840" y="2788920"/>
            <a:ext cx="109728" cy="457200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0" name="Text 18"/>
          <p:cNvSpPr/>
          <p:nvPr/>
        </p:nvSpPr>
        <p:spPr>
          <a:xfrm>
            <a:off x="4617720" y="2788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Talking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0" y="27889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34840" y="3291840"/>
            <a:ext cx="3657600" cy="457200"/>
          </a:xfrm>
          <a:prstGeom prst="rect">
            <a:avLst/>
          </a:prstGeom>
          <a:solidFill>
            <a:srgbClr val="F2F5F8"/>
          </a:solidFill>
          <a:ln w="635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3" name="Shape 21"/>
          <p:cNvSpPr/>
          <p:nvPr/>
        </p:nvSpPr>
        <p:spPr>
          <a:xfrm>
            <a:off x="4434840" y="3291840"/>
            <a:ext cx="109728" cy="457200"/>
          </a:xfrm>
          <a:prstGeom prst="rect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4" name="Text 22"/>
          <p:cNvSpPr/>
          <p:nvPr/>
        </p:nvSpPr>
        <p:spPr>
          <a:xfrm>
            <a:off x="4617720" y="3291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Texting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0" y="3291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458200" y="1234440"/>
            <a:ext cx="3246120" cy="260604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7" name="Text 25"/>
          <p:cNvSpPr/>
          <p:nvPr/>
        </p:nvSpPr>
        <p:spPr>
          <a:xfrm>
            <a:off x="8595360" y="1325880"/>
            <a:ext cx="30175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E3A52"/>
                </a:solidFill>
              </a:rPr>
              <a:t>5-frame agre</a:t>
            </a:r>
            <a:r>
              <a:rPr lang="en-US" sz="15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emen</a:t>
            </a:r>
            <a:r>
              <a:rPr lang="en-US" sz="1500" b="1" dirty="0">
                <a:solidFill>
                  <a:srgbClr val="0E3A52"/>
                </a:solidFill>
              </a:rPr>
              <a:t>t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262626"/>
                </a:solidFill>
              </a:rPr>
              <a:t>An event is only logged when the last 5 predictions all agree, and only if the label is new. Cuts noise drastically: a one-second commitment gate.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434840" y="4846320"/>
            <a:ext cx="7269480" cy="146304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9" name="Text 27"/>
          <p:cNvSpPr/>
          <p:nvPr/>
        </p:nvSpPr>
        <p:spPr>
          <a:xfrm>
            <a:off x="4617720" y="4937760"/>
            <a:ext cx="6903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Throughput on the Pi 5</a:t>
            </a:r>
            <a:endParaRPr lang="en-US" sz="1600" dirty="0"/>
          </a:p>
          <a:p>
            <a:pPr marL="0" indent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~10 fps capture, classification on every other frame (~5 Hz inference) - best-effort alert posted to Express on a background thread so dangerous behaviours surface immediately.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8046519" y="0"/>
            <a:ext cx="1584920" cy="1417320"/>
          </a:xfrm>
          <a:prstGeom prst="rect">
            <a:avLst/>
          </a:prstGeom>
          <a:solidFill>
            <a:srgbClr val="1A5A7A">
              <a:alpha val="40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/>
          <p:nvPr/>
        </p:nvSpPr>
        <p:spPr>
          <a:xfrm>
            <a:off x="502920" y="228600"/>
            <a:ext cx="11185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 Stack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532120" cy="443484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532120" cy="50292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7" name="Text 5"/>
          <p:cNvSpPr/>
          <p:nvPr/>
        </p:nvSpPr>
        <p:spPr>
          <a:xfrm>
            <a:off x="685800" y="178308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API  -  Node.js  -  Mongoose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507492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E3A52"/>
                </a:solidFill>
              </a:rPr>
              <a:t>POST /register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200" dirty="0">
                <a:solidFill>
                  <a:srgbClr val="262626"/>
                </a:solidFill>
              </a:rPr>
              <a:t>bcrypt-hashed passwords, 10 salt rounds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E3A52"/>
                </a:solidFill>
              </a:rPr>
              <a:t>POST /facial-setup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200" dirty="0">
                <a:solidFill>
                  <a:srgbClr val="262626"/>
                </a:solidFill>
              </a:rPr>
              <a:t>multer upload -&gt; ffmpeg fps=3, max 50 frames per user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E3A52"/>
                </a:solidFill>
              </a:rPr>
              <a:t>POST /login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200" dirty="0">
                <a:solidFill>
                  <a:srgbClr val="262626"/>
                </a:solidFill>
              </a:rPr>
              <a:t>bcrypt.compare; on success the Pi is told via /set-user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E3A52"/>
                </a:solidFill>
              </a:rPr>
              <a:t>POST /api/alerts  -  GET/DELETE /api/alerts/:user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200" dirty="0">
                <a:solidFill>
                  <a:srgbClr val="262626"/>
                </a:solidFill>
              </a:rPr>
              <a:t>real-time channel for dangerous-behaviour notifications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E3A52"/>
                </a:solidFill>
              </a:rPr>
              <a:t>GET /api/behavior-log  -  GET /api/leaderboard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200" dirty="0">
                <a:solidFill>
                  <a:srgbClr val="262626"/>
                </a:solidFill>
              </a:rPr>
              <a:t>history + global ranking, both queried from the dashboard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443484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0" name="Shape 8"/>
          <p:cNvSpPr/>
          <p:nvPr/>
        </p:nvSpPr>
        <p:spPr>
          <a:xfrm>
            <a:off x="6263640" y="1783080"/>
            <a:ext cx="5349240" cy="50292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1" name="Text 9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  -  React  -  Pages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377440"/>
            <a:ext cx="49377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E3A52"/>
                </a:solidFill>
              </a:rPr>
              <a:t>Live Feed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200" dirty="0">
                <a:solidFill>
                  <a:srgbClr val="262626"/>
                </a:solidFill>
              </a:rPr>
              <a:t>polls /frame at 10 Hz, /status every 3 s, behaviour pill colour-coded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E3A52"/>
                </a:solidFill>
              </a:rPr>
              <a:t>Behaviour Dashboard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200" dirty="0">
                <a:solidFill>
                  <a:srgbClr val="262626"/>
                </a:solidFill>
              </a:rPr>
              <a:t>inline SVG score chart, summary cards, paginated event log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E3A52"/>
                </a:solidFill>
              </a:rPr>
              <a:t>Leaderboard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200" dirty="0">
                <a:solidFill>
                  <a:srgbClr val="262626"/>
                </a:solidFill>
              </a:rPr>
              <a:t>medals for top 3, score-banded colours, current user highlighted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E3A52"/>
                </a:solidFill>
              </a:rPr>
              <a:t>Notifications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200" dirty="0">
                <a:solidFill>
                  <a:srgbClr val="262626"/>
                </a:solidFill>
              </a:rPr>
              <a:t>5-second poll for fresh alerts, severity-coloured cards, clear-all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0E3A52"/>
                </a:solidFill>
              </a:rPr>
              <a:t>Auth - Login / Register / Facial Setup</a:t>
            </a:r>
            <a:endParaRPr lang="en-US" sz="14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200" dirty="0">
                <a:solidFill>
                  <a:srgbClr val="262626"/>
                </a:solidFill>
              </a:rPr>
              <a:t>dual login (password OR face), localStorage-persisted session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7">
            <a:extLst>
              <a:ext uri="{FF2B5EF4-FFF2-40B4-BE49-F238E27FC236}">
                <a16:creationId xmlns:a16="http://schemas.microsoft.com/office/drawing/2014/main" id="{8D8D0AC1-CBE6-FAAB-E2A9-5C1CB96AF408}"/>
              </a:ext>
            </a:extLst>
          </p:cNvPr>
          <p:cNvSpPr/>
          <p:nvPr/>
        </p:nvSpPr>
        <p:spPr>
          <a:xfrm>
            <a:off x="8990009" y="217154"/>
            <a:ext cx="3001966" cy="5887996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-1097280" y="914400"/>
            <a:ext cx="5120640" cy="5120640"/>
          </a:xfrm>
          <a:prstGeom prst="ellipse">
            <a:avLst/>
          </a:prstGeom>
          <a:solidFill>
            <a:srgbClr val="2C6E8E">
              <a:alpha val="12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/>
          <p:nvPr/>
        </p:nvSpPr>
        <p:spPr>
          <a:xfrm>
            <a:off x="411480" y="21945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Score sync</a:t>
            </a:r>
            <a:endParaRPr lang="en-US" sz="4000" dirty="0"/>
          </a:p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&amp; the</a:t>
            </a:r>
            <a:endParaRPr lang="en-US" sz="4000" dirty="0"/>
          </a:p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leaderboard</a:t>
            </a:r>
            <a:endParaRPr lang="en-US" sz="4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3AD672-7AAE-8B8B-004D-02CDD38A1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3935" y="217153"/>
            <a:ext cx="4399992" cy="2416940"/>
          </a:xfrm>
          <a:prstGeom prst="roundRect">
            <a:avLst>
              <a:gd name="adj" fmla="val 4056"/>
            </a:avLst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D9C5EC-467E-546C-E963-8D89E64597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5854" y="3337560"/>
            <a:ext cx="4318073" cy="2767590"/>
          </a:xfrm>
          <a:prstGeom prst="roundRect">
            <a:avLst>
              <a:gd name="adj" fmla="val 3169"/>
            </a:avLst>
          </a:prstGeom>
        </p:spPr>
      </p:pic>
      <p:sp>
        <p:nvSpPr>
          <p:cNvPr id="9" name="Text 9">
            <a:extLst>
              <a:ext uri="{FF2B5EF4-FFF2-40B4-BE49-F238E27FC236}">
                <a16:creationId xmlns:a16="http://schemas.microsoft.com/office/drawing/2014/main" id="{ACA7AFFC-62A8-1D1F-20E3-276EDD54FAB9}"/>
              </a:ext>
            </a:extLst>
          </p:cNvPr>
          <p:cNvSpPr/>
          <p:nvPr/>
        </p:nvSpPr>
        <p:spPr>
          <a:xfrm>
            <a:off x="9127169" y="217153"/>
            <a:ext cx="2589209" cy="36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F2E9BC44-9DD4-1DE8-D349-2E7D29C9B40F}"/>
              </a:ext>
            </a:extLst>
          </p:cNvPr>
          <p:cNvSpPr/>
          <p:nvPr/>
        </p:nvSpPr>
        <p:spPr>
          <a:xfrm>
            <a:off x="9253671" y="686810"/>
            <a:ext cx="2474642" cy="252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200"/>
              </a:spcAft>
            </a:pPr>
            <a:r>
              <a:rPr lang="en-US" sz="16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Bulk Write</a:t>
            </a:r>
          </a:p>
          <a:p>
            <a:pPr marL="171450" indent="-17145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Pi keeps a JSON log on disk, durable across crashes</a:t>
            </a:r>
          </a:p>
          <a:p>
            <a:pPr>
              <a:spcAft>
                <a:spcPts val="200"/>
              </a:spcAft>
            </a:pPr>
            <a:endParaRPr lang="en-US" sz="1200" dirty="0"/>
          </a:p>
          <a:p>
            <a:pPr marL="171450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sync_score.js mirrors entries into Mongo every 10 minutes</a:t>
            </a:r>
          </a:p>
          <a:p>
            <a:pPr>
              <a:spcAft>
                <a:spcPts val="100"/>
              </a:spcAft>
            </a:pPr>
            <a:endParaRPr lang="en-US" sz="1200" dirty="0"/>
          </a:p>
          <a:p>
            <a:pPr marL="171450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Leaderboard ranks recomputed in a single bulkWrite</a:t>
            </a:r>
          </a:p>
          <a:p>
            <a:pPr>
              <a:spcAft>
                <a:spcPts val="100"/>
              </a:spcAft>
            </a:pPr>
            <a:endParaRPr lang="en-US" sz="1200" dirty="0"/>
          </a:p>
          <a:p>
            <a:pPr marL="171450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Real-time alerts channel still fires immediately for the user-facing case</a:t>
            </a:r>
          </a:p>
          <a:p>
            <a:pPr>
              <a:spcAft>
                <a:spcPts val="100"/>
              </a:spcAft>
            </a:pPr>
            <a:endParaRPr lang="en-US" sz="1200" dirty="0"/>
          </a:p>
          <a:p>
            <a:pPr>
              <a:spcAft>
                <a:spcPts val="100"/>
              </a:spcAft>
            </a:pPr>
            <a:endParaRPr lang="en-US" sz="1200" dirty="0"/>
          </a:p>
          <a:p>
            <a:pPr marL="171450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endParaRPr lang="en-US" sz="1200" dirty="0"/>
          </a:p>
          <a:p>
            <a:pPr>
              <a:spcAft>
                <a:spcPts val="100"/>
              </a:spcAft>
            </a:pPr>
            <a:endParaRPr lang="en-US" sz="1200" dirty="0"/>
          </a:p>
          <a:p>
            <a:pPr>
              <a:spcAft>
                <a:spcPts val="100"/>
              </a:spcAft>
            </a:pPr>
            <a:endParaRPr lang="en-US" sz="1200" dirty="0"/>
          </a:p>
          <a:p>
            <a:pPr>
              <a:spcAft>
                <a:spcPts val="100"/>
              </a:spcAft>
            </a:pPr>
            <a:endParaRPr lang="en-US" sz="1200" dirty="0"/>
          </a:p>
          <a:p>
            <a:pPr>
              <a:spcAft>
                <a:spcPts val="100"/>
              </a:spcAft>
            </a:pPr>
            <a:endParaRPr lang="en-US" sz="1200" dirty="0"/>
          </a:p>
          <a:p>
            <a:pPr marL="0" indent="0">
              <a:spcAft>
                <a:spcPts val="100"/>
              </a:spcAft>
              <a:buNone/>
            </a:pPr>
            <a:endParaRPr lang="en-US" sz="12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2CA2E90-43C6-8F06-57B3-0B1569F96421}"/>
              </a:ext>
            </a:extLst>
          </p:cNvPr>
          <p:cNvSpPr/>
          <p:nvPr/>
        </p:nvSpPr>
        <p:spPr>
          <a:xfrm>
            <a:off x="9253671" y="3645143"/>
            <a:ext cx="2589209" cy="14325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100"/>
              </a:spcAft>
            </a:pPr>
            <a:r>
              <a:rPr lang="en-US" sz="16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Per-Event syncing</a:t>
            </a:r>
          </a:p>
          <a:p>
            <a:pPr marL="171450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Single point of failure, any Atlas hiccup drops driving data</a:t>
            </a:r>
          </a:p>
          <a:p>
            <a:pPr marL="171450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Constant chatter from the Pi over an unreliable home network</a:t>
            </a:r>
          </a:p>
          <a:p>
            <a:pPr marL="171450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8046519" y="0"/>
            <a:ext cx="1584920" cy="1417320"/>
          </a:xfrm>
          <a:prstGeom prst="rect">
            <a:avLst/>
          </a:prstGeom>
          <a:solidFill>
            <a:srgbClr val="1A5A7A">
              <a:alpha val="40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/>
          <p:nvPr/>
        </p:nvSpPr>
        <p:spPr>
          <a:xfrm>
            <a:off x="502920" y="228600"/>
            <a:ext cx="11185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Results &amp; Evaluation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classifier  -  held-out test accuracy</a:t>
            </a:r>
            <a:endParaRPr lang="en-US" sz="14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457200" y="1920240"/>
          <a:ext cx="576072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6400800" y="1600200"/>
            <a:ext cx="5330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Facial verification  -  Siamese network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0" y="1920240"/>
            <a:ext cx="5330952" cy="210312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9" name="Text 6"/>
          <p:cNvSpPr/>
          <p:nvPr/>
        </p:nvSpPr>
        <p:spPr>
          <a:xfrm>
            <a:off x="6537960" y="2103120"/>
            <a:ext cx="2459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7D3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&gt; 0.9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6537960" y="2697480"/>
            <a:ext cx="2459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@ 0.5 threshold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134856" y="2103120"/>
            <a:ext cx="24597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7D3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&gt; 0.9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9134856" y="2697480"/>
            <a:ext cx="2459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@ 0.5 threshold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83680" y="3200400"/>
            <a:ext cx="4965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- 70/30 train/test split, 50 epochs, batch size 16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83680" y="3493008"/>
            <a:ext cx="4965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Real-time verify() on the Pi 5 via picamera2 — verified / not verified overlay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4206240"/>
            <a:ext cx="3639312" cy="2240280"/>
          </a:xfrm>
          <a:prstGeom prst="rect">
            <a:avLst/>
          </a:prstGeom>
          <a:solidFill>
            <a:srgbClr val="F8F9FB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6" name="Shape 13"/>
          <p:cNvSpPr/>
          <p:nvPr/>
        </p:nvSpPr>
        <p:spPr>
          <a:xfrm>
            <a:off x="457200" y="4206240"/>
            <a:ext cx="3639312" cy="9144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7" name="Text 14"/>
          <p:cNvSpPr/>
          <p:nvPr/>
        </p:nvSpPr>
        <p:spPr>
          <a:xfrm>
            <a:off x="640080" y="438912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Testing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40080" y="484632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User registered a fresh account on the web app.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523036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Drove a 10-minute session - observed the final score.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6144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Surfaced UX improvements to the dashboard flow.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279392" y="4206240"/>
            <a:ext cx="3639312" cy="2240280"/>
          </a:xfrm>
          <a:prstGeom prst="rect">
            <a:avLst/>
          </a:prstGeom>
          <a:solidFill>
            <a:srgbClr val="F8F9FB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2" name="Shape 19"/>
          <p:cNvSpPr/>
          <p:nvPr/>
        </p:nvSpPr>
        <p:spPr>
          <a:xfrm>
            <a:off x="4279392" y="4206240"/>
            <a:ext cx="3639312" cy="91440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23" name="Text 20"/>
          <p:cNvSpPr/>
          <p:nvPr/>
        </p:nvSpPr>
        <p:spPr>
          <a:xfrm>
            <a:off x="4462272" y="438912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Testing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4462272" y="484632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Prometheus + NetData monitoring the Pi 5.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462272" y="523036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- 30-minute run: camera server + sync_score.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462272" y="56144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Max CPU temperature reached 85 degC - throttling threshold.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62272" y="59984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Risk: thermal throttling and possible crash under load.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101584" y="4206240"/>
            <a:ext cx="3639312" cy="2240280"/>
          </a:xfrm>
          <a:prstGeom prst="rect">
            <a:avLst/>
          </a:prstGeom>
          <a:solidFill>
            <a:srgbClr val="F8F9FB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29" name="Shape 26"/>
          <p:cNvSpPr/>
          <p:nvPr/>
        </p:nvSpPr>
        <p:spPr>
          <a:xfrm>
            <a:off x="8101584" y="4206240"/>
            <a:ext cx="3639312" cy="91440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0" name="Text 27"/>
          <p:cNvSpPr/>
          <p:nvPr/>
        </p:nvSpPr>
        <p:spPr>
          <a:xfrm>
            <a:off x="8284464" y="438912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 (Playwright E2E)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8284464" y="4846320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Playwright drives a real headless Chromium against the app.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84464" y="523036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- 33 tests across home.spec.js, auth.spec.js, leaderboard.spec.js.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284464" y="56144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- 33 / 33 pass - full suite runs in parallel in under 2 minutes.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284464" y="59984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Auto-starts the Next.js dev server; HTML report via show-report.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8046519" y="0"/>
            <a:ext cx="1584920" cy="1417320"/>
          </a:xfrm>
          <a:prstGeom prst="rect">
            <a:avLst/>
          </a:prstGeom>
          <a:solidFill>
            <a:srgbClr val="1A5A7A">
              <a:alpha val="40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/>
          <p:nvPr/>
        </p:nvSpPr>
        <p:spPr>
          <a:xfrm>
            <a:off x="502920" y="228600"/>
            <a:ext cx="11185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Challenges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502920" y="2331720"/>
            <a:ext cx="11094415" cy="109728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0" name="Shape 8"/>
          <p:cNvSpPr/>
          <p:nvPr/>
        </p:nvSpPr>
        <p:spPr>
          <a:xfrm>
            <a:off x="502920" y="2331720"/>
            <a:ext cx="109728" cy="1097280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1" name="Text 9"/>
          <p:cNvSpPr/>
          <p:nvPr/>
        </p:nvSpPr>
        <p:spPr>
          <a:xfrm>
            <a:off x="731520" y="2423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inference on a Pi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2788920"/>
            <a:ext cx="108200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Naively spawning a thread per captured frame led to thread accumulation and growing latency. Fixed with a single worker, a one-slot pending-frame buffer, and an event-driven handoff, stale frames are dropped, the Pi stays under thermal limits.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3520440"/>
            <a:ext cx="11094415" cy="109728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4" name="Shape 12"/>
          <p:cNvSpPr/>
          <p:nvPr/>
        </p:nvSpPr>
        <p:spPr>
          <a:xfrm>
            <a:off x="502920" y="3520440"/>
            <a:ext cx="109728" cy="1097280"/>
          </a:xfrm>
          <a:prstGeom prst="rect">
            <a:avLst/>
          </a:prstGeom>
          <a:solidFill>
            <a:srgbClr val="F57F17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5" name="Text 13"/>
          <p:cNvSpPr/>
          <p:nvPr/>
        </p:nvSpPr>
        <p:spPr>
          <a:xfrm>
            <a:off x="731520" y="36118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 frame-by-frame predictions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1520" y="3977640"/>
            <a:ext cx="108200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classifier flipped between adjacent classes across consecutive frames, producing useless logs. Solved by requiring 5 consecutive predictions to agree before committing an event, gave a clean human-readable behaviour timeline.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4709160"/>
            <a:ext cx="11094415" cy="109728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8" name="Shape 16"/>
          <p:cNvSpPr/>
          <p:nvPr/>
        </p:nvSpPr>
        <p:spPr>
          <a:xfrm>
            <a:off x="502920" y="4709160"/>
            <a:ext cx="109728" cy="109728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9" name="Text 17"/>
          <p:cNvSpPr/>
          <p:nvPr/>
        </p:nvSpPr>
        <p:spPr>
          <a:xfrm>
            <a:off x="731520" y="48006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- dashboard recovery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31520" y="5166360"/>
            <a:ext cx="108200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side could go down independently. The dashboard now shows an offline card with the exact restart command, and the Pi state machine resets cleanly on /reset the system tolerates either component being restarted mid-session.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-1097280" y="914400"/>
            <a:ext cx="5120640" cy="5120640"/>
          </a:xfrm>
          <a:prstGeom prst="ellipse">
            <a:avLst/>
          </a:prstGeom>
          <a:solidFill>
            <a:srgbClr val="2C6E8E">
              <a:alpha val="12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Text 2"/>
          <p:cNvSpPr/>
          <p:nvPr/>
        </p:nvSpPr>
        <p:spPr>
          <a:xfrm>
            <a:off x="411480" y="2194560"/>
            <a:ext cx="3383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434840" y="1280160"/>
            <a:ext cx="7269480" cy="160020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6" name="Shape 4"/>
          <p:cNvSpPr/>
          <p:nvPr/>
        </p:nvSpPr>
        <p:spPr>
          <a:xfrm>
            <a:off x="4434840" y="1280160"/>
            <a:ext cx="109728" cy="160020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7" name="Text 5"/>
          <p:cNvSpPr/>
          <p:nvPr/>
        </p:nvSpPr>
        <p:spPr>
          <a:xfrm>
            <a:off x="4709160" y="1463040"/>
            <a:ext cx="6812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out to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709160" y="1920240"/>
            <a:ext cx="6812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real-time driver monitoring system that uses computer vision to recognise the driver and classify driving behavior and makes safer driving rewarding through a leaderboard.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3044952"/>
            <a:ext cx="7269480" cy="160020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0" name="Shape 8"/>
          <p:cNvSpPr/>
          <p:nvPr/>
        </p:nvSpPr>
        <p:spPr>
          <a:xfrm>
            <a:off x="4434840" y="3044952"/>
            <a:ext cx="109728" cy="160020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1" name="Text 9"/>
          <p:cNvSpPr/>
          <p:nvPr/>
        </p:nvSpPr>
        <p:spPr>
          <a:xfrm>
            <a:off x="4709160" y="3227832"/>
            <a:ext cx="6812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709160" y="3685032"/>
            <a:ext cx="6812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working product: Pi-based camera server with a state machine, Express API, MongoDB-backed dashboard, dual-mode authentication, real-time alerts, persistent leaderboard.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34840" y="4809744"/>
            <a:ext cx="7269480" cy="1600200"/>
          </a:xfrm>
          <a:prstGeom prst="rect">
            <a:avLst/>
          </a:prstGeom>
          <a:solidFill>
            <a:srgbClr val="F2F5F8"/>
          </a:solidFill>
          <a:ln w="12700">
            <a:solidFill>
              <a:srgbClr val="D4DCE3"/>
            </a:solidFill>
            <a:prstDash val="solid"/>
          </a:ln>
        </p:spPr>
        <p:txBody>
          <a:bodyPr/>
          <a:lstStyle/>
          <a:p>
            <a:endParaRPr lang="en-IE"/>
          </a:p>
        </p:txBody>
      </p:sp>
      <p:sp>
        <p:nvSpPr>
          <p:cNvPr id="14" name="Shape 12"/>
          <p:cNvSpPr/>
          <p:nvPr/>
        </p:nvSpPr>
        <p:spPr>
          <a:xfrm>
            <a:off x="4434840" y="4809744"/>
            <a:ext cx="109728" cy="160020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15" name="Text 13"/>
          <p:cNvSpPr/>
          <p:nvPr/>
        </p:nvSpPr>
        <p:spPr>
          <a:xfrm>
            <a:off x="4709160" y="4992624"/>
            <a:ext cx="6812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E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709160" y="5449824"/>
            <a:ext cx="6812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/>
              <a:t>How model choices show up in production: debouncing, throttling, scoped verification. What it takes to make an embedded device and a full web stack work together reliably over a flaky network.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0E3A52"/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3" name="Shape 1"/>
          <p:cNvSpPr/>
          <p:nvPr/>
        </p:nvSpPr>
        <p:spPr>
          <a:xfrm>
            <a:off x="6705432" y="0"/>
            <a:ext cx="2194505" cy="6858000"/>
          </a:xfrm>
          <a:prstGeom prst="rect">
            <a:avLst/>
          </a:prstGeom>
          <a:solidFill>
            <a:srgbClr val="1A5A7A">
              <a:alpha val="25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4" name="Shape 2"/>
          <p:cNvSpPr/>
          <p:nvPr/>
        </p:nvSpPr>
        <p:spPr>
          <a:xfrm>
            <a:off x="6095848" y="-1714500"/>
            <a:ext cx="6705432" cy="9601200"/>
          </a:xfrm>
          <a:prstGeom prst="ellipse">
            <a:avLst/>
          </a:prstGeom>
          <a:solidFill>
            <a:srgbClr val="2C6E8E">
              <a:alpha val="12000"/>
            </a:srgbClr>
          </a:solidFill>
          <a:ln/>
        </p:spPr>
        <p:txBody>
          <a:bodyPr/>
          <a:lstStyle/>
          <a:p>
            <a:endParaRPr lang="en-IE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Thank you for listening!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2926079"/>
            <a:ext cx="11094415" cy="25512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Video Demo: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  <a:hlinkClick r:id="rId3"/>
              </a:rPr>
              <a:t>https://youtu.be/GTDBRtyNb0g</a:t>
            </a:r>
            <a:endParaRPr lang="en-US" sz="1600" dirty="0">
              <a:solidFill>
                <a:srgbClr val="FFFFFF"/>
              </a:solidFill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</a:rPr>
              <a:t>GitHub: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hlinkClick r:id="rId4"/>
              </a:rPr>
              <a:t>https://github.com/Nasir-AhmadZ/Dashboard</a:t>
            </a:r>
            <a:endParaRPr lang="en-US" sz="1600" dirty="0">
              <a:solidFill>
                <a:srgbClr val="000000"/>
              </a:solidFill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hlinkClick r:id="rId5"/>
              </a:rPr>
              <a:t>https://github.com/Nasir-AhmadZ/FacialVerificationML</a:t>
            </a:r>
            <a:endParaRPr lang="en-US" sz="1600" dirty="0">
              <a:solidFill>
                <a:srgbClr val="000000"/>
              </a:solidFill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  <a:hlinkClick r:id="rId6"/>
              </a:rPr>
              <a:t>https://github.com/Nasir-AhmadZ/Driver-Analysis-ML-Model</a:t>
            </a:r>
            <a:endParaRPr lang="en-US" sz="1600" dirty="0">
              <a:solidFill>
                <a:srgbClr val="000000"/>
              </a:solidFill>
            </a:endParaRPr>
          </a:p>
          <a:p>
            <a:pPr algn="ctr"/>
            <a:endParaRPr lang="en-US" sz="1600" dirty="0">
              <a:solidFill>
                <a:srgbClr val="000000"/>
              </a:solidFill>
            </a:endParaRPr>
          </a:p>
          <a:p>
            <a:pPr algn="ctr"/>
            <a:endParaRPr lang="en-US" sz="1600" dirty="0">
              <a:solidFill>
                <a:srgbClr val="000000"/>
              </a:solidFill>
            </a:endParaRPr>
          </a:p>
          <a:p>
            <a:pPr algn="ctr"/>
            <a:r>
              <a:rPr lang="en-US" sz="1600" dirty="0">
                <a:solidFill>
                  <a:srgbClr val="000000"/>
                </a:solidFill>
              </a:rPr>
              <a:t> </a:t>
            </a:r>
            <a:endParaRPr lang="en-US" sz="1600" i="1" dirty="0">
              <a:solidFill>
                <a:srgbClr val="FFFFF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 marL="0" indent="0" algn="ctr">
              <a:buNone/>
            </a:pPr>
            <a:r>
              <a:rPr lang="en-US" sz="28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371600" y="5477346"/>
            <a:ext cx="9448495" cy="1014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FFFFFF"/>
                </a:solidFill>
              </a:rPr>
              <a:t>Supervisor: Ben Kinsella  </a:t>
            </a:r>
          </a:p>
          <a:p>
            <a:pPr marL="0" indent="0" algn="ctr">
              <a:spcAft>
                <a:spcPts val="200"/>
              </a:spcAft>
              <a:buNone/>
            </a:pPr>
            <a:r>
              <a:rPr lang="en-US" sz="1400" i="1" dirty="0">
                <a:solidFill>
                  <a:srgbClr val="FFFFFF"/>
                </a:solidFill>
              </a:rPr>
              <a:t>  Atlantic Technological University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1151</Words>
  <Application>Microsoft Office PowerPoint</Application>
  <PresentationFormat>Widescreen</PresentationFormat>
  <Paragraphs>184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NASIR AHMAD - STUDENT</dc:creator>
  <cp:lastModifiedBy>NASIR AHMAD - STUDENT</cp:lastModifiedBy>
  <cp:revision>1</cp:revision>
  <dcterms:created xsi:type="dcterms:W3CDTF">2026-04-27T20:00:48Z</dcterms:created>
  <dcterms:modified xsi:type="dcterms:W3CDTF">2026-04-28T22:23:16Z</dcterms:modified>
</cp:coreProperties>
</file>